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3" r:id="rId3"/>
    <p:sldId id="264" r:id="rId4"/>
    <p:sldId id="265" r:id="rId5"/>
    <p:sldId id="266" r:id="rId6"/>
    <p:sldId id="257" r:id="rId7"/>
    <p:sldId id="283" r:id="rId8"/>
    <p:sldId id="284" r:id="rId9"/>
    <p:sldId id="285" r:id="rId10"/>
    <p:sldId id="271" r:id="rId11"/>
    <p:sldId id="287" r:id="rId12"/>
    <p:sldId id="274" r:id="rId13"/>
    <p:sldId id="286" r:id="rId14"/>
    <p:sldId id="275" r:id="rId15"/>
    <p:sldId id="276" r:id="rId16"/>
    <p:sldId id="282" r:id="rId17"/>
    <p:sldId id="281" r:id="rId18"/>
    <p:sldId id="278" r:id="rId19"/>
    <p:sldId id="272" r:id="rId20"/>
    <p:sldId id="279" r:id="rId21"/>
    <p:sldId id="277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12" autoAdjust="0"/>
    <p:restoredTop sz="94660"/>
  </p:normalViewPr>
  <p:slideViewPr>
    <p:cSldViewPr snapToGrid="0">
      <p:cViewPr varScale="1">
        <p:scale>
          <a:sx n="69" d="100"/>
          <a:sy n="69" d="100"/>
        </p:scale>
        <p:origin x="9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7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6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00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0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4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8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9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00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C5E4-2D67-4345-8B2F-4221BD17CE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4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C5E4-2D67-4345-8B2F-4221BD17CE2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EFC37-7CD9-42CD-8921-F514CAA5F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6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595282" y="335895"/>
            <a:ext cx="6678706" cy="1143281"/>
          </a:xfrm>
        </p:spPr>
        <p:txBody>
          <a:bodyPr>
            <a:normAutofit fontScale="90000"/>
          </a:bodyPr>
          <a:lstStyle/>
          <a:p>
            <a:r>
              <a:rPr lang="en-US" sz="8800" dirty="0" err="1"/>
              <a:t>Anggota</a:t>
            </a:r>
            <a:r>
              <a:rPr lang="en-US" sz="8800" dirty="0"/>
              <a:t> </a:t>
            </a:r>
            <a:r>
              <a:rPr lang="en-US" sz="8800" dirty="0" err="1"/>
              <a:t>tubuh</a:t>
            </a:r>
            <a:endParaRPr lang="en-US" sz="8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1" t="7768" r="4236" b="24502"/>
          <a:stretch/>
        </p:blipFill>
        <p:spPr>
          <a:xfrm>
            <a:off x="3724835" y="1680883"/>
            <a:ext cx="4639236" cy="4572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31447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91"/>
          <a:stretch/>
        </p:blipFill>
        <p:spPr>
          <a:xfrm>
            <a:off x="3892603" y="13447"/>
            <a:ext cx="3960479" cy="6858000"/>
          </a:xfrm>
          <a:prstGeom prst="rect">
            <a:avLst/>
          </a:prstGeom>
        </p:spPr>
      </p:pic>
      <p:sp>
        <p:nvSpPr>
          <p:cNvPr id="3" name="Oval Callout 5">
            <a:extLst>
              <a:ext uri="{FF2B5EF4-FFF2-40B4-BE49-F238E27FC236}">
                <a16:creationId xmlns:a16="http://schemas.microsoft.com/office/drawing/2014/main" id="{7E60B731-214E-4152-918C-C8EF96AA6AFD}"/>
              </a:ext>
            </a:extLst>
          </p:cNvPr>
          <p:cNvSpPr/>
          <p:nvPr/>
        </p:nvSpPr>
        <p:spPr>
          <a:xfrm>
            <a:off x="4753974" y="170893"/>
            <a:ext cx="579549" cy="528033"/>
          </a:xfrm>
          <a:prstGeom prst="wedgeEllipseCallout">
            <a:avLst>
              <a:gd name="adj1" fmla="val 140869"/>
              <a:gd name="adj2" fmla="val 722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</a:t>
            </a:r>
          </a:p>
        </p:txBody>
      </p:sp>
      <p:sp>
        <p:nvSpPr>
          <p:cNvPr id="5" name="Oval Callout 6">
            <a:extLst>
              <a:ext uri="{FF2B5EF4-FFF2-40B4-BE49-F238E27FC236}">
                <a16:creationId xmlns:a16="http://schemas.microsoft.com/office/drawing/2014/main" id="{70DD30B3-4FCC-4F91-BDC6-8B976A4054EE}"/>
              </a:ext>
            </a:extLst>
          </p:cNvPr>
          <p:cNvSpPr/>
          <p:nvPr/>
        </p:nvSpPr>
        <p:spPr>
          <a:xfrm>
            <a:off x="4397082" y="1196408"/>
            <a:ext cx="579549" cy="528033"/>
          </a:xfrm>
          <a:prstGeom prst="wedgeEllipseCallout">
            <a:avLst>
              <a:gd name="adj1" fmla="val 188580"/>
              <a:gd name="adj2" fmla="val 6942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</a:t>
            </a:r>
          </a:p>
        </p:txBody>
      </p:sp>
      <p:sp>
        <p:nvSpPr>
          <p:cNvPr id="6" name="Oval Callout 7">
            <a:extLst>
              <a:ext uri="{FF2B5EF4-FFF2-40B4-BE49-F238E27FC236}">
                <a16:creationId xmlns:a16="http://schemas.microsoft.com/office/drawing/2014/main" id="{AB6EEADB-408C-4C8D-9B16-29E9B5EDC916}"/>
              </a:ext>
            </a:extLst>
          </p:cNvPr>
          <p:cNvSpPr/>
          <p:nvPr/>
        </p:nvSpPr>
        <p:spPr>
          <a:xfrm>
            <a:off x="3562599" y="1725166"/>
            <a:ext cx="579549" cy="528033"/>
          </a:xfrm>
          <a:prstGeom prst="wedgeEllipseCallout">
            <a:avLst>
              <a:gd name="adj1" fmla="val 240477"/>
              <a:gd name="adj2" fmla="val 441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</a:t>
            </a:r>
          </a:p>
        </p:txBody>
      </p:sp>
      <p:sp>
        <p:nvSpPr>
          <p:cNvPr id="7" name="Oval Callout 8">
            <a:extLst>
              <a:ext uri="{FF2B5EF4-FFF2-40B4-BE49-F238E27FC236}">
                <a16:creationId xmlns:a16="http://schemas.microsoft.com/office/drawing/2014/main" id="{E402FBB6-5F8A-48FF-8CA6-C781A7E719F2}"/>
              </a:ext>
            </a:extLst>
          </p:cNvPr>
          <p:cNvSpPr/>
          <p:nvPr/>
        </p:nvSpPr>
        <p:spPr>
          <a:xfrm>
            <a:off x="6774443" y="434910"/>
            <a:ext cx="579549" cy="528033"/>
          </a:xfrm>
          <a:prstGeom prst="wedgeEllipseCallout">
            <a:avLst>
              <a:gd name="adj1" fmla="val -145797"/>
              <a:gd name="adj2" fmla="val 1137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</a:t>
            </a:r>
          </a:p>
        </p:txBody>
      </p:sp>
      <p:sp>
        <p:nvSpPr>
          <p:cNvPr id="8" name="Oval Callout 9">
            <a:extLst>
              <a:ext uri="{FF2B5EF4-FFF2-40B4-BE49-F238E27FC236}">
                <a16:creationId xmlns:a16="http://schemas.microsoft.com/office/drawing/2014/main" id="{58D21B91-2A65-4944-93C2-39D4C345AA34}"/>
              </a:ext>
            </a:extLst>
          </p:cNvPr>
          <p:cNvSpPr/>
          <p:nvPr/>
        </p:nvSpPr>
        <p:spPr>
          <a:xfrm>
            <a:off x="7139945" y="1151627"/>
            <a:ext cx="579549" cy="528033"/>
          </a:xfrm>
          <a:prstGeom prst="wedgeEllipseCallout">
            <a:avLst>
              <a:gd name="adj1" fmla="val -150960"/>
              <a:gd name="adj2" fmla="val 136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4</a:t>
            </a:r>
          </a:p>
        </p:txBody>
      </p:sp>
      <p:sp>
        <p:nvSpPr>
          <p:cNvPr id="9" name="Oval Callout 10">
            <a:extLst>
              <a:ext uri="{FF2B5EF4-FFF2-40B4-BE49-F238E27FC236}">
                <a16:creationId xmlns:a16="http://schemas.microsoft.com/office/drawing/2014/main" id="{78A7FD14-2F9F-456E-9E93-279E17BA1920}"/>
              </a:ext>
            </a:extLst>
          </p:cNvPr>
          <p:cNvSpPr/>
          <p:nvPr/>
        </p:nvSpPr>
        <p:spPr>
          <a:xfrm>
            <a:off x="7622709" y="1965931"/>
            <a:ext cx="579549" cy="528033"/>
          </a:xfrm>
          <a:prstGeom prst="wedgeEllipseCallout">
            <a:avLst>
              <a:gd name="adj1" fmla="val -296811"/>
              <a:gd name="adj2" fmla="val 772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6</a:t>
            </a:r>
          </a:p>
        </p:txBody>
      </p:sp>
      <p:sp>
        <p:nvSpPr>
          <p:cNvPr id="10" name="Oval Callout 11">
            <a:extLst>
              <a:ext uri="{FF2B5EF4-FFF2-40B4-BE49-F238E27FC236}">
                <a16:creationId xmlns:a16="http://schemas.microsoft.com/office/drawing/2014/main" id="{9FD5DA2A-EF8A-4F1B-AB89-7A756CC156D6}"/>
              </a:ext>
            </a:extLst>
          </p:cNvPr>
          <p:cNvSpPr/>
          <p:nvPr/>
        </p:nvSpPr>
        <p:spPr>
          <a:xfrm>
            <a:off x="3687806" y="2472551"/>
            <a:ext cx="579549" cy="528033"/>
          </a:xfrm>
          <a:prstGeom prst="wedgeEllipseCallout">
            <a:avLst>
              <a:gd name="adj1" fmla="val 278615"/>
              <a:gd name="adj2" fmla="val 823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7</a:t>
            </a:r>
          </a:p>
        </p:txBody>
      </p:sp>
      <p:sp>
        <p:nvSpPr>
          <p:cNvPr id="11" name="Oval Callout 11">
            <a:extLst>
              <a:ext uri="{FF2B5EF4-FFF2-40B4-BE49-F238E27FC236}">
                <a16:creationId xmlns:a16="http://schemas.microsoft.com/office/drawing/2014/main" id="{3C43F0CF-E88A-4454-BA79-6A8B73072AE6}"/>
              </a:ext>
            </a:extLst>
          </p:cNvPr>
          <p:cNvSpPr/>
          <p:nvPr/>
        </p:nvSpPr>
        <p:spPr>
          <a:xfrm>
            <a:off x="7896066" y="2643385"/>
            <a:ext cx="579549" cy="528033"/>
          </a:xfrm>
          <a:prstGeom prst="wedgeEllipseCallout">
            <a:avLst>
              <a:gd name="adj1" fmla="val -127431"/>
              <a:gd name="adj2" fmla="val 543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8</a:t>
            </a:r>
          </a:p>
        </p:txBody>
      </p:sp>
      <p:sp>
        <p:nvSpPr>
          <p:cNvPr id="16" name="Oval Callout 11">
            <a:extLst>
              <a:ext uri="{FF2B5EF4-FFF2-40B4-BE49-F238E27FC236}">
                <a16:creationId xmlns:a16="http://schemas.microsoft.com/office/drawing/2014/main" id="{7969818A-C44D-4C2A-9E42-FC42A71619AA}"/>
              </a:ext>
            </a:extLst>
          </p:cNvPr>
          <p:cNvSpPr/>
          <p:nvPr/>
        </p:nvSpPr>
        <p:spPr>
          <a:xfrm>
            <a:off x="3602828" y="3412040"/>
            <a:ext cx="579549" cy="528033"/>
          </a:xfrm>
          <a:prstGeom prst="wedgeEllipseCallout">
            <a:avLst>
              <a:gd name="adj1" fmla="val 311099"/>
              <a:gd name="adj2" fmla="val 136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9</a:t>
            </a:r>
          </a:p>
        </p:txBody>
      </p:sp>
      <p:sp>
        <p:nvSpPr>
          <p:cNvPr id="17" name="Oval Callout 11">
            <a:extLst>
              <a:ext uri="{FF2B5EF4-FFF2-40B4-BE49-F238E27FC236}">
                <a16:creationId xmlns:a16="http://schemas.microsoft.com/office/drawing/2014/main" id="{29DC3DD9-73BE-4F6E-BFD6-C042E99FA718}"/>
              </a:ext>
            </a:extLst>
          </p:cNvPr>
          <p:cNvSpPr/>
          <p:nvPr/>
        </p:nvSpPr>
        <p:spPr>
          <a:xfrm>
            <a:off x="7015951" y="4249440"/>
            <a:ext cx="579549" cy="528033"/>
          </a:xfrm>
          <a:prstGeom prst="wedgeEllipseCallout">
            <a:avLst>
              <a:gd name="adj1" fmla="val -134391"/>
              <a:gd name="adj2" fmla="val 569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11</a:t>
            </a:r>
            <a:endParaRPr lang="en-US" sz="2000" b="1" dirty="0"/>
          </a:p>
        </p:txBody>
      </p:sp>
      <p:sp>
        <p:nvSpPr>
          <p:cNvPr id="18" name="Oval Callout 11">
            <a:extLst>
              <a:ext uri="{FF2B5EF4-FFF2-40B4-BE49-F238E27FC236}">
                <a16:creationId xmlns:a16="http://schemas.microsoft.com/office/drawing/2014/main" id="{7F6FABD1-16AD-488E-BCA0-A8BCA1220CE0}"/>
              </a:ext>
            </a:extLst>
          </p:cNvPr>
          <p:cNvSpPr/>
          <p:nvPr/>
        </p:nvSpPr>
        <p:spPr>
          <a:xfrm>
            <a:off x="4501791" y="4435979"/>
            <a:ext cx="579549" cy="528033"/>
          </a:xfrm>
          <a:prstGeom prst="wedgeEllipseCallout">
            <a:avLst>
              <a:gd name="adj1" fmla="val 132438"/>
              <a:gd name="adj2" fmla="val 1333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12</a:t>
            </a:r>
            <a:endParaRPr lang="en-US" sz="1600" b="1" dirty="0"/>
          </a:p>
        </p:txBody>
      </p:sp>
      <p:sp>
        <p:nvSpPr>
          <p:cNvPr id="19" name="Oval Callout 11">
            <a:extLst>
              <a:ext uri="{FF2B5EF4-FFF2-40B4-BE49-F238E27FC236}">
                <a16:creationId xmlns:a16="http://schemas.microsoft.com/office/drawing/2014/main" id="{4A9A0C07-EB65-4B08-BAF6-AB3DA2996582}"/>
              </a:ext>
            </a:extLst>
          </p:cNvPr>
          <p:cNvSpPr/>
          <p:nvPr/>
        </p:nvSpPr>
        <p:spPr>
          <a:xfrm>
            <a:off x="7086157" y="5786887"/>
            <a:ext cx="579549" cy="528033"/>
          </a:xfrm>
          <a:prstGeom prst="wedgeEllipseCallout">
            <a:avLst>
              <a:gd name="adj1" fmla="val -134391"/>
              <a:gd name="adj2" fmla="val 569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13</a:t>
            </a:r>
            <a:endParaRPr lang="en-US" sz="1600" b="1" dirty="0"/>
          </a:p>
        </p:txBody>
      </p:sp>
      <p:sp>
        <p:nvSpPr>
          <p:cNvPr id="20" name="Oval Callout 11">
            <a:extLst>
              <a:ext uri="{FF2B5EF4-FFF2-40B4-BE49-F238E27FC236}">
                <a16:creationId xmlns:a16="http://schemas.microsoft.com/office/drawing/2014/main" id="{EE7EDD72-C951-47F1-876C-E1A6193FE0E4}"/>
              </a:ext>
            </a:extLst>
          </p:cNvPr>
          <p:cNvSpPr/>
          <p:nvPr/>
        </p:nvSpPr>
        <p:spPr>
          <a:xfrm>
            <a:off x="6824818" y="3544439"/>
            <a:ext cx="579549" cy="528033"/>
          </a:xfrm>
          <a:prstGeom prst="wedgeEllipseCallout">
            <a:avLst>
              <a:gd name="adj1" fmla="val -159914"/>
              <a:gd name="adj2" fmla="val -729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1</a:t>
            </a:r>
            <a:r>
              <a:rPr lang="en-US" sz="1600" b="1" dirty="0"/>
              <a:t>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5493" y="434910"/>
            <a:ext cx="37924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Kepala</a:t>
            </a:r>
            <a:endParaRPr lang="en-US" sz="4000" dirty="0"/>
          </a:p>
          <a:p>
            <a:r>
              <a:rPr lang="en-US" sz="4000" dirty="0"/>
              <a:t>2. </a:t>
            </a:r>
            <a:r>
              <a:rPr lang="en-US" sz="4000" dirty="0" err="1"/>
              <a:t>Leher</a:t>
            </a:r>
            <a:endParaRPr lang="en-US" sz="4000" dirty="0"/>
          </a:p>
          <a:p>
            <a:r>
              <a:rPr lang="en-US" sz="4000" dirty="0"/>
              <a:t>3. Dada </a:t>
            </a:r>
          </a:p>
          <a:p>
            <a:r>
              <a:rPr lang="en-US" sz="4000" dirty="0"/>
              <a:t>4. </a:t>
            </a:r>
            <a:r>
              <a:rPr lang="en-US" sz="3600" dirty="0"/>
              <a:t>Pundak</a:t>
            </a:r>
          </a:p>
          <a:p>
            <a:r>
              <a:rPr lang="en-US" sz="4000" dirty="0"/>
              <a:t>5. </a:t>
            </a:r>
            <a:r>
              <a:rPr lang="en-US" sz="4000" dirty="0" err="1"/>
              <a:t>Lengan</a:t>
            </a:r>
            <a:endParaRPr lang="en-US" sz="4000" dirty="0"/>
          </a:p>
          <a:p>
            <a:r>
              <a:rPr lang="en-US" sz="4000" dirty="0"/>
              <a:t>6. </a:t>
            </a:r>
            <a:r>
              <a:rPr lang="en-US" sz="4000" dirty="0" err="1"/>
              <a:t>Perut</a:t>
            </a:r>
            <a:endParaRPr lang="en-US" sz="4000" dirty="0"/>
          </a:p>
          <a:p>
            <a:r>
              <a:rPr lang="en-US" sz="4000" dirty="0"/>
              <a:t>7. </a:t>
            </a:r>
            <a:r>
              <a:rPr lang="en-US" sz="4000" dirty="0" err="1"/>
              <a:t>Pinggang</a:t>
            </a:r>
            <a:r>
              <a:rPr lang="en-US" sz="4000" dirty="0"/>
              <a:t> </a:t>
            </a:r>
          </a:p>
          <a:p>
            <a:r>
              <a:rPr lang="en-US" sz="4000" dirty="0" err="1"/>
              <a:t>Ibu</a:t>
            </a:r>
            <a:r>
              <a:rPr lang="en-US" sz="4000" dirty="0"/>
              <a:t> </a:t>
            </a:r>
            <a:r>
              <a:rPr lang="en-US" sz="4000" dirty="0" err="1"/>
              <a:t>jari</a:t>
            </a:r>
            <a:r>
              <a:rPr lang="en-US" sz="4000" dirty="0"/>
              <a:t> / </a:t>
            </a:r>
            <a:r>
              <a:rPr lang="en-US" sz="4000" dirty="0" err="1"/>
              <a:t>jempol</a:t>
            </a:r>
            <a:r>
              <a:rPr lang="en-US" sz="4000" dirty="0"/>
              <a:t> thumb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8599" y="434909"/>
            <a:ext cx="299869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8. </a:t>
            </a:r>
            <a:r>
              <a:rPr lang="en-US" sz="4000" dirty="0" err="1"/>
              <a:t>Tangan</a:t>
            </a:r>
            <a:r>
              <a:rPr lang="en-US" sz="4000" dirty="0"/>
              <a:t> </a:t>
            </a:r>
          </a:p>
          <a:p>
            <a:r>
              <a:rPr lang="en-US" sz="4000" dirty="0"/>
              <a:t>9. Paha</a:t>
            </a:r>
          </a:p>
          <a:p>
            <a:r>
              <a:rPr lang="en-US" sz="4000" dirty="0"/>
              <a:t>10. </a:t>
            </a:r>
            <a:r>
              <a:rPr lang="en-US" sz="4000" dirty="0" err="1"/>
              <a:t>Kelamin</a:t>
            </a:r>
            <a:endParaRPr lang="en-US" sz="4000" dirty="0"/>
          </a:p>
          <a:p>
            <a:r>
              <a:rPr lang="en-US" sz="4000" dirty="0"/>
              <a:t>11. </a:t>
            </a:r>
            <a:r>
              <a:rPr lang="en-US" sz="4000" dirty="0" err="1"/>
              <a:t>Lutut</a:t>
            </a:r>
            <a:endParaRPr lang="en-US" sz="4000" dirty="0"/>
          </a:p>
          <a:p>
            <a:r>
              <a:rPr lang="en-US" sz="4000" dirty="0"/>
              <a:t>12. Betis  </a:t>
            </a:r>
          </a:p>
          <a:p>
            <a:r>
              <a:rPr lang="en-US" sz="4000" dirty="0"/>
              <a:t>13. Kaki</a:t>
            </a:r>
          </a:p>
          <a:p>
            <a:r>
              <a:rPr lang="en-US" sz="4000" dirty="0"/>
              <a:t>14. </a:t>
            </a:r>
            <a:r>
              <a:rPr lang="en-US" sz="4000" dirty="0" err="1"/>
              <a:t>Siku</a:t>
            </a:r>
            <a:r>
              <a:rPr lang="en-US" sz="4000" dirty="0"/>
              <a:t> / elbow</a:t>
            </a:r>
          </a:p>
          <a:p>
            <a:r>
              <a:rPr lang="en-US" sz="4000" dirty="0"/>
              <a:t>15. </a:t>
            </a:r>
            <a:r>
              <a:rPr lang="en-US" sz="4000" dirty="0" err="1"/>
              <a:t>Jari</a:t>
            </a:r>
            <a:r>
              <a:rPr lang="en-US" sz="4000" dirty="0"/>
              <a:t> / finger</a:t>
            </a:r>
          </a:p>
        </p:txBody>
      </p:sp>
    </p:spTree>
    <p:extLst>
      <p:ext uri="{BB962C8B-B14F-4D97-AF65-F5344CB8AC3E}">
        <p14:creationId xmlns:p14="http://schemas.microsoft.com/office/powerpoint/2010/main" val="1060696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51" t="-588" r="23720" b="588"/>
          <a:stretch/>
        </p:blipFill>
        <p:spPr>
          <a:xfrm>
            <a:off x="4336357" y="0"/>
            <a:ext cx="3583962" cy="6858000"/>
          </a:xfrm>
          <a:prstGeom prst="rect">
            <a:avLst/>
          </a:prstGeom>
        </p:spPr>
      </p:pic>
      <p:sp>
        <p:nvSpPr>
          <p:cNvPr id="3" name="Oval Callout 5">
            <a:extLst>
              <a:ext uri="{FF2B5EF4-FFF2-40B4-BE49-F238E27FC236}">
                <a16:creationId xmlns:a16="http://schemas.microsoft.com/office/drawing/2014/main" id="{4791B50B-7B6A-489E-A77B-36FB26182199}"/>
              </a:ext>
            </a:extLst>
          </p:cNvPr>
          <p:cNvSpPr/>
          <p:nvPr/>
        </p:nvSpPr>
        <p:spPr>
          <a:xfrm>
            <a:off x="5022915" y="560858"/>
            <a:ext cx="579549" cy="528033"/>
          </a:xfrm>
          <a:prstGeom prst="wedgeEllipseCallout">
            <a:avLst>
              <a:gd name="adj1" fmla="val 140869"/>
              <a:gd name="adj2" fmla="val 722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</a:t>
            </a:r>
          </a:p>
        </p:txBody>
      </p:sp>
      <p:sp>
        <p:nvSpPr>
          <p:cNvPr id="5" name="Oval Callout 5">
            <a:extLst>
              <a:ext uri="{FF2B5EF4-FFF2-40B4-BE49-F238E27FC236}">
                <a16:creationId xmlns:a16="http://schemas.microsoft.com/office/drawing/2014/main" id="{93CD2690-3577-4A92-ADB7-E8DC23E9E13A}"/>
              </a:ext>
            </a:extLst>
          </p:cNvPr>
          <p:cNvSpPr/>
          <p:nvPr/>
        </p:nvSpPr>
        <p:spPr>
          <a:xfrm>
            <a:off x="6892058" y="681881"/>
            <a:ext cx="579549" cy="528033"/>
          </a:xfrm>
          <a:prstGeom prst="wedgeEllipseCallout">
            <a:avLst>
              <a:gd name="adj1" fmla="val -174687"/>
              <a:gd name="adj2" fmla="val 1970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2</a:t>
            </a:r>
            <a:endParaRPr lang="en-US" sz="2000" b="1" dirty="0"/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EE440FDF-A08F-423F-A8D5-28AC292B05E3}"/>
              </a:ext>
            </a:extLst>
          </p:cNvPr>
          <p:cNvSpPr/>
          <p:nvPr/>
        </p:nvSpPr>
        <p:spPr>
          <a:xfrm>
            <a:off x="6731796" y="2900967"/>
            <a:ext cx="579549" cy="528033"/>
          </a:xfrm>
          <a:prstGeom prst="wedgeEllipseCallout">
            <a:avLst>
              <a:gd name="adj1" fmla="val -98118"/>
              <a:gd name="adj2" fmla="val 849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3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255493" y="434910"/>
            <a:ext cx="415844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Tengkuk</a:t>
            </a:r>
            <a:r>
              <a:rPr lang="en-US" sz="4000" dirty="0"/>
              <a:t> </a:t>
            </a:r>
          </a:p>
          <a:p>
            <a:r>
              <a:rPr lang="en-US" sz="4000" dirty="0"/>
              <a:t>2. </a:t>
            </a:r>
            <a:r>
              <a:rPr lang="en-US" sz="4000" dirty="0" err="1"/>
              <a:t>Punggung</a:t>
            </a:r>
            <a:r>
              <a:rPr lang="en-US" sz="4000" dirty="0"/>
              <a:t> (back)</a:t>
            </a:r>
          </a:p>
          <a:p>
            <a:r>
              <a:rPr lang="en-US" sz="4000" dirty="0"/>
              <a:t>3. </a:t>
            </a:r>
            <a:r>
              <a:rPr lang="en-US" sz="4000" dirty="0" err="1"/>
              <a:t>Pantat</a:t>
            </a:r>
            <a:r>
              <a:rPr lang="en-US" sz="4000" dirty="0"/>
              <a:t> (ass)</a:t>
            </a:r>
          </a:p>
          <a:p>
            <a:r>
              <a:rPr lang="en-US" sz="4000" dirty="0"/>
              <a:t>4.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141356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84" r="5340"/>
          <a:stretch/>
        </p:blipFill>
        <p:spPr>
          <a:xfrm>
            <a:off x="4020670" y="1408766"/>
            <a:ext cx="3899647" cy="4351338"/>
          </a:xfrm>
        </p:spPr>
      </p:pic>
      <p:sp>
        <p:nvSpPr>
          <p:cNvPr id="3" name="Oval Callout 5">
            <a:extLst>
              <a:ext uri="{FF2B5EF4-FFF2-40B4-BE49-F238E27FC236}">
                <a16:creationId xmlns:a16="http://schemas.microsoft.com/office/drawing/2014/main" id="{20AB0609-7CA1-4B0F-8342-E3DD68A67815}"/>
              </a:ext>
            </a:extLst>
          </p:cNvPr>
          <p:cNvSpPr/>
          <p:nvPr/>
        </p:nvSpPr>
        <p:spPr>
          <a:xfrm>
            <a:off x="6892058" y="681881"/>
            <a:ext cx="579549" cy="528033"/>
          </a:xfrm>
          <a:prstGeom prst="wedgeEllipseCallout">
            <a:avLst>
              <a:gd name="adj1" fmla="val -174687"/>
              <a:gd name="adj2" fmla="val 1970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</a:t>
            </a:r>
          </a:p>
        </p:txBody>
      </p:sp>
      <p:sp>
        <p:nvSpPr>
          <p:cNvPr id="5" name="Oval Callout 5">
            <a:extLst>
              <a:ext uri="{FF2B5EF4-FFF2-40B4-BE49-F238E27FC236}">
                <a16:creationId xmlns:a16="http://schemas.microsoft.com/office/drawing/2014/main" id="{8A23E541-0169-4373-B29E-6B1D85070208}"/>
              </a:ext>
            </a:extLst>
          </p:cNvPr>
          <p:cNvSpPr/>
          <p:nvPr/>
        </p:nvSpPr>
        <p:spPr>
          <a:xfrm>
            <a:off x="7770599" y="945897"/>
            <a:ext cx="579549" cy="528033"/>
          </a:xfrm>
          <a:prstGeom prst="wedgeEllipseCallout">
            <a:avLst>
              <a:gd name="adj1" fmla="val -383511"/>
              <a:gd name="adj2" fmla="val 2658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7E929D25-DAEF-4D12-9697-0F8E494D8D54}"/>
              </a:ext>
            </a:extLst>
          </p:cNvPr>
          <p:cNvSpPr/>
          <p:nvPr/>
        </p:nvSpPr>
        <p:spPr>
          <a:xfrm>
            <a:off x="8060373" y="1681446"/>
            <a:ext cx="579549" cy="528033"/>
          </a:xfrm>
          <a:prstGeom prst="wedgeEllipseCallout">
            <a:avLst>
              <a:gd name="adj1" fmla="val -353347"/>
              <a:gd name="adj2" fmla="val 2097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</a:t>
            </a:r>
          </a:p>
        </p:txBody>
      </p:sp>
      <p:sp>
        <p:nvSpPr>
          <p:cNvPr id="7" name="Oval Callout 5">
            <a:extLst>
              <a:ext uri="{FF2B5EF4-FFF2-40B4-BE49-F238E27FC236}">
                <a16:creationId xmlns:a16="http://schemas.microsoft.com/office/drawing/2014/main" id="{EF203103-2389-465E-B90B-78D9C1E6E4C3}"/>
              </a:ext>
            </a:extLst>
          </p:cNvPr>
          <p:cNvSpPr/>
          <p:nvPr/>
        </p:nvSpPr>
        <p:spPr>
          <a:xfrm>
            <a:off x="8188308" y="2317055"/>
            <a:ext cx="579549" cy="528033"/>
          </a:xfrm>
          <a:prstGeom prst="wedgeEllipseCallout">
            <a:avLst>
              <a:gd name="adj1" fmla="val -376549"/>
              <a:gd name="adj2" fmla="val 1308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4</a:t>
            </a:r>
          </a:p>
        </p:txBody>
      </p:sp>
      <p:sp>
        <p:nvSpPr>
          <p:cNvPr id="8" name="Oval Callout 5">
            <a:extLst>
              <a:ext uri="{FF2B5EF4-FFF2-40B4-BE49-F238E27FC236}">
                <a16:creationId xmlns:a16="http://schemas.microsoft.com/office/drawing/2014/main" id="{D1E8661E-0491-4F94-BB82-8B4F0701E1FE}"/>
              </a:ext>
            </a:extLst>
          </p:cNvPr>
          <p:cNvSpPr/>
          <p:nvPr/>
        </p:nvSpPr>
        <p:spPr>
          <a:xfrm>
            <a:off x="8188307" y="2952664"/>
            <a:ext cx="579549" cy="528033"/>
          </a:xfrm>
          <a:prstGeom prst="wedgeEllipseCallout">
            <a:avLst>
              <a:gd name="adj1" fmla="val -246614"/>
              <a:gd name="adj2" fmla="val 671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</a:t>
            </a:r>
          </a:p>
        </p:txBody>
      </p:sp>
      <p:sp>
        <p:nvSpPr>
          <p:cNvPr id="9" name="Oval Callout 5">
            <a:extLst>
              <a:ext uri="{FF2B5EF4-FFF2-40B4-BE49-F238E27FC236}">
                <a16:creationId xmlns:a16="http://schemas.microsoft.com/office/drawing/2014/main" id="{79F2A752-9311-4F94-9648-03ABB0369CC8}"/>
              </a:ext>
            </a:extLst>
          </p:cNvPr>
          <p:cNvSpPr/>
          <p:nvPr/>
        </p:nvSpPr>
        <p:spPr>
          <a:xfrm>
            <a:off x="8074194" y="3532739"/>
            <a:ext cx="579549" cy="528033"/>
          </a:xfrm>
          <a:prstGeom prst="wedgeEllipseCallout">
            <a:avLst>
              <a:gd name="adj1" fmla="val -313901"/>
              <a:gd name="adj2" fmla="val -66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6</a:t>
            </a:r>
          </a:p>
        </p:txBody>
      </p:sp>
      <p:sp>
        <p:nvSpPr>
          <p:cNvPr id="10" name="Oval Callout 5">
            <a:extLst>
              <a:ext uri="{FF2B5EF4-FFF2-40B4-BE49-F238E27FC236}">
                <a16:creationId xmlns:a16="http://schemas.microsoft.com/office/drawing/2014/main" id="{B0A70452-2FDA-462E-ABEF-3ED0A21C5988}"/>
              </a:ext>
            </a:extLst>
          </p:cNvPr>
          <p:cNvSpPr/>
          <p:nvPr/>
        </p:nvSpPr>
        <p:spPr>
          <a:xfrm>
            <a:off x="8060372" y="4158845"/>
            <a:ext cx="579549" cy="528033"/>
          </a:xfrm>
          <a:prstGeom prst="wedgeEllipseCallout">
            <a:avLst>
              <a:gd name="adj1" fmla="val -418313"/>
              <a:gd name="adj2" fmla="val -1060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7</a:t>
            </a:r>
          </a:p>
        </p:txBody>
      </p:sp>
      <p:sp>
        <p:nvSpPr>
          <p:cNvPr id="11" name="Oval Callout 5">
            <a:extLst>
              <a:ext uri="{FF2B5EF4-FFF2-40B4-BE49-F238E27FC236}">
                <a16:creationId xmlns:a16="http://schemas.microsoft.com/office/drawing/2014/main" id="{97BF0B94-3911-46EB-AEE9-9491D84E22EC}"/>
              </a:ext>
            </a:extLst>
          </p:cNvPr>
          <p:cNvSpPr/>
          <p:nvPr/>
        </p:nvSpPr>
        <p:spPr>
          <a:xfrm>
            <a:off x="8054209" y="4803957"/>
            <a:ext cx="579549" cy="528033"/>
          </a:xfrm>
          <a:prstGeom prst="wedgeEllipseCallout">
            <a:avLst>
              <a:gd name="adj1" fmla="val -415993"/>
              <a:gd name="adj2" fmla="val -1365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8</a:t>
            </a:r>
          </a:p>
        </p:txBody>
      </p:sp>
      <p:sp>
        <p:nvSpPr>
          <p:cNvPr id="12" name="Oval Callout 5">
            <a:extLst>
              <a:ext uri="{FF2B5EF4-FFF2-40B4-BE49-F238E27FC236}">
                <a16:creationId xmlns:a16="http://schemas.microsoft.com/office/drawing/2014/main" id="{D3566A59-5AC9-4878-B87A-C2715D5BC3D7}"/>
              </a:ext>
            </a:extLst>
          </p:cNvPr>
          <p:cNvSpPr/>
          <p:nvPr/>
        </p:nvSpPr>
        <p:spPr>
          <a:xfrm>
            <a:off x="3173130" y="3630812"/>
            <a:ext cx="579549" cy="528033"/>
          </a:xfrm>
          <a:prstGeom prst="wedgeEllipseCallout">
            <a:avLst>
              <a:gd name="adj1" fmla="val 428582"/>
              <a:gd name="adj2" fmla="val 1512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9</a:t>
            </a:r>
          </a:p>
        </p:txBody>
      </p:sp>
      <p:sp>
        <p:nvSpPr>
          <p:cNvPr id="13" name="Oval Callout 5">
            <a:extLst>
              <a:ext uri="{FF2B5EF4-FFF2-40B4-BE49-F238E27FC236}">
                <a16:creationId xmlns:a16="http://schemas.microsoft.com/office/drawing/2014/main" id="{2E20CCF8-5442-4F86-A6C7-521852723FC8}"/>
              </a:ext>
            </a:extLst>
          </p:cNvPr>
          <p:cNvSpPr/>
          <p:nvPr/>
        </p:nvSpPr>
        <p:spPr>
          <a:xfrm>
            <a:off x="3253676" y="4422861"/>
            <a:ext cx="579549" cy="528033"/>
          </a:xfrm>
          <a:prstGeom prst="wedgeEllipseCallout">
            <a:avLst>
              <a:gd name="adj1" fmla="val 421621"/>
              <a:gd name="adj2" fmla="val 646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10</a:t>
            </a:r>
            <a:endParaRPr lang="en-US" sz="16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61259" y="116452"/>
            <a:ext cx="548155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Rambut</a:t>
            </a:r>
            <a:r>
              <a:rPr lang="en-US" sz="4000" dirty="0"/>
              <a:t> </a:t>
            </a:r>
          </a:p>
          <a:p>
            <a:r>
              <a:rPr lang="en-US" sz="4000" dirty="0"/>
              <a:t>2. </a:t>
            </a:r>
            <a:r>
              <a:rPr lang="en-US" sz="4000" dirty="0" err="1"/>
              <a:t>Dahi</a:t>
            </a:r>
            <a:r>
              <a:rPr lang="en-US" sz="4000" dirty="0"/>
              <a:t> </a:t>
            </a:r>
          </a:p>
          <a:p>
            <a:r>
              <a:rPr lang="en-US" sz="4000" dirty="0"/>
              <a:t>3. </a:t>
            </a:r>
            <a:r>
              <a:rPr lang="en-US" sz="4000" dirty="0" err="1"/>
              <a:t>Alis</a:t>
            </a:r>
            <a:endParaRPr lang="en-US" sz="4000" dirty="0"/>
          </a:p>
          <a:p>
            <a:r>
              <a:rPr lang="en-US" sz="4000" dirty="0"/>
              <a:t>4. Mata</a:t>
            </a:r>
          </a:p>
          <a:p>
            <a:r>
              <a:rPr lang="en-US" sz="4000" dirty="0"/>
              <a:t>5. </a:t>
            </a:r>
            <a:r>
              <a:rPr lang="en-US" sz="4000" dirty="0" err="1"/>
              <a:t>Telinga</a:t>
            </a:r>
            <a:endParaRPr lang="en-US" sz="4000" dirty="0"/>
          </a:p>
          <a:p>
            <a:r>
              <a:rPr lang="en-US" sz="4000" dirty="0"/>
              <a:t>6. Pipi </a:t>
            </a:r>
          </a:p>
          <a:p>
            <a:r>
              <a:rPr lang="en-US" sz="4000" dirty="0"/>
              <a:t>7. </a:t>
            </a:r>
            <a:r>
              <a:rPr lang="en-US" sz="4000" dirty="0" err="1"/>
              <a:t>Hidung</a:t>
            </a:r>
            <a:r>
              <a:rPr lang="en-US" sz="4000" dirty="0"/>
              <a:t> </a:t>
            </a:r>
          </a:p>
          <a:p>
            <a:r>
              <a:rPr lang="en-US" sz="4000" dirty="0"/>
              <a:t>8. </a:t>
            </a:r>
            <a:r>
              <a:rPr lang="en-US" sz="4000" dirty="0" err="1"/>
              <a:t>Mulut</a:t>
            </a:r>
            <a:r>
              <a:rPr lang="en-US" sz="4000" dirty="0"/>
              <a:t>/ </a:t>
            </a:r>
            <a:r>
              <a:rPr lang="en-US" sz="4000" dirty="0" err="1"/>
              <a:t>bibir</a:t>
            </a:r>
            <a:endParaRPr lang="en-US" sz="4000" dirty="0"/>
          </a:p>
          <a:p>
            <a:r>
              <a:rPr lang="en-US" sz="4000" dirty="0"/>
              <a:t>9. </a:t>
            </a:r>
            <a:r>
              <a:rPr lang="en-US" sz="4000" dirty="0" err="1"/>
              <a:t>Dagu</a:t>
            </a:r>
            <a:r>
              <a:rPr lang="en-US" sz="4000" dirty="0"/>
              <a:t> </a:t>
            </a:r>
          </a:p>
          <a:p>
            <a:r>
              <a:rPr lang="en-US" sz="4000" dirty="0"/>
              <a:t>10. </a:t>
            </a:r>
            <a:r>
              <a:rPr lang="en-US" sz="4000" dirty="0" err="1"/>
              <a:t>Tenggorokan</a:t>
            </a:r>
            <a:r>
              <a:rPr lang="en-US" sz="4000" dirty="0"/>
              <a:t> / </a:t>
            </a:r>
            <a:r>
              <a:rPr lang="en-US" sz="4000" dirty="0" err="1"/>
              <a:t>jakun</a:t>
            </a:r>
            <a:r>
              <a:rPr lang="en-US" sz="4000" dirty="0"/>
              <a:t>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735227" y="215858"/>
            <a:ext cx="3352948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Lidah</a:t>
            </a:r>
            <a:r>
              <a:rPr lang="en-US" sz="3200" dirty="0"/>
              <a:t> : </a:t>
            </a:r>
            <a:r>
              <a:rPr lang="en-US" sz="3200" dirty="0" err="1"/>
              <a:t>Tounge</a:t>
            </a:r>
            <a:endParaRPr lang="en-US" sz="3200" dirty="0"/>
          </a:p>
          <a:p>
            <a:r>
              <a:rPr lang="en-US" sz="3200" dirty="0" err="1"/>
              <a:t>Janggut</a:t>
            </a:r>
            <a:r>
              <a:rPr lang="en-US" sz="3200" dirty="0"/>
              <a:t> : beard</a:t>
            </a:r>
          </a:p>
          <a:p>
            <a:r>
              <a:rPr lang="en-US" sz="3200" dirty="0"/>
              <a:t>Gigi : teeth</a:t>
            </a:r>
          </a:p>
          <a:p>
            <a:r>
              <a:rPr lang="en-US" sz="3200" dirty="0" err="1"/>
              <a:t>Otak</a:t>
            </a:r>
            <a:r>
              <a:rPr lang="en-US" sz="3200" dirty="0"/>
              <a:t> : brain</a:t>
            </a:r>
          </a:p>
          <a:p>
            <a:r>
              <a:rPr lang="en-US" sz="3200" dirty="0"/>
              <a:t>Birthmark : </a:t>
            </a:r>
            <a:r>
              <a:rPr lang="en-US" sz="3200" dirty="0" err="1"/>
              <a:t>tanda</a:t>
            </a:r>
            <a:r>
              <a:rPr lang="en-US" sz="3200" dirty="0"/>
              <a:t> </a:t>
            </a:r>
            <a:r>
              <a:rPr lang="en-US" sz="3200" dirty="0" err="1"/>
              <a:t>lahir</a:t>
            </a:r>
            <a:endParaRPr lang="en-US" sz="3200" dirty="0"/>
          </a:p>
          <a:p>
            <a:r>
              <a:rPr lang="en-US" sz="3200" dirty="0" err="1"/>
              <a:t>Tulang</a:t>
            </a:r>
            <a:r>
              <a:rPr lang="en-US" sz="3200" dirty="0"/>
              <a:t> pipi : jawline</a:t>
            </a:r>
          </a:p>
          <a:p>
            <a:r>
              <a:rPr lang="en-US" sz="3200" dirty="0" err="1"/>
              <a:t>Rahang</a:t>
            </a:r>
            <a:r>
              <a:rPr lang="en-US" sz="3200" dirty="0"/>
              <a:t> : jawline</a:t>
            </a:r>
          </a:p>
          <a:p>
            <a:r>
              <a:rPr lang="en-US" sz="3200" dirty="0"/>
              <a:t>Face : </a:t>
            </a:r>
            <a:r>
              <a:rPr lang="en-US" sz="3200" dirty="0" err="1"/>
              <a:t>wajah</a:t>
            </a:r>
            <a:r>
              <a:rPr lang="en-US" sz="3200" dirty="0"/>
              <a:t> / </a:t>
            </a:r>
            <a:r>
              <a:rPr lang="en-US" sz="3200" dirty="0" err="1"/>
              <a:t>muka</a:t>
            </a:r>
            <a:endParaRPr lang="en-US" sz="3200" dirty="0"/>
          </a:p>
          <a:p>
            <a:r>
              <a:rPr lang="en-US" sz="3200" dirty="0"/>
              <a:t>Skin : </a:t>
            </a:r>
            <a:r>
              <a:rPr lang="en-US" sz="3200" dirty="0" err="1"/>
              <a:t>kulit</a:t>
            </a: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38801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13042"/>
            <a:ext cx="10515600" cy="1325563"/>
          </a:xfrm>
        </p:spPr>
        <p:txBody>
          <a:bodyPr/>
          <a:lstStyle/>
          <a:p>
            <a:r>
              <a:rPr lang="en-US" dirty="0" err="1"/>
              <a:t>Apakah</a:t>
            </a:r>
            <a:r>
              <a:rPr lang="en-US" dirty="0"/>
              <a:t> Anda </a:t>
            </a:r>
            <a:r>
              <a:rPr lang="en-US" dirty="0" err="1"/>
              <a:t>pernah</a:t>
            </a:r>
            <a:r>
              <a:rPr lang="en-US" dirty="0"/>
              <a:t> </a:t>
            </a:r>
            <a:r>
              <a:rPr lang="en-US" dirty="0" err="1"/>
              <a:t>sakit</a:t>
            </a:r>
            <a:r>
              <a:rPr lang="en-US" dirty="0"/>
              <a:t>? Kapan </a:t>
            </a:r>
            <a:r>
              <a:rPr lang="en-US" dirty="0" err="1"/>
              <a:t>itu</a:t>
            </a:r>
            <a:r>
              <a:rPr lang="en-US" dirty="0"/>
              <a:t>?</a:t>
            </a:r>
            <a:br>
              <a:rPr lang="en-US" dirty="0"/>
            </a:br>
            <a:r>
              <a:rPr lang="en-US" sz="3600" b="1" i="1" dirty="0" err="1"/>
              <a:t>Ya</a:t>
            </a:r>
            <a:r>
              <a:rPr lang="en-US" sz="3600" b="1" i="1" dirty="0"/>
              <a:t> </a:t>
            </a:r>
            <a:r>
              <a:rPr lang="en-US" sz="3600" b="1" i="1" dirty="0" err="1"/>
              <a:t>saya</a:t>
            </a:r>
            <a:r>
              <a:rPr lang="en-US" sz="3600" b="1" i="1" dirty="0"/>
              <a:t> </a:t>
            </a:r>
            <a:r>
              <a:rPr lang="en-US" sz="3600" b="1" i="1" dirty="0" err="1"/>
              <a:t>sakit</a:t>
            </a:r>
            <a:r>
              <a:rPr lang="en-US" sz="3600" b="1" i="1" dirty="0"/>
              <a:t>, </a:t>
            </a:r>
            <a:r>
              <a:rPr lang="en-US" sz="3600" b="1" i="1" dirty="0" err="1"/>
              <a:t>itu</a:t>
            </a:r>
            <a:r>
              <a:rPr lang="en-US" sz="3600" b="1" i="1" dirty="0"/>
              <a:t> </a:t>
            </a:r>
            <a:r>
              <a:rPr lang="en-US" sz="3600" b="1" i="1" dirty="0" err="1"/>
              <a:t>bulan</a:t>
            </a:r>
            <a:r>
              <a:rPr lang="en-US" sz="3600" b="1" i="1" dirty="0"/>
              <a:t> </a:t>
            </a:r>
            <a:r>
              <a:rPr lang="en-US" sz="3600" b="1" i="1" dirty="0" err="1"/>
              <a:t>lalu</a:t>
            </a:r>
            <a:r>
              <a:rPr lang="en-US" sz="3600" b="1" i="1" dirty="0"/>
              <a:t>.</a:t>
            </a:r>
            <a:endParaRPr lang="en-US" b="1" i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27512" y="2916378"/>
            <a:ext cx="67935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Anda </a:t>
            </a:r>
            <a:r>
              <a:rPr lang="en-US" dirty="0" err="1"/>
              <a:t>sakit</a:t>
            </a:r>
            <a:r>
              <a:rPr lang="en-US" dirty="0"/>
              <a:t> di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tubuh</a:t>
            </a:r>
            <a:r>
              <a:rPr lang="en-US" dirty="0"/>
              <a:t> mana?</a:t>
            </a:r>
          </a:p>
          <a:p>
            <a:r>
              <a:rPr lang="en-US" b="1" i="1" dirty="0"/>
              <a:t>Saya </a:t>
            </a:r>
            <a:r>
              <a:rPr lang="en-US" b="1" i="1" dirty="0" err="1"/>
              <a:t>sakit</a:t>
            </a:r>
            <a:r>
              <a:rPr lang="en-US" b="1" i="1" dirty="0"/>
              <a:t> di </a:t>
            </a:r>
            <a:r>
              <a:rPr lang="en-US" b="1" i="1" dirty="0" err="1"/>
              <a:t>kepala</a:t>
            </a:r>
            <a:r>
              <a:rPr lang="en-US" b="1" i="1" dirty="0"/>
              <a:t> dan </a:t>
            </a:r>
            <a:r>
              <a:rPr lang="en-US" b="1" i="1" dirty="0" err="1"/>
              <a:t>perut</a:t>
            </a:r>
            <a:r>
              <a:rPr lang="en-US" b="1" i="1" dirty="0"/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086536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31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086" y="0"/>
            <a:ext cx="5542636" cy="739018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607" y="1520310"/>
            <a:ext cx="3025932" cy="3025932"/>
          </a:xfrm>
          <a:prstGeom prst="rect">
            <a:avLst/>
          </a:prstGeom>
        </p:spPr>
      </p:pic>
      <p:sp>
        <p:nvSpPr>
          <p:cNvPr id="6" name="Oval Callout 5"/>
          <p:cNvSpPr/>
          <p:nvPr/>
        </p:nvSpPr>
        <p:spPr>
          <a:xfrm>
            <a:off x="3554574" y="141668"/>
            <a:ext cx="579549" cy="528033"/>
          </a:xfrm>
          <a:prstGeom prst="wedgeEllipseCallout">
            <a:avLst>
              <a:gd name="adj1" fmla="val 140869"/>
              <a:gd name="adj2" fmla="val 722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</a:t>
            </a:r>
          </a:p>
        </p:txBody>
      </p:sp>
      <p:sp>
        <p:nvSpPr>
          <p:cNvPr id="7" name="Oval Callout 6"/>
          <p:cNvSpPr/>
          <p:nvPr/>
        </p:nvSpPr>
        <p:spPr>
          <a:xfrm>
            <a:off x="3554573" y="811369"/>
            <a:ext cx="579549" cy="528033"/>
          </a:xfrm>
          <a:prstGeom prst="wedgeEllipseCallout">
            <a:avLst>
              <a:gd name="adj1" fmla="val 216424"/>
              <a:gd name="adj2" fmla="val 1942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3</a:t>
            </a:r>
          </a:p>
        </p:txBody>
      </p:sp>
      <p:sp>
        <p:nvSpPr>
          <p:cNvPr id="8" name="Oval Callout 7"/>
          <p:cNvSpPr/>
          <p:nvPr/>
        </p:nvSpPr>
        <p:spPr>
          <a:xfrm>
            <a:off x="3264798" y="2505243"/>
            <a:ext cx="579549" cy="528033"/>
          </a:xfrm>
          <a:prstGeom prst="wedgeEllipseCallout">
            <a:avLst>
              <a:gd name="adj1" fmla="val 249758"/>
              <a:gd name="adj2" fmla="val 161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5</a:t>
            </a:r>
          </a:p>
        </p:txBody>
      </p:sp>
      <p:sp>
        <p:nvSpPr>
          <p:cNvPr id="9" name="Oval Callout 8"/>
          <p:cNvSpPr/>
          <p:nvPr/>
        </p:nvSpPr>
        <p:spPr>
          <a:xfrm>
            <a:off x="6020875" y="405684"/>
            <a:ext cx="579549" cy="528033"/>
          </a:xfrm>
          <a:prstGeom prst="wedgeEllipseCallout">
            <a:avLst>
              <a:gd name="adj1" fmla="val -145797"/>
              <a:gd name="adj2" fmla="val 1137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2</a:t>
            </a:r>
          </a:p>
        </p:txBody>
      </p:sp>
      <p:sp>
        <p:nvSpPr>
          <p:cNvPr id="10" name="Oval Callout 9"/>
          <p:cNvSpPr/>
          <p:nvPr/>
        </p:nvSpPr>
        <p:spPr>
          <a:xfrm>
            <a:off x="6310649" y="1075385"/>
            <a:ext cx="579549" cy="528033"/>
          </a:xfrm>
          <a:prstGeom prst="wedgeEllipseCallout">
            <a:avLst>
              <a:gd name="adj1" fmla="val -239130"/>
              <a:gd name="adj2" fmla="val 161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4</a:t>
            </a:r>
          </a:p>
        </p:txBody>
      </p:sp>
      <p:sp>
        <p:nvSpPr>
          <p:cNvPr id="11" name="Oval Callout 10"/>
          <p:cNvSpPr/>
          <p:nvPr/>
        </p:nvSpPr>
        <p:spPr>
          <a:xfrm>
            <a:off x="3007216" y="4604801"/>
            <a:ext cx="579549" cy="528033"/>
          </a:xfrm>
          <a:prstGeom prst="wedgeEllipseCallout">
            <a:avLst>
              <a:gd name="adj1" fmla="val 174203"/>
              <a:gd name="adj2" fmla="val 161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6</a:t>
            </a:r>
          </a:p>
        </p:txBody>
      </p:sp>
      <p:sp>
        <p:nvSpPr>
          <p:cNvPr id="12" name="Oval Callout 11"/>
          <p:cNvSpPr/>
          <p:nvPr/>
        </p:nvSpPr>
        <p:spPr>
          <a:xfrm>
            <a:off x="3296990" y="5389276"/>
            <a:ext cx="579549" cy="528033"/>
          </a:xfrm>
          <a:prstGeom prst="wedgeEllipseCallout">
            <a:avLst>
              <a:gd name="adj1" fmla="val 181164"/>
              <a:gd name="adj2" fmla="val 772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7</a:t>
            </a:r>
          </a:p>
        </p:txBody>
      </p:sp>
      <p:sp>
        <p:nvSpPr>
          <p:cNvPr id="13" name="Oval Callout 12"/>
          <p:cNvSpPr/>
          <p:nvPr/>
        </p:nvSpPr>
        <p:spPr>
          <a:xfrm>
            <a:off x="8036416" y="933717"/>
            <a:ext cx="579549" cy="528033"/>
          </a:xfrm>
          <a:prstGeom prst="wedgeEllipseCallout">
            <a:avLst>
              <a:gd name="adj1" fmla="val 76425"/>
              <a:gd name="adj2" fmla="val 3064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8</a:t>
            </a:r>
          </a:p>
        </p:txBody>
      </p:sp>
      <p:sp>
        <p:nvSpPr>
          <p:cNvPr id="14" name="Oval Callout 13"/>
          <p:cNvSpPr/>
          <p:nvPr/>
        </p:nvSpPr>
        <p:spPr>
          <a:xfrm>
            <a:off x="6759800" y="2555009"/>
            <a:ext cx="672922" cy="528033"/>
          </a:xfrm>
          <a:prstGeom prst="wedgeEllipseCallout">
            <a:avLst>
              <a:gd name="adj1" fmla="val 229757"/>
              <a:gd name="adj2" fmla="val 844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10</a:t>
            </a:r>
          </a:p>
        </p:txBody>
      </p:sp>
      <p:sp>
        <p:nvSpPr>
          <p:cNvPr id="15" name="Oval Callout 14"/>
          <p:cNvSpPr/>
          <p:nvPr/>
        </p:nvSpPr>
        <p:spPr>
          <a:xfrm>
            <a:off x="7096261" y="3643272"/>
            <a:ext cx="632736" cy="528033"/>
          </a:xfrm>
          <a:prstGeom prst="wedgeEllipseCallout">
            <a:avLst>
              <a:gd name="adj1" fmla="val 283091"/>
              <a:gd name="adj2" fmla="val -667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12</a:t>
            </a:r>
          </a:p>
        </p:txBody>
      </p:sp>
      <p:sp>
        <p:nvSpPr>
          <p:cNvPr id="16" name="Oval Callout 15"/>
          <p:cNvSpPr/>
          <p:nvPr/>
        </p:nvSpPr>
        <p:spPr>
          <a:xfrm>
            <a:off x="10877278" y="1371297"/>
            <a:ext cx="579549" cy="528033"/>
          </a:xfrm>
          <a:prstGeom prst="wedgeEllipseCallout">
            <a:avLst>
              <a:gd name="adj1" fmla="val -332464"/>
              <a:gd name="adj2" fmla="val 2844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9</a:t>
            </a:r>
          </a:p>
        </p:txBody>
      </p:sp>
      <p:sp>
        <p:nvSpPr>
          <p:cNvPr id="17" name="Oval Callout 16"/>
          <p:cNvSpPr/>
          <p:nvPr/>
        </p:nvSpPr>
        <p:spPr>
          <a:xfrm>
            <a:off x="11167052" y="3083042"/>
            <a:ext cx="629997" cy="528033"/>
          </a:xfrm>
          <a:prstGeom prst="wedgeEllipseCallout">
            <a:avLst>
              <a:gd name="adj1" fmla="val -239130"/>
              <a:gd name="adj2" fmla="val 161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11</a:t>
            </a:r>
          </a:p>
        </p:txBody>
      </p:sp>
      <p:sp>
        <p:nvSpPr>
          <p:cNvPr id="18" name="Oval Callout 17"/>
          <p:cNvSpPr/>
          <p:nvPr/>
        </p:nvSpPr>
        <p:spPr>
          <a:xfrm>
            <a:off x="10400764" y="4340784"/>
            <a:ext cx="623553" cy="528033"/>
          </a:xfrm>
          <a:prstGeom prst="wedgeEllipseCallout">
            <a:avLst>
              <a:gd name="adj1" fmla="val -256909"/>
              <a:gd name="adj2" fmla="val -1765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13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1" y="26894"/>
            <a:ext cx="4049336" cy="6831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1.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kepala</a:t>
            </a:r>
            <a:r>
              <a:rPr lang="en-US" dirty="0"/>
              <a:t>/ </a:t>
            </a:r>
            <a:r>
              <a:rPr lang="en-US" dirty="0" err="1"/>
              <a:t>pusing</a:t>
            </a:r>
            <a:r>
              <a:rPr lang="en-US" dirty="0"/>
              <a:t>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2. </a:t>
            </a:r>
            <a:r>
              <a:rPr lang="en-US" dirty="0" err="1"/>
              <a:t>Leher</a:t>
            </a:r>
            <a:r>
              <a:rPr lang="en-US" dirty="0"/>
              <a:t> </a:t>
            </a:r>
            <a:r>
              <a:rPr lang="en-US" dirty="0" err="1"/>
              <a:t>sakit</a:t>
            </a:r>
            <a:r>
              <a:rPr lang="en-US" dirty="0"/>
              <a:t>/ </a:t>
            </a:r>
            <a:r>
              <a:rPr lang="en-US" dirty="0" err="1"/>
              <a:t>leher</a:t>
            </a:r>
            <a:r>
              <a:rPr lang="en-US" dirty="0"/>
              <a:t> </a:t>
            </a:r>
            <a:r>
              <a:rPr lang="en-US" dirty="0" err="1"/>
              <a:t>kaku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3. </a:t>
            </a:r>
            <a:r>
              <a:rPr lang="en-US" dirty="0" err="1"/>
              <a:t>Asma</a:t>
            </a:r>
            <a:r>
              <a:rPr lang="en-US" dirty="0"/>
              <a:t>,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hati</a:t>
            </a:r>
            <a:r>
              <a:rPr lang="en-US" dirty="0"/>
              <a:t>,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jantung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4. </a:t>
            </a:r>
            <a:r>
              <a:rPr lang="en-US" dirty="0" err="1"/>
              <a:t>Batuk</a:t>
            </a:r>
            <a:r>
              <a:rPr lang="en-US" dirty="0"/>
              <a:t>,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tenggorokan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5.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perut</a:t>
            </a:r>
            <a:r>
              <a:rPr lang="en-US" dirty="0"/>
              <a:t>, mules (</a:t>
            </a:r>
            <a:r>
              <a:rPr lang="en-US" dirty="0" err="1"/>
              <a:t>ingin</a:t>
            </a:r>
            <a:r>
              <a:rPr lang="en-US" dirty="0"/>
              <a:t> BAB), </a:t>
            </a:r>
            <a:r>
              <a:rPr lang="en-US" dirty="0" err="1"/>
              <a:t>maag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6. Luka, </a:t>
            </a:r>
            <a:r>
              <a:rPr lang="en-US" dirty="0" err="1"/>
              <a:t>asam</a:t>
            </a:r>
            <a:r>
              <a:rPr lang="en-US" dirty="0"/>
              <a:t> </a:t>
            </a:r>
            <a:r>
              <a:rPr lang="en-US" dirty="0" err="1"/>
              <a:t>urat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7. </a:t>
            </a:r>
            <a:r>
              <a:rPr lang="en-US" dirty="0" err="1"/>
              <a:t>Kesleo</a:t>
            </a:r>
            <a:r>
              <a:rPr lang="en-US" dirty="0"/>
              <a:t>/ </a:t>
            </a:r>
            <a:r>
              <a:rPr lang="en-US" dirty="0" err="1"/>
              <a:t>terkilir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8.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,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merah</a:t>
            </a:r>
            <a:r>
              <a:rPr lang="en-US" dirty="0"/>
              <a:t>,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bengkak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9. </a:t>
            </a:r>
            <a:r>
              <a:rPr lang="en-US" dirty="0" err="1"/>
              <a:t>Pilek</a:t>
            </a:r>
            <a:r>
              <a:rPr lang="en-US" dirty="0"/>
              <a:t>/Flu, </a:t>
            </a:r>
            <a:r>
              <a:rPr lang="en-US" dirty="0" err="1"/>
              <a:t>Bersin</a:t>
            </a:r>
            <a:r>
              <a:rPr lang="en-US" dirty="0"/>
              <a:t>, </a:t>
            </a:r>
            <a:r>
              <a:rPr lang="en-US" dirty="0" err="1"/>
              <a:t>Ingus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10. </a:t>
            </a:r>
            <a:r>
              <a:rPr lang="en-US" dirty="0" err="1"/>
              <a:t>Jerawat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11.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telinga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12. </a:t>
            </a:r>
            <a:r>
              <a:rPr lang="en-US" dirty="0" err="1"/>
              <a:t>Bibir</a:t>
            </a:r>
            <a:r>
              <a:rPr lang="en-US" dirty="0"/>
              <a:t> </a:t>
            </a:r>
            <a:r>
              <a:rPr lang="en-US" dirty="0" err="1"/>
              <a:t>pecah</a:t>
            </a:r>
            <a:r>
              <a:rPr lang="en-US" dirty="0"/>
              <a:t>, </a:t>
            </a:r>
            <a:r>
              <a:rPr lang="en-US" dirty="0" err="1"/>
              <a:t>Bibir</a:t>
            </a:r>
            <a:r>
              <a:rPr lang="en-US" dirty="0"/>
              <a:t> </a:t>
            </a:r>
            <a:r>
              <a:rPr lang="en-US" dirty="0" err="1"/>
              <a:t>kering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13. </a:t>
            </a:r>
            <a:r>
              <a:rPr lang="en-US" dirty="0" err="1"/>
              <a:t>Sariawan</a:t>
            </a:r>
            <a:r>
              <a:rPr lang="en-US" dirty="0"/>
              <a:t>, </a:t>
            </a:r>
            <a:r>
              <a:rPr lang="en-US" dirty="0" err="1"/>
              <a:t>Sakit</a:t>
            </a:r>
            <a:r>
              <a:rPr lang="en-US" dirty="0"/>
              <a:t> </a:t>
            </a:r>
            <a:r>
              <a:rPr lang="en-US" dirty="0" err="1"/>
              <a:t>gigi</a:t>
            </a:r>
            <a:r>
              <a:rPr lang="en-US" dirty="0"/>
              <a:t>, </a:t>
            </a:r>
            <a:r>
              <a:rPr lang="en-US" dirty="0" err="1"/>
              <a:t>Gusi</a:t>
            </a:r>
            <a:r>
              <a:rPr lang="en-US" dirty="0"/>
              <a:t> </a:t>
            </a:r>
            <a:r>
              <a:rPr lang="en-US" dirty="0" err="1"/>
              <a:t>bengkak</a:t>
            </a:r>
            <a:endParaRPr lang="en-US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dirty="0"/>
              <a:t>14. </a:t>
            </a:r>
            <a:r>
              <a:rPr lang="en-US" dirty="0" err="1"/>
              <a:t>Bisul</a:t>
            </a:r>
            <a:endParaRPr lang="en-US" dirty="0"/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6183521" y="4814407"/>
            <a:ext cx="5832468" cy="204359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/>
              <a:t>15. </a:t>
            </a:r>
            <a:r>
              <a:rPr lang="en-US" sz="2000" dirty="0" err="1"/>
              <a:t>Mual</a:t>
            </a:r>
            <a:r>
              <a:rPr lang="en-US" sz="2000" dirty="0"/>
              <a:t> (</a:t>
            </a:r>
            <a:r>
              <a:rPr lang="en-US" sz="2000" dirty="0" err="1"/>
              <a:t>ingin</a:t>
            </a:r>
            <a:r>
              <a:rPr lang="en-US" sz="2000" dirty="0"/>
              <a:t> </a:t>
            </a:r>
            <a:r>
              <a:rPr lang="en-US" sz="2000" dirty="0" err="1"/>
              <a:t>muntah</a:t>
            </a:r>
            <a:r>
              <a:rPr lang="en-US" sz="2000" dirty="0"/>
              <a:t>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/>
              <a:t>16.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enak</a:t>
            </a:r>
            <a:r>
              <a:rPr lang="en-US" sz="2000" dirty="0"/>
              <a:t> </a:t>
            </a:r>
            <a:r>
              <a:rPr lang="en-US" sz="2000" dirty="0" err="1"/>
              <a:t>badan</a:t>
            </a:r>
            <a:r>
              <a:rPr lang="en-US" sz="2000" dirty="0"/>
              <a:t> (not feeling well)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/>
              <a:t>17. </a:t>
            </a:r>
            <a:r>
              <a:rPr lang="en-US" sz="2000" dirty="0" err="1"/>
              <a:t>Meriang</a:t>
            </a:r>
            <a:r>
              <a:rPr lang="en-US" sz="2000" dirty="0"/>
              <a:t> (</a:t>
            </a:r>
            <a:r>
              <a:rPr lang="en-US" sz="2000" dirty="0" err="1"/>
              <a:t>panas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dingin</a:t>
            </a:r>
            <a:r>
              <a:rPr lang="en-US" sz="2000" dirty="0"/>
              <a:t> di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badan</a:t>
            </a:r>
            <a:r>
              <a:rPr lang="en-US" sz="2000" dirty="0"/>
              <a:t> </a:t>
            </a:r>
            <a:r>
              <a:rPr lang="en-US" sz="2000" dirty="0" err="1"/>
              <a:t>sakit</a:t>
            </a:r>
            <a:r>
              <a:rPr lang="en-US" sz="2000" dirty="0"/>
              <a:t>)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dirty="0"/>
              <a:t>18. </a:t>
            </a:r>
            <a:r>
              <a:rPr lang="en-US" sz="2000" dirty="0" err="1"/>
              <a:t>Menggigil</a:t>
            </a:r>
            <a:r>
              <a:rPr lang="en-US" sz="2000" dirty="0"/>
              <a:t> (</a:t>
            </a:r>
            <a:r>
              <a:rPr lang="en-US" sz="2000" dirty="0" err="1"/>
              <a:t>bergetar</a:t>
            </a:r>
            <a:r>
              <a:rPr lang="en-US" sz="2000" dirty="0"/>
              <a:t>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kedinginan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9429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39F5-B9C2-4676-8853-73F1D7EC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371"/>
            <a:ext cx="10515600" cy="668028"/>
          </a:xfrm>
        </p:spPr>
        <p:txBody>
          <a:bodyPr>
            <a:normAutofit fontScale="90000"/>
          </a:bodyPr>
          <a:lstStyle/>
          <a:p>
            <a:r>
              <a:rPr lang="en-US" dirty="0"/>
              <a:t>Budi </a:t>
            </a:r>
            <a:r>
              <a:rPr lang="en-US" dirty="0" err="1"/>
              <a:t>sakit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8CDF2-275E-4AA3-9F7A-58C572DFF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13" y="816224"/>
            <a:ext cx="10515600" cy="3257014"/>
          </a:xfrm>
        </p:spPr>
        <p:txBody>
          <a:bodyPr/>
          <a:lstStyle/>
          <a:p>
            <a:pPr marL="0" indent="0">
              <a:buNone/>
            </a:pPr>
            <a:r>
              <a:rPr lang="en-ID" dirty="0"/>
              <a:t>Hari </a:t>
            </a:r>
            <a:r>
              <a:rPr lang="en-ID" dirty="0" err="1"/>
              <a:t>Senin</a:t>
            </a:r>
            <a:r>
              <a:rPr lang="en-ID" dirty="0"/>
              <a:t>, 9 </a:t>
            </a:r>
            <a:r>
              <a:rPr lang="en-ID" dirty="0" err="1"/>
              <a:t>Juni</a:t>
            </a:r>
            <a:r>
              <a:rPr lang="en-ID" dirty="0"/>
              <a:t>, Budi </a:t>
            </a:r>
            <a:r>
              <a:rPr lang="en-ID" dirty="0" err="1"/>
              <a:t>sakit</a:t>
            </a:r>
            <a:r>
              <a:rPr lang="en-ID" dirty="0"/>
              <a:t>. </a:t>
            </a:r>
            <a:r>
              <a:rPr lang="en-ID" dirty="0" err="1"/>
              <a:t>Pukul</a:t>
            </a:r>
            <a:r>
              <a:rPr lang="en-ID" dirty="0"/>
              <a:t> 6 </a:t>
            </a:r>
            <a:r>
              <a:rPr lang="en-ID" dirty="0" err="1"/>
              <a:t>pagi</a:t>
            </a:r>
            <a:r>
              <a:rPr lang="en-ID" dirty="0"/>
              <a:t>, Budi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 </a:t>
            </a:r>
            <a:r>
              <a:rPr lang="en-ID" dirty="0" err="1"/>
              <a:t>pusing</a:t>
            </a:r>
            <a:r>
              <a:rPr lang="en-ID" dirty="0"/>
              <a:t> dan badan </a:t>
            </a:r>
            <a:r>
              <a:rPr lang="en-ID" dirty="0" err="1"/>
              <a:t>panas</a:t>
            </a:r>
            <a:r>
              <a:rPr lang="en-ID" dirty="0"/>
              <a:t>. </a:t>
            </a:r>
            <a:r>
              <a:rPr lang="en-ID" dirty="0" err="1"/>
              <a:t>Ibu</a:t>
            </a:r>
            <a:r>
              <a:rPr lang="en-ID" dirty="0"/>
              <a:t> </a:t>
            </a:r>
            <a:r>
              <a:rPr lang="en-ID" dirty="0" err="1"/>
              <a:t>ukur</a:t>
            </a:r>
            <a:r>
              <a:rPr lang="en-ID" dirty="0"/>
              <a:t> </a:t>
            </a:r>
            <a:r>
              <a:rPr lang="en-ID" dirty="0" err="1"/>
              <a:t>suhu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termometer</a:t>
            </a:r>
            <a:r>
              <a:rPr lang="en-ID" dirty="0"/>
              <a:t>. </a:t>
            </a:r>
            <a:r>
              <a:rPr lang="en-ID" dirty="0" err="1"/>
              <a:t>Suhu</a:t>
            </a:r>
            <a:r>
              <a:rPr lang="en-ID" dirty="0"/>
              <a:t> Budi 38 </a:t>
            </a:r>
            <a:r>
              <a:rPr lang="en-ID" dirty="0" err="1"/>
              <a:t>celsius</a:t>
            </a:r>
            <a:r>
              <a:rPr lang="en-ID" dirty="0"/>
              <a:t>. </a:t>
            </a:r>
            <a:r>
              <a:rPr lang="en-ID" dirty="0" err="1"/>
              <a:t>Pukul</a:t>
            </a:r>
            <a:r>
              <a:rPr lang="en-ID" dirty="0"/>
              <a:t> 7 </a:t>
            </a:r>
            <a:r>
              <a:rPr lang="en-ID" dirty="0" err="1"/>
              <a:t>malam</a:t>
            </a:r>
            <a:r>
              <a:rPr lang="en-ID" dirty="0"/>
              <a:t>, </a:t>
            </a:r>
            <a:r>
              <a:rPr lang="en-ID" dirty="0" err="1"/>
              <a:t>ibu</a:t>
            </a:r>
            <a:r>
              <a:rPr lang="en-ID" dirty="0"/>
              <a:t> </a:t>
            </a:r>
            <a:r>
              <a:rPr lang="en-ID" dirty="0" err="1"/>
              <a:t>bawa</a:t>
            </a:r>
            <a:r>
              <a:rPr lang="en-ID" dirty="0"/>
              <a:t> Budi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dokter</a:t>
            </a:r>
            <a:r>
              <a:rPr lang="en-ID" dirty="0"/>
              <a:t>. </a:t>
            </a:r>
            <a:r>
              <a:rPr lang="en-ID" dirty="0" err="1"/>
              <a:t>Dokter</a:t>
            </a:r>
            <a:r>
              <a:rPr lang="en-ID" dirty="0"/>
              <a:t> </a:t>
            </a:r>
            <a:r>
              <a:rPr lang="en-ID" dirty="0" err="1"/>
              <a:t>periksa</a:t>
            </a:r>
            <a:r>
              <a:rPr lang="en-ID" dirty="0"/>
              <a:t> </a:t>
            </a:r>
            <a:r>
              <a:rPr lang="en-ID" dirty="0" err="1"/>
              <a:t>kepala</a:t>
            </a:r>
            <a:r>
              <a:rPr lang="en-ID" dirty="0"/>
              <a:t> dan </a:t>
            </a:r>
            <a:r>
              <a:rPr lang="en-ID" dirty="0" err="1"/>
              <a:t>perut</a:t>
            </a:r>
            <a:r>
              <a:rPr lang="en-ID" dirty="0"/>
              <a:t> Budi. </a:t>
            </a:r>
            <a:r>
              <a:rPr lang="en-ID" dirty="0" err="1"/>
              <a:t>Dokter</a:t>
            </a:r>
            <a:r>
              <a:rPr lang="en-ID" dirty="0"/>
              <a:t> </a:t>
            </a:r>
            <a:r>
              <a:rPr lang="en-ID" dirty="0" err="1"/>
              <a:t>bilang</a:t>
            </a:r>
            <a:r>
              <a:rPr lang="en-ID" dirty="0"/>
              <a:t> </a:t>
            </a:r>
            <a:r>
              <a:rPr lang="en-ID" dirty="0" err="1"/>
              <a:t>dia</a:t>
            </a:r>
            <a:r>
              <a:rPr lang="en-ID" dirty="0"/>
              <a:t> </a:t>
            </a:r>
            <a:r>
              <a:rPr lang="en-ID" dirty="0" err="1"/>
              <a:t>kena</a:t>
            </a:r>
            <a:r>
              <a:rPr lang="en-ID" dirty="0"/>
              <a:t> </a:t>
            </a:r>
            <a:r>
              <a:rPr lang="en-ID" dirty="0" err="1"/>
              <a:t>infeksi</a:t>
            </a:r>
            <a:r>
              <a:rPr lang="en-ID" dirty="0"/>
              <a:t> virus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bersih</a:t>
            </a:r>
            <a:r>
              <a:rPr lang="en-ID" dirty="0"/>
              <a:t>. </a:t>
            </a:r>
            <a:r>
              <a:rPr lang="en-ID" dirty="0" err="1"/>
              <a:t>Dokter</a:t>
            </a:r>
            <a:r>
              <a:rPr lang="en-ID" dirty="0"/>
              <a:t> </a:t>
            </a:r>
            <a:r>
              <a:rPr lang="en-ID" dirty="0" err="1"/>
              <a:t>beri</a:t>
            </a:r>
            <a:r>
              <a:rPr lang="en-ID" dirty="0"/>
              <a:t> </a:t>
            </a:r>
            <a:r>
              <a:rPr lang="en-ID" dirty="0" err="1"/>
              <a:t>obat</a:t>
            </a:r>
            <a:r>
              <a:rPr lang="en-ID" dirty="0"/>
              <a:t> 2 </a:t>
            </a:r>
            <a:r>
              <a:rPr lang="en-ID" dirty="0" err="1"/>
              <a:t>jenis</a:t>
            </a:r>
            <a:r>
              <a:rPr lang="en-ID" dirty="0"/>
              <a:t>. </a:t>
            </a:r>
            <a:r>
              <a:rPr lang="en-ID" dirty="0" err="1"/>
              <a:t>Obat</a:t>
            </a:r>
            <a:r>
              <a:rPr lang="en-ID" dirty="0"/>
              <a:t> </a:t>
            </a:r>
            <a:r>
              <a:rPr lang="en-ID" dirty="0" err="1"/>
              <a:t>demam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20.000 rupiah. </a:t>
            </a:r>
            <a:r>
              <a:rPr lang="en-ID" dirty="0" err="1"/>
              <a:t>Obat</a:t>
            </a:r>
            <a:r>
              <a:rPr lang="en-ID" dirty="0"/>
              <a:t> </a:t>
            </a:r>
            <a:r>
              <a:rPr lang="en-ID" dirty="0" err="1"/>
              <a:t>perut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15.000 rupiah. Budi </a:t>
            </a:r>
            <a:r>
              <a:rPr lang="en-ID" dirty="0" err="1"/>
              <a:t>pulang</a:t>
            </a:r>
            <a:r>
              <a:rPr lang="en-ID" dirty="0"/>
              <a:t> dan </a:t>
            </a:r>
            <a:r>
              <a:rPr lang="en-ID" dirty="0" err="1"/>
              <a:t>istirahat</a:t>
            </a:r>
            <a:r>
              <a:rPr lang="en-ID" dirty="0"/>
              <a:t> di </a:t>
            </a:r>
            <a:r>
              <a:rPr lang="en-ID" dirty="0" err="1"/>
              <a:t>kamar</a:t>
            </a:r>
            <a:r>
              <a:rPr lang="en-ID" dirty="0"/>
              <a:t>. </a:t>
            </a:r>
            <a:r>
              <a:rPr lang="en-ID" dirty="0" err="1"/>
              <a:t>Ibu</a:t>
            </a:r>
            <a:r>
              <a:rPr lang="en-ID" dirty="0"/>
              <a:t> </a:t>
            </a:r>
            <a:r>
              <a:rPr lang="en-ID" dirty="0" err="1"/>
              <a:t>beli</a:t>
            </a:r>
            <a:r>
              <a:rPr lang="en-ID" dirty="0"/>
              <a:t> </a:t>
            </a:r>
            <a:r>
              <a:rPr lang="en-ID" dirty="0" err="1"/>
              <a:t>apel</a:t>
            </a:r>
            <a:r>
              <a:rPr lang="en-ID" dirty="0"/>
              <a:t> </a:t>
            </a:r>
            <a:r>
              <a:rPr lang="en-ID" dirty="0" err="1"/>
              <a:t>merah</a:t>
            </a:r>
            <a:r>
              <a:rPr lang="en-ID" dirty="0"/>
              <a:t> 1 kilo, </a:t>
            </a:r>
            <a:r>
              <a:rPr lang="en-ID" dirty="0" err="1"/>
              <a:t>harga</a:t>
            </a:r>
            <a:r>
              <a:rPr lang="en-ID" dirty="0"/>
              <a:t> 25.000 rupiah. Budi </a:t>
            </a:r>
            <a:r>
              <a:rPr lang="en-ID" dirty="0" err="1"/>
              <a:t>makan</a:t>
            </a:r>
            <a:r>
              <a:rPr lang="en-ID" dirty="0"/>
              <a:t> </a:t>
            </a:r>
            <a:r>
              <a:rPr lang="en-ID" dirty="0" err="1"/>
              <a:t>apel</a:t>
            </a:r>
            <a:r>
              <a:rPr lang="en-ID" dirty="0"/>
              <a:t> dan </a:t>
            </a:r>
            <a:r>
              <a:rPr lang="en-ID" dirty="0" err="1"/>
              <a:t>minum</a:t>
            </a:r>
            <a:r>
              <a:rPr lang="en-ID" dirty="0"/>
              <a:t> </a:t>
            </a:r>
            <a:r>
              <a:rPr lang="en-ID" dirty="0" err="1"/>
              <a:t>obat</a:t>
            </a:r>
            <a:r>
              <a:rPr lang="en-ID" dirty="0"/>
              <a:t>. </a:t>
            </a:r>
            <a:r>
              <a:rPr lang="en-ID" dirty="0" err="1"/>
              <a:t>Pukul</a:t>
            </a:r>
            <a:r>
              <a:rPr lang="en-ID" dirty="0"/>
              <a:t> 5 </a:t>
            </a:r>
            <a:r>
              <a:rPr lang="en-ID" dirty="0" err="1"/>
              <a:t>pagi</a:t>
            </a:r>
            <a:r>
              <a:rPr lang="en-ID" dirty="0"/>
              <a:t>, Budi </a:t>
            </a:r>
            <a:r>
              <a:rPr lang="en-ID" dirty="0" err="1"/>
              <a:t>merasa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6AFFBE-0A56-40FB-B7EB-F167E83781E2}"/>
              </a:ext>
            </a:extLst>
          </p:cNvPr>
          <p:cNvSpPr/>
          <p:nvPr/>
        </p:nvSpPr>
        <p:spPr>
          <a:xfrm>
            <a:off x="731322" y="4168239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Kapan </a:t>
            </a:r>
            <a:r>
              <a:rPr lang="en-US" sz="2800" dirty="0" err="1"/>
              <a:t>budi</a:t>
            </a:r>
            <a:r>
              <a:rPr lang="en-US" sz="2800" dirty="0"/>
              <a:t> </a:t>
            </a:r>
            <a:r>
              <a:rPr lang="en-US" sz="2800" dirty="0" err="1"/>
              <a:t>merasa</a:t>
            </a:r>
            <a:r>
              <a:rPr lang="en-US" sz="2800" dirty="0"/>
              <a:t> </a:t>
            </a:r>
            <a:r>
              <a:rPr lang="en-US" sz="2800" dirty="0" err="1"/>
              <a:t>sakit</a:t>
            </a:r>
            <a:r>
              <a:rPr lang="en-US" sz="2800" dirty="0"/>
              <a:t>?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Apa</a:t>
            </a:r>
            <a:r>
              <a:rPr lang="en-US" sz="2800" dirty="0"/>
              <a:t> yang </a:t>
            </a:r>
            <a:r>
              <a:rPr lang="en-US" sz="2800" dirty="0" err="1"/>
              <a:t>budi</a:t>
            </a:r>
            <a:r>
              <a:rPr lang="en-US" sz="2800" dirty="0"/>
              <a:t> rasa?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Berapa</a:t>
            </a:r>
            <a:r>
              <a:rPr lang="en-US" sz="2800" dirty="0"/>
              <a:t> </a:t>
            </a:r>
            <a:r>
              <a:rPr lang="en-US" sz="2800" dirty="0" err="1"/>
              <a:t>suhu</a:t>
            </a:r>
            <a:r>
              <a:rPr lang="en-US" sz="2800" dirty="0"/>
              <a:t> badan </a:t>
            </a:r>
            <a:r>
              <a:rPr lang="en-US" sz="2800" dirty="0" err="1"/>
              <a:t>budi</a:t>
            </a:r>
            <a:r>
              <a:rPr lang="en-US" sz="2800" dirty="0"/>
              <a:t>?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Pukul</a:t>
            </a:r>
            <a:r>
              <a:rPr lang="en-US" sz="2800" dirty="0"/>
              <a:t> </a:t>
            </a:r>
            <a:r>
              <a:rPr lang="en-US" sz="2800" dirty="0" err="1"/>
              <a:t>berapa</a:t>
            </a:r>
            <a:r>
              <a:rPr lang="en-US" sz="2800" dirty="0"/>
              <a:t> </a:t>
            </a:r>
            <a:r>
              <a:rPr lang="en-US" sz="2800" dirty="0" err="1"/>
              <a:t>budi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dokter</a:t>
            </a:r>
            <a:r>
              <a:rPr lang="en-US" sz="2800" dirty="0"/>
              <a:t>?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Berapa</a:t>
            </a:r>
            <a:r>
              <a:rPr lang="en-US" sz="2800" dirty="0"/>
              <a:t> </a:t>
            </a:r>
            <a:r>
              <a:rPr lang="en-US" sz="2800" dirty="0" err="1"/>
              <a:t>harga</a:t>
            </a:r>
            <a:r>
              <a:rPr lang="en-US" sz="2800" dirty="0"/>
              <a:t> </a:t>
            </a:r>
            <a:r>
              <a:rPr lang="en-US" sz="2800" dirty="0" err="1"/>
              <a:t>obat</a:t>
            </a:r>
            <a:r>
              <a:rPr lang="en-US" sz="2800" dirty="0"/>
              <a:t> untuk </a:t>
            </a:r>
            <a:r>
              <a:rPr lang="en-US" sz="2800" dirty="0" err="1"/>
              <a:t>budi</a:t>
            </a:r>
            <a:r>
              <a:rPr lang="en-US" sz="2800" dirty="0"/>
              <a:t>?</a:t>
            </a:r>
          </a:p>
          <a:p>
            <a:pPr marL="514350" indent="-514350">
              <a:buAutoNum type="arabicPeriod"/>
            </a:pPr>
            <a:r>
              <a:rPr lang="en-US" sz="2800" dirty="0" err="1"/>
              <a:t>Pukul</a:t>
            </a:r>
            <a:r>
              <a:rPr lang="en-US" sz="2800" dirty="0"/>
              <a:t> </a:t>
            </a:r>
            <a:r>
              <a:rPr lang="en-US" sz="2800" dirty="0" err="1"/>
              <a:t>berapa</a:t>
            </a:r>
            <a:r>
              <a:rPr lang="en-US" sz="2800" dirty="0"/>
              <a:t> </a:t>
            </a:r>
            <a:r>
              <a:rPr lang="en-US" sz="2800" dirty="0" err="1"/>
              <a:t>budi</a:t>
            </a:r>
            <a:r>
              <a:rPr lang="en-US" sz="2800" dirty="0"/>
              <a:t> </a:t>
            </a:r>
            <a:r>
              <a:rPr lang="en-US" sz="2800" dirty="0" err="1"/>
              <a:t>merasa</a:t>
            </a:r>
            <a:r>
              <a:rPr lang="en-US" sz="2800" dirty="0"/>
              <a:t>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baik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90467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BF051-6E47-45BD-B090-CF963AEB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Praktik</a:t>
            </a:r>
            <a:r>
              <a:rPr lang="en-US" dirty="0"/>
              <a:t> </a:t>
            </a:r>
            <a:r>
              <a:rPr lang="en-US" dirty="0" err="1"/>
              <a:t>menulis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005D-08C2-4B89-9489-E2B48DF56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Kapan </a:t>
            </a:r>
            <a:r>
              <a:rPr lang="en-US" dirty="0" err="1"/>
              <a:t>budi</a:t>
            </a:r>
            <a:r>
              <a:rPr lang="en-US" dirty="0"/>
              <a:t> </a:t>
            </a:r>
            <a:r>
              <a:rPr lang="en-US" dirty="0" err="1"/>
              <a:t>merasa</a:t>
            </a:r>
            <a:r>
              <a:rPr lang="en-US" dirty="0"/>
              <a:t> </a:t>
            </a:r>
            <a:r>
              <a:rPr lang="en-US" dirty="0" err="1"/>
              <a:t>sakit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budi</a:t>
            </a:r>
            <a:r>
              <a:rPr lang="en-US" dirty="0"/>
              <a:t> rasa?</a:t>
            </a:r>
          </a:p>
          <a:p>
            <a:pPr marL="514350" indent="-514350">
              <a:buAutoNum type="arabicPeriod"/>
            </a:pP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suhu</a:t>
            </a:r>
            <a:r>
              <a:rPr lang="en-US" dirty="0"/>
              <a:t> badan </a:t>
            </a:r>
            <a:r>
              <a:rPr lang="en-US" dirty="0" err="1"/>
              <a:t>budi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 err="1"/>
              <a:t>Pukul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budi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dokter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obat</a:t>
            </a:r>
            <a:r>
              <a:rPr lang="en-US" dirty="0"/>
              <a:t> untuk </a:t>
            </a:r>
            <a:r>
              <a:rPr lang="en-US" dirty="0" err="1"/>
              <a:t>budi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en-US" dirty="0" err="1"/>
              <a:t>Pukul</a:t>
            </a:r>
            <a:r>
              <a:rPr lang="en-US" dirty="0"/>
              <a:t> </a:t>
            </a:r>
            <a:r>
              <a:rPr lang="en-US" dirty="0" err="1"/>
              <a:t>berapa</a:t>
            </a:r>
            <a:r>
              <a:rPr lang="en-US" dirty="0"/>
              <a:t> </a:t>
            </a:r>
            <a:r>
              <a:rPr lang="en-US" dirty="0" err="1"/>
              <a:t>budi</a:t>
            </a:r>
            <a:r>
              <a:rPr lang="en-US" dirty="0"/>
              <a:t> </a:t>
            </a:r>
            <a:r>
              <a:rPr lang="en-US" dirty="0" err="1"/>
              <a:t>merasa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38097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39F5-B9C2-4676-8853-73F1D7EC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8731"/>
          </a:xfrm>
        </p:spPr>
        <p:txBody>
          <a:bodyPr/>
          <a:lstStyle/>
          <a:p>
            <a:pPr algn="ctr"/>
            <a:r>
              <a:rPr lang="en-US" b="1" dirty="0"/>
              <a:t>Karena, </a:t>
            </a:r>
            <a:r>
              <a:rPr lang="en-US" b="1" dirty="0" err="1"/>
              <a:t>Sebab</a:t>
            </a:r>
            <a:r>
              <a:rPr lang="en-US" b="1" dirty="0"/>
              <a:t>, </a:t>
            </a:r>
            <a:r>
              <a:rPr lang="en-US" b="1" dirty="0" err="1"/>
              <a:t>Akibat</a:t>
            </a:r>
            <a:r>
              <a:rPr lang="en-US" b="1" dirty="0"/>
              <a:t> (causality) </a:t>
            </a:r>
            <a:endParaRPr lang="en-ID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E238C6-F150-418C-8136-14DF5AB8FA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336" y="1231305"/>
            <a:ext cx="1158240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Karena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the reason or cause of something (because).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i="1" dirty="0" err="1">
                <a:latin typeface="Arial" panose="020B0604020202020204" pitchFamily="34" charset="0"/>
              </a:rPr>
              <a:t>Contoh</a:t>
            </a:r>
            <a:r>
              <a:rPr lang="en-US" altLang="en-US" sz="2400" i="1" dirty="0">
                <a:latin typeface="Arial" panose="020B0604020202020204" pitchFamily="34" charset="0"/>
              </a:rPr>
              <a:t>: Saya </a:t>
            </a:r>
            <a:r>
              <a:rPr lang="en-US" altLang="en-US" sz="2400" i="1" dirty="0" err="1">
                <a:latin typeface="Arial" panose="020B0604020202020204" pitchFamily="34" charset="0"/>
              </a:rPr>
              <a:t>tidak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pergi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b="1" i="1" dirty="0" err="1">
                <a:latin typeface="Arial" panose="020B0604020202020204" pitchFamily="34" charset="0"/>
              </a:rPr>
              <a:t>karena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hujan</a:t>
            </a:r>
            <a:r>
              <a:rPr lang="en-US" altLang="en-US" sz="2400" i="1" dirty="0">
                <a:latin typeface="Arial" panose="020B0604020202020204" pitchFamily="34" charset="0"/>
              </a:rPr>
              <a:t>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I didn’t go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was raining.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Sebab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Synonym for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karena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", more formal, indicates cause (since, because).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i="1" dirty="0" err="1">
                <a:latin typeface="Arial" panose="020B0604020202020204" pitchFamily="34" charset="0"/>
              </a:rPr>
              <a:t>Contoh</a:t>
            </a:r>
            <a:r>
              <a:rPr lang="en-US" altLang="en-US" sz="2400" i="1" dirty="0">
                <a:latin typeface="Arial" panose="020B0604020202020204" pitchFamily="34" charset="0"/>
              </a:rPr>
              <a:t>: </a:t>
            </a:r>
            <a:r>
              <a:rPr lang="en-US" altLang="en-US" sz="2400" i="1" dirty="0" err="1">
                <a:latin typeface="Arial" panose="020B0604020202020204" pitchFamily="34" charset="0"/>
              </a:rPr>
              <a:t>Dia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absen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b="1" i="1" dirty="0" err="1">
                <a:latin typeface="Arial" panose="020B0604020202020204" pitchFamily="34" charset="0"/>
              </a:rPr>
              <a:t>sebab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sedang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sakit</a:t>
            </a:r>
            <a:r>
              <a:rPr lang="en-US" altLang="en-US" sz="2400" i="1" dirty="0"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He was absent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 was sick.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Akibat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the result or consequence of a cause (as a result, consequently).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i="1" dirty="0" err="1">
                <a:latin typeface="Arial" panose="020B0604020202020204" pitchFamily="34" charset="0"/>
              </a:rPr>
              <a:t>Contoh</a:t>
            </a:r>
            <a:r>
              <a:rPr lang="en-US" altLang="en-US" sz="2400" i="1" dirty="0">
                <a:latin typeface="Arial" panose="020B0604020202020204" pitchFamily="34" charset="0"/>
              </a:rPr>
              <a:t>: </a:t>
            </a:r>
            <a:r>
              <a:rPr lang="en-US" altLang="en-US" sz="2400" i="1" dirty="0" err="1">
                <a:latin typeface="Arial" panose="020B0604020202020204" pitchFamily="34" charset="0"/>
              </a:rPr>
              <a:t>Dia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tidak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belajar</a:t>
            </a:r>
            <a:r>
              <a:rPr lang="en-US" altLang="en-US" sz="2400" i="1" dirty="0">
                <a:latin typeface="Arial" panose="020B0604020202020204" pitchFamily="34" charset="0"/>
              </a:rPr>
              <a:t>, </a:t>
            </a:r>
            <a:r>
              <a:rPr lang="en-US" altLang="en-US" sz="2400" b="1" i="1" dirty="0" err="1">
                <a:latin typeface="Arial" panose="020B0604020202020204" pitchFamily="34" charset="0"/>
              </a:rPr>
              <a:t>akibatnya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dia</a:t>
            </a:r>
            <a:r>
              <a:rPr lang="en-US" altLang="en-US" sz="240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 err="1">
                <a:latin typeface="Arial" panose="020B0604020202020204" pitchFamily="34" charset="0"/>
              </a:rPr>
              <a:t>gagal</a:t>
            </a:r>
            <a:r>
              <a:rPr lang="en-US" altLang="en-US" sz="2400" i="1" dirty="0"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He didn’t study,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 result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he failed.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429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yang </a:t>
            </a:r>
            <a:r>
              <a:rPr lang="en-US" dirty="0" err="1"/>
              <a:t>bahaya</a:t>
            </a:r>
            <a:r>
              <a:rPr lang="en-US" dirty="0"/>
              <a:t> </a:t>
            </a:r>
            <a:r>
              <a:rPr lang="en-US" dirty="0" err="1"/>
              <a:t>menurut</a:t>
            </a:r>
            <a:r>
              <a:rPr lang="en-US" dirty="0"/>
              <a:t> Anda?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15932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sebab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96" y="2759742"/>
            <a:ext cx="3746407" cy="376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96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653" y="238353"/>
            <a:ext cx="6046694" cy="646359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 err="1"/>
              <a:t>Kosakata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sakit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645" y="1246909"/>
            <a:ext cx="5783282" cy="4930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  <a:endParaRPr lang="en-US" sz="2600" i="1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AF315E1-D3F1-410E-AF00-EF695C4E7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599824"/>
              </p:ext>
            </p:extLst>
          </p:nvPr>
        </p:nvGraphicFramePr>
        <p:xfrm>
          <a:off x="534390" y="1375743"/>
          <a:ext cx="10391272" cy="493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818">
                  <a:extLst>
                    <a:ext uri="{9D8B030D-6E8A-4147-A177-3AD203B41FA5}">
                      <a16:colId xmlns:a16="http://schemas.microsoft.com/office/drawing/2014/main" val="426540836"/>
                    </a:ext>
                  </a:extLst>
                </a:gridCol>
                <a:gridCol w="2597818">
                  <a:extLst>
                    <a:ext uri="{9D8B030D-6E8A-4147-A177-3AD203B41FA5}">
                      <a16:colId xmlns:a16="http://schemas.microsoft.com/office/drawing/2014/main" val="2298053638"/>
                    </a:ext>
                  </a:extLst>
                </a:gridCol>
                <a:gridCol w="2597818">
                  <a:extLst>
                    <a:ext uri="{9D8B030D-6E8A-4147-A177-3AD203B41FA5}">
                      <a16:colId xmlns:a16="http://schemas.microsoft.com/office/drawing/2014/main" val="2384878244"/>
                    </a:ext>
                  </a:extLst>
                </a:gridCol>
                <a:gridCol w="2597818">
                  <a:extLst>
                    <a:ext uri="{9D8B030D-6E8A-4147-A177-3AD203B41FA5}">
                      <a16:colId xmlns:a16="http://schemas.microsoft.com/office/drawing/2014/main" val="4078304829"/>
                    </a:ext>
                  </a:extLst>
                </a:gridCol>
              </a:tblGrid>
              <a:tr h="616257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603823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r>
                        <a:rPr lang="en-US" sz="3200" dirty="0" err="1"/>
                        <a:t>Sakit</a:t>
                      </a:r>
                      <a:r>
                        <a:rPr lang="en-US" sz="3200" dirty="0"/>
                        <a:t> 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sick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err="1"/>
                        <a:t>Bedah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Surgery</a:t>
                      </a:r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372913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r>
                        <a:rPr lang="en-US" sz="3200" dirty="0" err="1"/>
                        <a:t>Obat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Medicine</a:t>
                      </a:r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621904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273322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867894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058751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826163"/>
                  </a:ext>
                </a:extLst>
              </a:tr>
              <a:tr h="616257"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418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90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8326" y="249382"/>
            <a:ext cx="6046694" cy="646359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/>
              <a:t>Cara </a:t>
            </a:r>
            <a:r>
              <a:rPr lang="en-US" dirty="0" err="1"/>
              <a:t>periksa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dokter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645" y="1246909"/>
            <a:ext cx="5783282" cy="4930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  <a:endParaRPr lang="en-US" sz="2600" i="1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5CA032C-EB5B-45E0-96A3-9BFC2DD40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795580"/>
              </p:ext>
            </p:extLst>
          </p:nvPr>
        </p:nvGraphicFramePr>
        <p:xfrm>
          <a:off x="777390" y="1046821"/>
          <a:ext cx="10195410" cy="5377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7705">
                  <a:extLst>
                    <a:ext uri="{9D8B030D-6E8A-4147-A177-3AD203B41FA5}">
                      <a16:colId xmlns:a16="http://schemas.microsoft.com/office/drawing/2014/main" val="3820721960"/>
                    </a:ext>
                  </a:extLst>
                </a:gridCol>
                <a:gridCol w="5097705">
                  <a:extLst>
                    <a:ext uri="{9D8B030D-6E8A-4147-A177-3AD203B41FA5}">
                      <a16:colId xmlns:a16="http://schemas.microsoft.com/office/drawing/2014/main" val="760045703"/>
                    </a:ext>
                  </a:extLst>
                </a:gridCol>
              </a:tblGrid>
              <a:tr h="396639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819919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Sore </a:t>
                      </a:r>
                      <a:r>
                        <a:rPr lang="en-US" sz="2000" dirty="0" err="1"/>
                        <a:t>dokter</a:t>
                      </a:r>
                      <a:r>
                        <a:rPr lang="en-US" sz="2000" dirty="0"/>
                        <a:t> ..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Good afternoon, doctor…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711827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Saya </a:t>
                      </a:r>
                      <a:r>
                        <a:rPr lang="en-US" sz="2000" dirty="0" err="1"/>
                        <a:t>merasa</a:t>
                      </a:r>
                      <a:r>
                        <a:rPr lang="en-US" sz="2000" dirty="0"/>
                        <a:t> … </a:t>
                      </a:r>
                      <a:r>
                        <a:rPr lang="en-US" sz="2000" dirty="0" err="1"/>
                        <a:t>sejak</a:t>
                      </a:r>
                      <a:r>
                        <a:rPr lang="en-US" sz="2000" dirty="0"/>
                        <a:t> …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I feel … since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100463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Saya </a:t>
                      </a:r>
                      <a:r>
                        <a:rPr lang="en-US" sz="2000" dirty="0" err="1"/>
                        <a:t>merasa</a:t>
                      </a:r>
                      <a:r>
                        <a:rPr lang="en-US" sz="2000" dirty="0"/>
                        <a:t> …. </a:t>
                      </a:r>
                      <a:r>
                        <a:rPr lang="en-US" sz="2000" dirty="0" err="1"/>
                        <a:t>Sehari</a:t>
                      </a:r>
                      <a:r>
                        <a:rPr lang="en-US" sz="2000" dirty="0"/>
                        <a:t> 3 kali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….. </a:t>
                      </a:r>
                      <a:r>
                        <a:rPr lang="en-US" sz="2000" i="1" dirty="0"/>
                        <a:t>I feel …. 3 times a day…..</a:t>
                      </a:r>
                      <a:endParaRPr lang="en-ID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707891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Saya </a:t>
                      </a:r>
                      <a:r>
                        <a:rPr lang="en-US" sz="2000" dirty="0" err="1"/>
                        <a:t>merasa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itu</a:t>
                      </a:r>
                      <a:r>
                        <a:rPr lang="en-US" sz="2000" dirty="0"/>
                        <a:t> di….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I feel that in….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004864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Saya </a:t>
                      </a:r>
                      <a:r>
                        <a:rPr lang="en-US" sz="2000" dirty="0" err="1"/>
                        <a:t>harus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lakukan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apa</a:t>
                      </a:r>
                      <a:r>
                        <a:rPr lang="en-US" sz="2000" dirty="0"/>
                        <a:t>?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What should I do?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294998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Saya </a:t>
                      </a:r>
                      <a:r>
                        <a:rPr lang="en-US" sz="2000" dirty="0" err="1"/>
                        <a:t>tidak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boleh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apa</a:t>
                      </a:r>
                      <a:r>
                        <a:rPr lang="en-US" sz="2000" dirty="0"/>
                        <a:t>?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What should I not do?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662227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/>
                        <a:t>Saya </a:t>
                      </a:r>
                      <a:r>
                        <a:rPr lang="en-US" sz="2000" dirty="0" err="1"/>
                        <a:t>harus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makan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apa</a:t>
                      </a:r>
                      <a:r>
                        <a:rPr lang="en-US" sz="2000" dirty="0"/>
                        <a:t>?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What should I eat?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752181"/>
                  </a:ext>
                </a:extLst>
              </a:tr>
              <a:tr h="556932">
                <a:tc>
                  <a:txBody>
                    <a:bodyPr/>
                    <a:lstStyle/>
                    <a:p>
                      <a:r>
                        <a:rPr lang="en-US" sz="2000" dirty="0" err="1"/>
                        <a:t>Apakah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harus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suntik</a:t>
                      </a:r>
                      <a:r>
                        <a:rPr lang="en-US" sz="2000" dirty="0"/>
                        <a:t> / </a:t>
                      </a:r>
                      <a:r>
                        <a:rPr lang="en-US" sz="2000" dirty="0" err="1"/>
                        <a:t>minum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obat</a:t>
                      </a:r>
                      <a:r>
                        <a:rPr lang="en-US" sz="2000" dirty="0"/>
                        <a:t>?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Do I have to get an injection/take medicine?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177285"/>
                  </a:ext>
                </a:extLst>
              </a:tr>
              <a:tr h="556932">
                <a:tc>
                  <a:txBody>
                    <a:bodyPr/>
                    <a:lstStyle/>
                    <a:p>
                      <a:r>
                        <a:rPr lang="en-US" sz="2000" dirty="0" err="1"/>
                        <a:t>Harus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minum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obat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berapa</a:t>
                      </a:r>
                      <a:r>
                        <a:rPr lang="en-US" sz="2000" dirty="0"/>
                        <a:t> kali </a:t>
                      </a:r>
                      <a:r>
                        <a:rPr lang="en-US" sz="2000" dirty="0" err="1"/>
                        <a:t>sehari</a:t>
                      </a:r>
                      <a:r>
                        <a:rPr lang="en-US" sz="2000" dirty="0"/>
                        <a:t>?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How many times a day should I take medicine?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375626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 err="1"/>
                        <a:t>Apakah</a:t>
                      </a:r>
                      <a:r>
                        <a:rPr lang="en-US" sz="2000" dirty="0"/>
                        <a:t> bisa </a:t>
                      </a:r>
                      <a:r>
                        <a:rPr lang="en-US" sz="2000" dirty="0" err="1"/>
                        <a:t>bayar</a:t>
                      </a:r>
                      <a:r>
                        <a:rPr lang="en-US" sz="2000" dirty="0"/>
                        <a:t> dengan ….?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/>
                        <a:t>Can I pay with ….?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576882"/>
                  </a:ext>
                </a:extLst>
              </a:tr>
              <a:tr h="429692">
                <a:tc>
                  <a:txBody>
                    <a:bodyPr/>
                    <a:lstStyle/>
                    <a:p>
                      <a:r>
                        <a:rPr lang="en-US" sz="2000" dirty="0" err="1"/>
                        <a:t>Terima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kasih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dok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077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06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4576" y="632012"/>
            <a:ext cx="6046694" cy="1166253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 err="1"/>
              <a:t>Praktik</a:t>
            </a:r>
            <a:r>
              <a:rPr lang="en-US" dirty="0"/>
              <a:t> </a:t>
            </a:r>
            <a:r>
              <a:rPr lang="en-US" dirty="0" err="1"/>
              <a:t>Berbicara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91871"/>
            <a:ext cx="10515600" cy="39850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Anda </a:t>
            </a:r>
            <a:r>
              <a:rPr lang="en-US" dirty="0" err="1"/>
              <a:t>sedang</a:t>
            </a:r>
            <a:r>
              <a:rPr lang="en-US" dirty="0"/>
              <a:t> di Indonesia dan </a:t>
            </a:r>
            <a:r>
              <a:rPr lang="en-US" dirty="0" err="1"/>
              <a:t>hari</a:t>
            </a:r>
            <a:r>
              <a:rPr lang="en-US" dirty="0"/>
              <a:t> ini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merasa</a:t>
            </a:r>
            <a:r>
              <a:rPr lang="en-US" dirty="0"/>
              <a:t> </a:t>
            </a:r>
            <a:r>
              <a:rPr lang="en-US" dirty="0" err="1"/>
              <a:t>sakit</a:t>
            </a:r>
            <a:r>
              <a:rPr lang="en-US" dirty="0"/>
              <a:t>. Anda </a:t>
            </a:r>
            <a:r>
              <a:rPr lang="en-US" dirty="0" err="1"/>
              <a:t>pergi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dokter</a:t>
            </a:r>
            <a:r>
              <a:rPr lang="en-US" dirty="0"/>
              <a:t> untuk </a:t>
            </a:r>
            <a:r>
              <a:rPr lang="en-US" dirty="0" err="1"/>
              <a:t>berobat</a:t>
            </a:r>
            <a:r>
              <a:rPr lang="en-US" dirty="0"/>
              <a:t>. Guru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dokter</a:t>
            </a:r>
            <a:r>
              <a:rPr lang="en-US" dirty="0"/>
              <a:t> dan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pasien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71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993" t="20182" r="16839" b="24104"/>
          <a:stretch/>
        </p:blipFill>
        <p:spPr>
          <a:xfrm>
            <a:off x="838200" y="1304365"/>
            <a:ext cx="10018058" cy="46718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429" y="389965"/>
            <a:ext cx="10515600" cy="789735"/>
          </a:xfrm>
        </p:spPr>
        <p:txBody>
          <a:bodyPr/>
          <a:lstStyle/>
          <a:p>
            <a:pPr algn="ctr"/>
            <a:r>
              <a:rPr lang="en-US" dirty="0" err="1"/>
              <a:t>Demam</a:t>
            </a:r>
            <a:r>
              <a:rPr lang="en-US" dirty="0"/>
              <a:t> </a:t>
            </a:r>
            <a:r>
              <a:rPr lang="en-US" dirty="0" err="1"/>
              <a:t>Berdarah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238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5000" t="24890" r="9559" b="12727"/>
          <a:stretch/>
        </p:blipFill>
        <p:spPr>
          <a:xfrm>
            <a:off x="718530" y="685800"/>
            <a:ext cx="11222458" cy="521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76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Penyakit</a:t>
            </a:r>
            <a:r>
              <a:rPr lang="en-US" dirty="0"/>
              <a:t> di Indonesia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angin</a:t>
            </a:r>
            <a:endParaRPr lang="en-US" dirty="0"/>
          </a:p>
          <a:p>
            <a:r>
              <a:rPr lang="en-US" dirty="0" err="1"/>
              <a:t>Panu</a:t>
            </a:r>
            <a:endParaRPr lang="en-US" dirty="0"/>
          </a:p>
          <a:p>
            <a:r>
              <a:rPr lang="en-US" dirty="0" err="1"/>
              <a:t>Kadas</a:t>
            </a:r>
            <a:r>
              <a:rPr lang="en-US" dirty="0"/>
              <a:t> </a:t>
            </a:r>
          </a:p>
          <a:p>
            <a:r>
              <a:rPr lang="en-US" dirty="0" err="1"/>
              <a:t>Kurap</a:t>
            </a:r>
            <a:endParaRPr lang="en-US" dirty="0"/>
          </a:p>
          <a:p>
            <a:r>
              <a:rPr lang="en-US" dirty="0" err="1"/>
              <a:t>Bisul</a:t>
            </a:r>
            <a:endParaRPr lang="en-US" dirty="0"/>
          </a:p>
          <a:p>
            <a:r>
              <a:rPr lang="en-US" dirty="0" err="1"/>
              <a:t>Kesemutan</a:t>
            </a:r>
            <a:endParaRPr lang="en-US" dirty="0"/>
          </a:p>
          <a:p>
            <a:r>
              <a:rPr lang="en-US" dirty="0" err="1"/>
              <a:t>Cantengan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963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471" y="0"/>
            <a:ext cx="10260106" cy="6840071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5208214"/>
            <a:ext cx="3509683" cy="1631857"/>
          </a:xfrm>
          <a:solidFill>
            <a:schemeClr val="bg2">
              <a:lumMod val="25000"/>
            </a:schemeClr>
          </a:solidFill>
        </p:spPr>
        <p:txBody>
          <a:bodyPr>
            <a:noAutofit/>
          </a:bodyPr>
          <a:lstStyle/>
          <a:p>
            <a:r>
              <a:rPr lang="en-US" sz="11500" b="1" dirty="0" err="1">
                <a:solidFill>
                  <a:srgbClr val="FFFF00"/>
                </a:solidFill>
                <a:latin typeface="Agency FB" panose="020B0503020202020204" pitchFamily="34" charset="0"/>
              </a:rPr>
              <a:t>Jamu</a:t>
            </a:r>
            <a:endParaRPr lang="en-US" sz="11500" b="1" dirty="0">
              <a:solidFill>
                <a:srgbClr val="FFFF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385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774" y="3284126"/>
            <a:ext cx="4558393" cy="228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21" y="173736"/>
            <a:ext cx="3225063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21" y="3284126"/>
            <a:ext cx="3429000" cy="2286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4" t="-980" r="-10084" b="980"/>
          <a:stretch/>
        </p:blipFill>
        <p:spPr>
          <a:xfrm>
            <a:off x="4210774" y="173736"/>
            <a:ext cx="40005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10774" y="2459736"/>
            <a:ext cx="1884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Beras</a:t>
            </a:r>
            <a:r>
              <a:rPr lang="en-US" sz="2400" b="1" dirty="0"/>
              <a:t> </a:t>
            </a:r>
            <a:r>
              <a:rPr lang="en-US" sz="2400" b="1" dirty="0" err="1"/>
              <a:t>kencur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74921" y="2410265"/>
            <a:ext cx="1884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Kunyit</a:t>
            </a:r>
            <a:r>
              <a:rPr lang="en-US" sz="2400" b="1" dirty="0"/>
              <a:t> </a:t>
            </a:r>
            <a:r>
              <a:rPr lang="en-US" sz="2400" b="1" dirty="0" err="1"/>
              <a:t>Asam</a:t>
            </a:r>
            <a:endParaRPr lang="en-US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175560" y="5570126"/>
            <a:ext cx="1884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Cabe</a:t>
            </a:r>
            <a:r>
              <a:rPr lang="en-US" sz="2400" b="1" dirty="0"/>
              <a:t> </a:t>
            </a:r>
            <a:r>
              <a:rPr lang="en-US" sz="2400" b="1" dirty="0" err="1"/>
              <a:t>Puyang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74921" y="5570126"/>
            <a:ext cx="1884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Sinom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36158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730" y="109631"/>
            <a:ext cx="10515600" cy="750981"/>
          </a:xfrm>
        </p:spPr>
        <p:txBody>
          <a:bodyPr/>
          <a:lstStyle/>
          <a:p>
            <a:pPr algn="ctr"/>
            <a:r>
              <a:rPr lang="en-US" dirty="0" err="1"/>
              <a:t>Jamu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387" y="860612"/>
            <a:ext cx="11618259" cy="5836023"/>
          </a:xfrm>
        </p:spPr>
        <p:txBody>
          <a:bodyPr>
            <a:normAutofit/>
          </a:bodyPr>
          <a:lstStyle/>
          <a:p>
            <a:pPr marL="3175" indent="-3175">
              <a:lnSpc>
                <a:spcPct val="120000"/>
              </a:lnSpc>
              <a:buAutoNum type="arabicPeriod"/>
            </a:pPr>
            <a:r>
              <a:rPr lang="en-US" sz="2400" b="1" dirty="0" err="1"/>
              <a:t>Beras</a:t>
            </a:r>
            <a:r>
              <a:rPr lang="en-US" sz="2400" b="1" dirty="0"/>
              <a:t> </a:t>
            </a:r>
            <a:r>
              <a:rPr lang="en-US" sz="2400" b="1" dirty="0" err="1"/>
              <a:t>kencur</a:t>
            </a:r>
            <a:r>
              <a:rPr lang="en-US" sz="2400" b="1" dirty="0"/>
              <a:t> : </a:t>
            </a:r>
            <a:r>
              <a:rPr lang="en-US" sz="2400" dirty="0" err="1"/>
              <a:t>Terbuat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kencur</a:t>
            </a:r>
            <a:r>
              <a:rPr lang="en-US" sz="2400" dirty="0"/>
              <a:t>, </a:t>
            </a:r>
            <a:r>
              <a:rPr lang="en-US" sz="2400" dirty="0" err="1"/>
              <a:t>beras</a:t>
            </a:r>
            <a:r>
              <a:rPr lang="en-US" sz="2400" dirty="0"/>
              <a:t>, </a:t>
            </a:r>
            <a:r>
              <a:rPr lang="en-US" sz="2400" dirty="0" err="1"/>
              <a:t>jahe</a:t>
            </a:r>
            <a:r>
              <a:rPr lang="en-US" sz="2400" dirty="0"/>
              <a:t>,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asam</a:t>
            </a:r>
            <a:r>
              <a:rPr lang="en-US" sz="2400" dirty="0"/>
              <a:t>.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menambah</a:t>
            </a:r>
            <a:r>
              <a:rPr lang="en-US" sz="2400" dirty="0"/>
              <a:t> </a:t>
            </a:r>
            <a:r>
              <a:rPr lang="en-US" sz="2400" dirty="0" err="1"/>
              <a:t>nafsu</a:t>
            </a:r>
            <a:r>
              <a:rPr lang="en-US" sz="2400" dirty="0"/>
              <a:t> </a:t>
            </a:r>
            <a:r>
              <a:rPr lang="en-US" sz="2400" dirty="0" err="1"/>
              <a:t>makan</a:t>
            </a:r>
            <a:r>
              <a:rPr lang="en-US" sz="2400" dirty="0"/>
              <a:t>, </a:t>
            </a:r>
            <a:r>
              <a:rPr lang="en-US" sz="2400" dirty="0" err="1"/>
              <a:t>menghilangkan</a:t>
            </a:r>
            <a:r>
              <a:rPr lang="en-US" sz="2400" dirty="0"/>
              <a:t> </a:t>
            </a:r>
            <a:r>
              <a:rPr lang="en-US" sz="2400" dirty="0" err="1"/>
              <a:t>pegal</a:t>
            </a:r>
            <a:r>
              <a:rPr lang="en-US" sz="2400" dirty="0"/>
              <a:t> </a:t>
            </a:r>
            <a:r>
              <a:rPr lang="en-US" sz="2400" dirty="0" err="1"/>
              <a:t>linu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meningkatkan</a:t>
            </a:r>
            <a:r>
              <a:rPr lang="en-US" sz="2400" dirty="0"/>
              <a:t> stamina.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/>
              <a:t>2. </a:t>
            </a:r>
            <a:r>
              <a:rPr lang="en-US" sz="2400" b="1" dirty="0" err="1"/>
              <a:t>Kunyit</a:t>
            </a:r>
            <a:r>
              <a:rPr lang="en-US" sz="2400" b="1" dirty="0"/>
              <a:t> </a:t>
            </a:r>
            <a:r>
              <a:rPr lang="en-US" sz="2400" b="1" dirty="0" err="1"/>
              <a:t>asam</a:t>
            </a:r>
            <a:r>
              <a:rPr lang="en-US" sz="2400" b="1" dirty="0"/>
              <a:t> : </a:t>
            </a:r>
            <a:r>
              <a:rPr lang="en-US" sz="2400" dirty="0" err="1"/>
              <a:t>Terbuat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kunyit</a:t>
            </a:r>
            <a:r>
              <a:rPr lang="en-US" sz="2400" dirty="0"/>
              <a:t>, </a:t>
            </a:r>
            <a:r>
              <a:rPr lang="en-US" sz="2400" dirty="0" err="1"/>
              <a:t>asam</a:t>
            </a:r>
            <a:r>
              <a:rPr lang="en-US" sz="2400" dirty="0"/>
              <a:t> </a:t>
            </a:r>
            <a:r>
              <a:rPr lang="en-US" sz="2400" dirty="0" err="1"/>
              <a:t>jawa</a:t>
            </a:r>
            <a:r>
              <a:rPr lang="en-US" sz="2400" dirty="0"/>
              <a:t>, </a:t>
            </a:r>
            <a:r>
              <a:rPr lang="en-US" sz="2400" dirty="0" err="1"/>
              <a:t>gula</a:t>
            </a:r>
            <a:r>
              <a:rPr lang="en-US" sz="2400" dirty="0"/>
              <a:t> </a:t>
            </a:r>
            <a:r>
              <a:rPr lang="en-US" sz="2400" dirty="0" err="1"/>
              <a:t>merah</a:t>
            </a:r>
            <a:r>
              <a:rPr lang="en-US" sz="2400" dirty="0"/>
              <a:t>, </a:t>
            </a:r>
            <a:r>
              <a:rPr lang="en-US" sz="2400" dirty="0" err="1"/>
              <a:t>temulawak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rempah</a:t>
            </a:r>
            <a:r>
              <a:rPr lang="en-US" sz="2400" dirty="0"/>
              <a:t> lain. </a:t>
            </a:r>
            <a:r>
              <a:rPr lang="en-US" sz="2400" dirty="0" err="1"/>
              <a:t>mengatasi</a:t>
            </a:r>
            <a:r>
              <a:rPr lang="en-US" sz="2400" dirty="0"/>
              <a:t> </a:t>
            </a:r>
            <a:r>
              <a:rPr lang="en-US" sz="2400" dirty="0" err="1"/>
              <a:t>sakit</a:t>
            </a:r>
            <a:r>
              <a:rPr lang="en-US" sz="2400" dirty="0"/>
              <a:t> </a:t>
            </a:r>
            <a:r>
              <a:rPr lang="en-US" sz="2400" dirty="0" err="1"/>
              <a:t>perut</a:t>
            </a:r>
            <a:r>
              <a:rPr lang="en-US" sz="2400" dirty="0"/>
              <a:t> </a:t>
            </a:r>
            <a:r>
              <a:rPr lang="en-US" sz="2400" dirty="0" err="1"/>
              <a:t>saat</a:t>
            </a:r>
            <a:r>
              <a:rPr lang="en-US" sz="2400" dirty="0"/>
              <a:t> </a:t>
            </a:r>
            <a:r>
              <a:rPr lang="en-US" sz="2400" dirty="0" err="1"/>
              <a:t>datang</a:t>
            </a:r>
            <a:r>
              <a:rPr lang="en-US" sz="2400" dirty="0"/>
              <a:t> </a:t>
            </a:r>
            <a:r>
              <a:rPr lang="en-US" sz="2400" dirty="0" err="1"/>
              <a:t>bulan</a:t>
            </a:r>
            <a:r>
              <a:rPr lang="en-US" sz="2400" dirty="0"/>
              <a:t> juga </a:t>
            </a:r>
            <a:r>
              <a:rPr lang="en-US" sz="2400" dirty="0" err="1"/>
              <a:t>cocok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diet </a:t>
            </a:r>
            <a:r>
              <a:rPr lang="en-US" sz="2400" dirty="0" err="1"/>
              <a:t>dan</a:t>
            </a:r>
            <a:r>
              <a:rPr lang="en-US" sz="2400" dirty="0"/>
              <a:t> juga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mencerahkan</a:t>
            </a:r>
            <a:r>
              <a:rPr lang="en-US" sz="2400" dirty="0"/>
              <a:t> </a:t>
            </a:r>
            <a:r>
              <a:rPr lang="en-US" sz="2400" dirty="0" err="1"/>
              <a:t>kulit</a:t>
            </a:r>
            <a:r>
              <a:rPr lang="en-US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/>
              <a:t>3. </a:t>
            </a:r>
            <a:r>
              <a:rPr lang="en-US" sz="2400" b="1" dirty="0" err="1"/>
              <a:t>Sinom</a:t>
            </a:r>
            <a:r>
              <a:rPr lang="en-US" sz="2400" b="1" dirty="0"/>
              <a:t>: </a:t>
            </a:r>
            <a:r>
              <a:rPr lang="en-US" sz="2400" dirty="0" err="1"/>
              <a:t>Terbuat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daun</a:t>
            </a:r>
            <a:r>
              <a:rPr lang="en-US" sz="2400" dirty="0"/>
              <a:t> </a:t>
            </a:r>
            <a:r>
              <a:rPr lang="en-US" sz="2400" dirty="0" err="1"/>
              <a:t>asam</a:t>
            </a:r>
            <a:r>
              <a:rPr lang="en-US" sz="2400" dirty="0"/>
              <a:t> yang </a:t>
            </a:r>
            <a:r>
              <a:rPr lang="en-US" sz="2400" dirty="0" err="1"/>
              <a:t>masih</a:t>
            </a:r>
            <a:r>
              <a:rPr lang="en-US" sz="2400" dirty="0"/>
              <a:t> </a:t>
            </a:r>
            <a:r>
              <a:rPr lang="en-US" sz="2400" dirty="0" err="1"/>
              <a:t>muda</a:t>
            </a:r>
            <a:r>
              <a:rPr lang="en-US" sz="2400" dirty="0"/>
              <a:t>, </a:t>
            </a:r>
            <a:r>
              <a:rPr lang="en-US" sz="2400" dirty="0" err="1"/>
              <a:t>temulawak</a:t>
            </a:r>
            <a:r>
              <a:rPr lang="en-US" sz="2400" dirty="0"/>
              <a:t>, </a:t>
            </a:r>
            <a:r>
              <a:rPr lang="en-US" sz="2400" dirty="0" err="1"/>
              <a:t>kunyit</a:t>
            </a:r>
            <a:r>
              <a:rPr lang="en-US" sz="2400" dirty="0"/>
              <a:t>, </a:t>
            </a:r>
            <a:r>
              <a:rPr lang="en-US" sz="2400" dirty="0" err="1"/>
              <a:t>kapulaga</a:t>
            </a:r>
            <a:r>
              <a:rPr lang="en-US" sz="2400" dirty="0"/>
              <a:t>, </a:t>
            </a:r>
            <a:r>
              <a:rPr lang="en-US" sz="2400" dirty="0" err="1"/>
              <a:t>kayu</a:t>
            </a:r>
            <a:r>
              <a:rPr lang="en-US" sz="2400" dirty="0"/>
              <a:t> </a:t>
            </a:r>
            <a:r>
              <a:rPr lang="en-US" sz="2400" dirty="0" err="1"/>
              <a:t>manis</a:t>
            </a:r>
            <a:r>
              <a:rPr lang="en-US" sz="2400" dirty="0"/>
              <a:t>, </a:t>
            </a:r>
            <a:r>
              <a:rPr lang="en-US" sz="2400" dirty="0" err="1"/>
              <a:t>pala</a:t>
            </a:r>
            <a:r>
              <a:rPr lang="en-US" sz="2400" dirty="0"/>
              <a:t>, </a:t>
            </a:r>
            <a:r>
              <a:rPr lang="en-US" sz="2400" dirty="0" err="1"/>
              <a:t>gula</a:t>
            </a:r>
            <a:r>
              <a:rPr lang="en-US" sz="2400" dirty="0"/>
              <a:t> </a:t>
            </a:r>
            <a:r>
              <a:rPr lang="en-US" sz="2400" dirty="0" err="1"/>
              <a:t>merah</a:t>
            </a:r>
            <a:r>
              <a:rPr lang="en-US" sz="2400" dirty="0"/>
              <a:t>, </a:t>
            </a:r>
            <a:r>
              <a:rPr lang="en-US" sz="2400" dirty="0" err="1"/>
              <a:t>serta</a:t>
            </a:r>
            <a:r>
              <a:rPr lang="en-US" sz="2400" dirty="0"/>
              <a:t> </a:t>
            </a:r>
            <a:r>
              <a:rPr lang="en-US" sz="2400" dirty="0" err="1"/>
              <a:t>gula</a:t>
            </a:r>
            <a:r>
              <a:rPr lang="en-US" sz="2400" dirty="0"/>
              <a:t> </a:t>
            </a:r>
            <a:r>
              <a:rPr lang="en-US" sz="2400" dirty="0" err="1"/>
              <a:t>pasir</a:t>
            </a:r>
            <a:r>
              <a:rPr lang="en-US" sz="2400" dirty="0"/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 err="1"/>
              <a:t>Jamu</a:t>
            </a:r>
            <a:r>
              <a:rPr lang="en-US" sz="2400" dirty="0"/>
              <a:t> </a:t>
            </a:r>
            <a:r>
              <a:rPr lang="en-US" sz="2400" dirty="0" err="1"/>
              <a:t>sinom</a:t>
            </a:r>
            <a:r>
              <a:rPr lang="en-US" sz="2400" dirty="0"/>
              <a:t> </a:t>
            </a:r>
            <a:r>
              <a:rPr lang="en-US" sz="2400" dirty="0" err="1"/>
              <a:t>bermanfaat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menambah</a:t>
            </a:r>
            <a:r>
              <a:rPr lang="en-US" sz="2400" dirty="0"/>
              <a:t> </a:t>
            </a:r>
            <a:r>
              <a:rPr lang="en-US" sz="2400" dirty="0" err="1"/>
              <a:t>nafsu</a:t>
            </a:r>
            <a:r>
              <a:rPr lang="en-US" sz="2400" dirty="0"/>
              <a:t> </a:t>
            </a:r>
            <a:r>
              <a:rPr lang="en-US" sz="2400" dirty="0" err="1"/>
              <a:t>makan</a:t>
            </a:r>
            <a:r>
              <a:rPr lang="en-US" sz="2400" dirty="0"/>
              <a:t>, </a:t>
            </a:r>
            <a:r>
              <a:rPr lang="en-US" sz="2400" dirty="0" err="1"/>
              <a:t>mengatasi</a:t>
            </a:r>
            <a:r>
              <a:rPr lang="en-US" sz="2400" dirty="0"/>
              <a:t> </a:t>
            </a:r>
            <a:r>
              <a:rPr lang="en-US" sz="2400" dirty="0" err="1"/>
              <a:t>maag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mengatasi</a:t>
            </a:r>
            <a:r>
              <a:rPr lang="en-US" sz="2400" dirty="0"/>
              <a:t> </a:t>
            </a:r>
            <a:r>
              <a:rPr lang="en-US" sz="2400" dirty="0" err="1"/>
              <a:t>masalah</a:t>
            </a:r>
            <a:r>
              <a:rPr lang="en-US" sz="2400" dirty="0"/>
              <a:t> </a:t>
            </a:r>
            <a:r>
              <a:rPr lang="en-US" sz="2400" dirty="0" err="1"/>
              <a:t>keputihan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wanita</a:t>
            </a:r>
            <a:r>
              <a:rPr lang="en-US" sz="2400" dirty="0"/>
              <a:t>.</a:t>
            </a:r>
            <a:endParaRPr lang="en-US" sz="24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/>
              <a:t>4. </a:t>
            </a:r>
            <a:r>
              <a:rPr lang="en-US" sz="2400" b="1" dirty="0" err="1"/>
              <a:t>Cabe</a:t>
            </a:r>
            <a:r>
              <a:rPr lang="en-US" sz="2400" b="1" dirty="0"/>
              <a:t> </a:t>
            </a:r>
            <a:r>
              <a:rPr lang="en-US" sz="2400" b="1" dirty="0" err="1"/>
              <a:t>Puyang</a:t>
            </a:r>
            <a:r>
              <a:rPr lang="en-US" sz="2400" b="1" dirty="0"/>
              <a:t> : </a:t>
            </a:r>
            <a:r>
              <a:rPr lang="en-US" sz="2400" dirty="0" err="1"/>
              <a:t>menghilangkan</a:t>
            </a:r>
            <a:r>
              <a:rPr lang="en-US" sz="2400" dirty="0"/>
              <a:t> </a:t>
            </a:r>
            <a:r>
              <a:rPr lang="en-US" sz="2400" dirty="0" err="1"/>
              <a:t>pegal-pegal</a:t>
            </a:r>
            <a:r>
              <a:rPr lang="en-US" sz="2400" dirty="0"/>
              <a:t>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kecapekan</a:t>
            </a:r>
            <a:r>
              <a:rPr lang="en-US" sz="2400" dirty="0"/>
              <a:t>, </a:t>
            </a:r>
            <a:r>
              <a:rPr lang="en-US" sz="2400" dirty="0" err="1"/>
              <a:t>maupun</a:t>
            </a:r>
            <a:r>
              <a:rPr lang="en-US" sz="2400" dirty="0"/>
              <a:t> </a:t>
            </a:r>
            <a:r>
              <a:rPr lang="en-US" sz="2400" dirty="0" err="1"/>
              <a:t>sakit</a:t>
            </a:r>
            <a:r>
              <a:rPr lang="en-US" sz="2400" dirty="0"/>
              <a:t> </a:t>
            </a:r>
            <a:r>
              <a:rPr lang="en-US" sz="2400" dirty="0" err="1"/>
              <a:t>pinggang</a:t>
            </a:r>
            <a:r>
              <a:rPr lang="en-US" sz="2400" dirty="0"/>
              <a:t>. </a:t>
            </a:r>
            <a:r>
              <a:rPr lang="en-US" sz="2400" dirty="0" err="1"/>
              <a:t>Selain</a:t>
            </a:r>
            <a:r>
              <a:rPr lang="en-US" sz="2400" dirty="0"/>
              <a:t> </a:t>
            </a:r>
            <a:r>
              <a:rPr lang="en-US" sz="2400" dirty="0" err="1"/>
              <a:t>itu</a:t>
            </a:r>
            <a:r>
              <a:rPr lang="en-US" sz="2400" dirty="0"/>
              <a:t> juga </a:t>
            </a:r>
            <a:r>
              <a:rPr lang="en-US" sz="2400" dirty="0" err="1"/>
              <a:t>bermanfaat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menghilangkan</a:t>
            </a:r>
            <a:r>
              <a:rPr lang="en-US" sz="2400" dirty="0"/>
              <a:t> </a:t>
            </a:r>
            <a:r>
              <a:rPr lang="en-US" sz="2400" dirty="0" err="1"/>
              <a:t>kesemutan</a:t>
            </a:r>
            <a:r>
              <a:rPr lang="en-US" sz="24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430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208" y="345982"/>
            <a:ext cx="3048000" cy="22860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55" y="345982"/>
            <a:ext cx="3225062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607" y="3530647"/>
            <a:ext cx="2802194" cy="2286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372" y="345982"/>
            <a:ext cx="3338580" cy="2286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038" y="3530647"/>
            <a:ext cx="30480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9055" y="2631982"/>
            <a:ext cx="1884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Jamu</a:t>
            </a:r>
            <a:r>
              <a:rPr lang="en-US" sz="2400" b="1" dirty="0"/>
              <a:t> </a:t>
            </a:r>
            <a:r>
              <a:rPr lang="en-US" sz="2400" b="1" dirty="0" err="1"/>
              <a:t>Sirih</a:t>
            </a:r>
            <a:endParaRPr lang="en-US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727358" y="2631982"/>
            <a:ext cx="1884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Jamu</a:t>
            </a:r>
            <a:r>
              <a:rPr lang="en-US" sz="2400" b="1" dirty="0"/>
              <a:t> </a:t>
            </a:r>
            <a:r>
              <a:rPr lang="en-US" sz="2400" b="1" dirty="0" err="1"/>
              <a:t>Pahitan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675207" y="2631982"/>
            <a:ext cx="2499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Jamu</a:t>
            </a:r>
            <a:r>
              <a:rPr lang="en-US" sz="2400" b="1" dirty="0"/>
              <a:t> Kudu Laos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5607" y="5791982"/>
            <a:ext cx="2547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Jamu</a:t>
            </a:r>
            <a:r>
              <a:rPr lang="en-US" sz="2400" b="1" dirty="0"/>
              <a:t> </a:t>
            </a:r>
            <a:r>
              <a:rPr lang="en-US" sz="2400" b="1" dirty="0" err="1"/>
              <a:t>uyup</a:t>
            </a:r>
            <a:r>
              <a:rPr lang="en-US" sz="2400" b="1" dirty="0"/>
              <a:t> </a:t>
            </a:r>
            <a:r>
              <a:rPr lang="en-US" sz="2400" b="1" dirty="0" err="1"/>
              <a:t>uyup</a:t>
            </a:r>
            <a:endParaRPr lang="en-US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6245038" y="5816647"/>
            <a:ext cx="2616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Jamu</a:t>
            </a:r>
            <a:r>
              <a:rPr lang="en-US" sz="2400" b="1" dirty="0"/>
              <a:t> </a:t>
            </a:r>
            <a:r>
              <a:rPr lang="en-US" sz="2400" b="1" dirty="0" err="1"/>
              <a:t>Temulawak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31452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88" y="403412"/>
            <a:ext cx="10842812" cy="618564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5. </a:t>
            </a:r>
            <a:r>
              <a:rPr lang="en-US" b="1" dirty="0" err="1"/>
              <a:t>Pahitan</a:t>
            </a:r>
            <a:r>
              <a:rPr lang="en-US" b="1" dirty="0"/>
              <a:t> : </a:t>
            </a:r>
            <a:r>
              <a:rPr lang="en-US" dirty="0" err="1"/>
              <a:t>Terbuat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b="1" dirty="0"/>
              <a:t> </a:t>
            </a:r>
            <a:r>
              <a:rPr lang="en-US" dirty="0" err="1"/>
              <a:t>daun</a:t>
            </a:r>
            <a:r>
              <a:rPr lang="en-US" dirty="0"/>
              <a:t> </a:t>
            </a:r>
            <a:r>
              <a:rPr lang="en-US" dirty="0" err="1"/>
              <a:t>sambiloto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brotowali</a:t>
            </a:r>
            <a:r>
              <a:rPr lang="en-US" dirty="0"/>
              <a:t>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menambah</a:t>
            </a:r>
            <a:r>
              <a:rPr lang="en-US" dirty="0"/>
              <a:t> </a:t>
            </a:r>
            <a:r>
              <a:rPr lang="en-US" dirty="0" err="1"/>
              <a:t>nafsu</a:t>
            </a:r>
            <a:r>
              <a:rPr lang="en-US" dirty="0"/>
              <a:t> </a:t>
            </a:r>
            <a:r>
              <a:rPr lang="en-US" dirty="0" err="1"/>
              <a:t>makan</a:t>
            </a:r>
            <a:r>
              <a:rPr lang="en-US" dirty="0"/>
              <a:t>, </a:t>
            </a:r>
            <a:r>
              <a:rPr lang="en-US" dirty="0" err="1"/>
              <a:t>mencegah</a:t>
            </a:r>
            <a:r>
              <a:rPr lang="en-US" dirty="0"/>
              <a:t> diabetes, </a:t>
            </a:r>
            <a:r>
              <a:rPr lang="en-US" dirty="0" err="1"/>
              <a:t>terapi</a:t>
            </a:r>
            <a:r>
              <a:rPr lang="en-US" dirty="0"/>
              <a:t> "</a:t>
            </a:r>
            <a:r>
              <a:rPr lang="en-US" dirty="0" err="1"/>
              <a:t>cuci</a:t>
            </a:r>
            <a:r>
              <a:rPr lang="en-US" dirty="0"/>
              <a:t> </a:t>
            </a:r>
            <a:r>
              <a:rPr lang="en-US" dirty="0" err="1"/>
              <a:t>darah</a:t>
            </a:r>
            <a:r>
              <a:rPr lang="en-US" dirty="0"/>
              <a:t>“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jerawat</a:t>
            </a:r>
            <a:r>
              <a:rPr lang="en-US" dirty="0"/>
              <a:t>. </a:t>
            </a:r>
            <a:endParaRPr lang="en-US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6. </a:t>
            </a:r>
            <a:r>
              <a:rPr lang="en-US" b="1" dirty="0" err="1"/>
              <a:t>Uyup-Uyup</a:t>
            </a:r>
            <a:r>
              <a:rPr lang="en-US" b="1" dirty="0"/>
              <a:t> :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kencur</a:t>
            </a:r>
            <a:r>
              <a:rPr lang="en-US" dirty="0"/>
              <a:t>, </a:t>
            </a:r>
            <a:r>
              <a:rPr lang="en-US" dirty="0" err="1"/>
              <a:t>jahe</a:t>
            </a:r>
            <a:r>
              <a:rPr lang="en-US" dirty="0"/>
              <a:t>, </a:t>
            </a:r>
            <a:r>
              <a:rPr lang="en-US" dirty="0" err="1"/>
              <a:t>laos</a:t>
            </a:r>
            <a:r>
              <a:rPr lang="en-US" dirty="0"/>
              <a:t>, </a:t>
            </a:r>
            <a:r>
              <a:rPr lang="en-US" dirty="0" err="1"/>
              <a:t>kunir</a:t>
            </a:r>
            <a:r>
              <a:rPr lang="en-US" dirty="0"/>
              <a:t>, </a:t>
            </a:r>
            <a:r>
              <a:rPr lang="en-US" dirty="0" err="1"/>
              <a:t>temulawak</a:t>
            </a:r>
            <a:r>
              <a:rPr lang="en-US" dirty="0"/>
              <a:t>, </a:t>
            </a:r>
            <a:r>
              <a:rPr lang="en-US" dirty="0" err="1"/>
              <a:t>puyang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temugiring</a:t>
            </a:r>
            <a:r>
              <a:rPr lang="en-US" dirty="0"/>
              <a:t>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produksi</a:t>
            </a:r>
            <a:r>
              <a:rPr lang="en-US" dirty="0"/>
              <a:t> ASI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bau</a:t>
            </a:r>
            <a:r>
              <a:rPr lang="en-US" dirty="0"/>
              <a:t> </a:t>
            </a:r>
            <a:r>
              <a:rPr lang="en-US" dirty="0" err="1"/>
              <a:t>badan</a:t>
            </a:r>
            <a:r>
              <a:rPr lang="en-US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7. </a:t>
            </a:r>
            <a:r>
              <a:rPr lang="en-US" b="1" dirty="0" err="1"/>
              <a:t>Kunci</a:t>
            </a:r>
            <a:r>
              <a:rPr lang="en-US" b="1" dirty="0"/>
              <a:t> </a:t>
            </a:r>
            <a:r>
              <a:rPr lang="en-US" b="1" dirty="0" err="1"/>
              <a:t>sirih</a:t>
            </a:r>
            <a:r>
              <a:rPr lang="en-US" b="1" dirty="0"/>
              <a:t> : </a:t>
            </a:r>
            <a:r>
              <a:rPr lang="en-US" dirty="0" err="1"/>
              <a:t>Terbuat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rimpang</a:t>
            </a:r>
            <a:r>
              <a:rPr lang="en-US" dirty="0"/>
              <a:t> </a:t>
            </a:r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daun</a:t>
            </a:r>
            <a:r>
              <a:rPr lang="en-US" dirty="0"/>
              <a:t> </a:t>
            </a:r>
            <a:r>
              <a:rPr lang="en-US" dirty="0" err="1"/>
              <a:t>sirih</a:t>
            </a:r>
            <a:r>
              <a:rPr lang="en-US" dirty="0"/>
              <a:t>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keputihan</a:t>
            </a:r>
            <a:r>
              <a:rPr lang="en-US" dirty="0"/>
              <a:t>, </a:t>
            </a:r>
            <a:r>
              <a:rPr lang="en-US" dirty="0" err="1"/>
              <a:t>menghilangkan</a:t>
            </a:r>
            <a:r>
              <a:rPr lang="en-US" dirty="0"/>
              <a:t> </a:t>
            </a:r>
            <a:r>
              <a:rPr lang="en-US" dirty="0" err="1"/>
              <a:t>bau</a:t>
            </a:r>
            <a:r>
              <a:rPr lang="en-US" dirty="0"/>
              <a:t> </a:t>
            </a:r>
            <a:r>
              <a:rPr lang="en-US" dirty="0" err="1"/>
              <a:t>badan</a:t>
            </a:r>
            <a:r>
              <a:rPr lang="en-US" dirty="0"/>
              <a:t>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8. Kudu </a:t>
            </a:r>
            <a:r>
              <a:rPr lang="en-US" b="1" dirty="0" err="1"/>
              <a:t>laos</a:t>
            </a:r>
            <a:r>
              <a:rPr lang="en-US" b="1" dirty="0"/>
              <a:t> : </a:t>
            </a:r>
            <a:r>
              <a:rPr lang="en-US" dirty="0" err="1"/>
              <a:t>laos</a:t>
            </a:r>
            <a:r>
              <a:rPr lang="en-US" dirty="0"/>
              <a:t> yang </a:t>
            </a:r>
            <a:r>
              <a:rPr lang="en-US" dirty="0" err="1"/>
              <a:t>dicampur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aneka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lain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direbus</a:t>
            </a:r>
            <a:r>
              <a:rPr lang="en-US" dirty="0"/>
              <a:t>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perut</a:t>
            </a:r>
            <a:r>
              <a:rPr lang="en-US" dirty="0"/>
              <a:t> </a:t>
            </a:r>
            <a:r>
              <a:rPr lang="en-US" dirty="0" err="1"/>
              <a:t>kembung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meredakan</a:t>
            </a:r>
            <a:r>
              <a:rPr lang="en-US" dirty="0"/>
              <a:t> </a:t>
            </a:r>
            <a:r>
              <a:rPr lang="en-US" dirty="0" err="1"/>
              <a:t>demam</a:t>
            </a:r>
            <a:r>
              <a:rPr lang="en-US" dirty="0"/>
              <a:t>.</a:t>
            </a:r>
            <a:endParaRPr lang="en-US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9. </a:t>
            </a:r>
            <a:r>
              <a:rPr lang="en-US" b="1" dirty="0" err="1"/>
              <a:t>Temulawak</a:t>
            </a:r>
            <a:r>
              <a:rPr lang="en-US" b="1" dirty="0"/>
              <a:t> : </a:t>
            </a:r>
            <a:r>
              <a:rPr lang="en-US" dirty="0" err="1"/>
              <a:t>terbuat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temulawak</a:t>
            </a:r>
            <a:r>
              <a:rPr lang="en-US" dirty="0"/>
              <a:t>, </a:t>
            </a:r>
            <a:r>
              <a:rPr lang="en-US" dirty="0" err="1"/>
              <a:t>asam</a:t>
            </a:r>
            <a:r>
              <a:rPr lang="en-US" dirty="0"/>
              <a:t> </a:t>
            </a:r>
            <a:r>
              <a:rPr lang="en-US" dirty="0" err="1"/>
              <a:t>jawa</a:t>
            </a:r>
            <a:r>
              <a:rPr lang="en-US" dirty="0"/>
              <a:t>, </a:t>
            </a:r>
            <a:r>
              <a:rPr lang="en-US" dirty="0" err="1"/>
              <a:t>Gula</a:t>
            </a:r>
            <a:r>
              <a:rPr lang="en-US" dirty="0"/>
              <a:t> </a:t>
            </a:r>
            <a:r>
              <a:rPr lang="en-US" dirty="0" err="1"/>
              <a:t>aren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daun</a:t>
            </a:r>
            <a:r>
              <a:rPr lang="en-US" dirty="0"/>
              <a:t> </a:t>
            </a:r>
            <a:r>
              <a:rPr lang="en-US" dirty="0" err="1"/>
              <a:t>pandan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012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9850"/>
            <a:ext cx="10515600" cy="722500"/>
          </a:xfrm>
        </p:spPr>
        <p:txBody>
          <a:bodyPr/>
          <a:lstStyle/>
          <a:p>
            <a:r>
              <a:rPr lang="en-US" dirty="0" err="1"/>
              <a:t>Pengobatan</a:t>
            </a:r>
            <a:r>
              <a:rPr lang="en-US" dirty="0"/>
              <a:t> </a:t>
            </a:r>
            <a:r>
              <a:rPr lang="en-US" dirty="0" err="1"/>
              <a:t>Alternatif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2350"/>
            <a:ext cx="10515600" cy="5184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/>
              <a:t>Sakit</a:t>
            </a:r>
            <a:r>
              <a:rPr lang="en-US" sz="3600" dirty="0"/>
              <a:t> </a:t>
            </a:r>
            <a:r>
              <a:rPr lang="en-US" sz="3600" dirty="0" err="1"/>
              <a:t>patah</a:t>
            </a:r>
            <a:r>
              <a:rPr lang="en-US" sz="3600" dirty="0"/>
              <a:t> </a:t>
            </a:r>
            <a:r>
              <a:rPr lang="en-US" sz="3600" dirty="0" err="1"/>
              <a:t>tulang</a:t>
            </a:r>
            <a:endParaRPr lang="en-US" sz="3600" dirty="0"/>
          </a:p>
          <a:p>
            <a:pPr marL="0" indent="0">
              <a:buNone/>
            </a:pPr>
            <a:r>
              <a:rPr lang="en-US" sz="3600" dirty="0" err="1"/>
              <a:t>Sakit</a:t>
            </a:r>
            <a:r>
              <a:rPr lang="en-US" sz="3600" dirty="0"/>
              <a:t> </a:t>
            </a:r>
            <a:r>
              <a:rPr lang="en-US" sz="3600" dirty="0" err="1"/>
              <a:t>kejiwaan</a:t>
            </a:r>
            <a:r>
              <a:rPr lang="en-US" sz="3600" dirty="0"/>
              <a:t> / black magic attack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91236"/>
            <a:ext cx="4836459" cy="32542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5"/>
          <a:stretch/>
        </p:blipFill>
        <p:spPr>
          <a:xfrm>
            <a:off x="6096000" y="2685643"/>
            <a:ext cx="5190565" cy="325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51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3149</TotalTime>
  <Words>1107</Words>
  <Application>Microsoft Office PowerPoint</Application>
  <PresentationFormat>Widescreen</PresentationFormat>
  <Paragraphs>199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Agency FB</vt:lpstr>
      <vt:lpstr>Arial</vt:lpstr>
      <vt:lpstr>Calibri</vt:lpstr>
      <vt:lpstr>Calibri Light</vt:lpstr>
      <vt:lpstr>Office Theme</vt:lpstr>
      <vt:lpstr>Anggota tubuh</vt:lpstr>
      <vt:lpstr>PowerPoint Presentation</vt:lpstr>
      <vt:lpstr>PowerPoint Presentation</vt:lpstr>
      <vt:lpstr>PowerPoint Presentation</vt:lpstr>
      <vt:lpstr>Apakah Anda pernah sakit? Kapan itu? Ya saya sakit, itu bulan lalu.</vt:lpstr>
      <vt:lpstr>PowerPoint Presentation</vt:lpstr>
      <vt:lpstr>Budi sakit</vt:lpstr>
      <vt:lpstr>Praktik menulis</vt:lpstr>
      <vt:lpstr>Karena, Sebab, Akibat (causality) </vt:lpstr>
      <vt:lpstr>Apakah penyakit yang bahaya menurut Anda?</vt:lpstr>
      <vt:lpstr>Kosakata tentang sakit</vt:lpstr>
      <vt:lpstr>Cara periksa ke dokter</vt:lpstr>
      <vt:lpstr>Praktik Berbicara</vt:lpstr>
      <vt:lpstr>Demam Berdarah</vt:lpstr>
      <vt:lpstr>PowerPoint Presentation</vt:lpstr>
      <vt:lpstr>Penyakit di Indonesia</vt:lpstr>
      <vt:lpstr>Jamu</vt:lpstr>
      <vt:lpstr>PowerPoint Presentation</vt:lpstr>
      <vt:lpstr>Jamu</vt:lpstr>
      <vt:lpstr>PowerPoint Presentation</vt:lpstr>
      <vt:lpstr>PowerPoint Presentation</vt:lpstr>
      <vt:lpstr>Pengobatan Alternatif</vt:lpstr>
    </vt:vector>
  </TitlesOfParts>
  <Company>Windows 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10  Obat dan Penyakit</dc:title>
  <dc:creator>DELL</dc:creator>
  <cp:lastModifiedBy>DELL</cp:lastModifiedBy>
  <cp:revision>46</cp:revision>
  <dcterms:created xsi:type="dcterms:W3CDTF">2020-12-21T04:37:12Z</dcterms:created>
  <dcterms:modified xsi:type="dcterms:W3CDTF">2025-11-20T12:26:52Z</dcterms:modified>
</cp:coreProperties>
</file>