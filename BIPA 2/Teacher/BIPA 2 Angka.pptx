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83" r:id="rId3"/>
    <p:sldId id="295" r:id="rId4"/>
    <p:sldId id="294" r:id="rId5"/>
    <p:sldId id="296" r:id="rId6"/>
    <p:sldId id="297" r:id="rId7"/>
    <p:sldId id="290" r:id="rId8"/>
    <p:sldId id="301" r:id="rId9"/>
    <p:sldId id="299" r:id="rId10"/>
    <p:sldId id="302" r:id="rId11"/>
    <p:sldId id="303" r:id="rId12"/>
    <p:sldId id="304" r:id="rId13"/>
    <p:sldId id="288" r:id="rId14"/>
    <p:sldId id="284" r:id="rId15"/>
    <p:sldId id="293" r:id="rId16"/>
    <p:sldId id="298" r:id="rId17"/>
    <p:sldId id="287" r:id="rId18"/>
    <p:sldId id="289" r:id="rId19"/>
    <p:sldId id="292" r:id="rId20"/>
    <p:sldId id="291" r:id="rId21"/>
    <p:sldId id="311" r:id="rId22"/>
    <p:sldId id="309" r:id="rId23"/>
    <p:sldId id="313" r:id="rId24"/>
    <p:sldId id="310" r:id="rId25"/>
    <p:sldId id="312" r:id="rId26"/>
    <p:sldId id="314" r:id="rId27"/>
    <p:sldId id="315" r:id="rId28"/>
    <p:sldId id="316" r:id="rId29"/>
    <p:sldId id="317" r:id="rId30"/>
    <p:sldId id="320" r:id="rId31"/>
    <p:sldId id="281" r:id="rId32"/>
    <p:sldId id="321" r:id="rId33"/>
    <p:sldId id="27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20CED-800E-402F-9425-2586C0441C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4FB19-043B-4042-9841-C0AE0B02B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8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268;ga24d75da4c_1_0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10243" name="Google Shape;269;ga24d75da4c_1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743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268;ga24d75da4c_1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2291" name="Google Shape;269;ga24d75da4c_1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126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304;ge795989ca1_0_172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6387" name="Google Shape;305;ge795989ca1_0_172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9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490;ge795989ca1_0_495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2531" name="Google Shape;491;ge795989ca1_0_495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637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268;ga24d75da4c_1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8915" name="Google Shape;269;ga24d75da4c_1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40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0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7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4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5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135200" y="3247533"/>
            <a:ext cx="7921600" cy="11224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3175200" y="4211333"/>
            <a:ext cx="5841600" cy="5792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/>
          </p:nvPr>
        </p:nvSpPr>
        <p:spPr>
          <a:xfrm>
            <a:off x="5243600" y="2061033"/>
            <a:ext cx="1704800" cy="10240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9333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902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1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Number Wallpapers - Top Free Number Backgrounds - WallpaperAccess"/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38390"/>
          </a:xfrm>
          <a:prstGeom prst="rect">
            <a:avLst/>
          </a:prstGeom>
          <a:solidFill>
            <a:schemeClr val="bg1">
              <a:alpha val="98000"/>
            </a:schemeClr>
          </a:solidFill>
        </p:spPr>
      </p:pic>
      <p:sp>
        <p:nvSpPr>
          <p:cNvPr id="5" name="Rectangle 4"/>
          <p:cNvSpPr/>
          <p:nvPr/>
        </p:nvSpPr>
        <p:spPr>
          <a:xfrm>
            <a:off x="591671" y="4988859"/>
            <a:ext cx="6844553" cy="847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0" dirty="0">
                <a:solidFill>
                  <a:schemeClr val="tx1"/>
                </a:solidFill>
                <a:latin typeface="Akrobat ExtraBold" panose="00000900000000000000" pitchFamily="50" charset="0"/>
                <a:cs typeface="Adobe Devanagari" panose="02040503050201020203" pitchFamily="18" charset="0"/>
              </a:rPr>
              <a:t>BIPA 2 : ANGKA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1671" y="5823549"/>
            <a:ext cx="31466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Rizky</a:t>
            </a:r>
            <a:r>
              <a:rPr lang="en-US" sz="20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 </a:t>
            </a:r>
            <a:r>
              <a:rPr lang="en-US" sz="20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Abrian</a:t>
            </a:r>
            <a:r>
              <a:rPr lang="en-US" sz="20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, S.S., </a:t>
            </a:r>
            <a:r>
              <a:rPr lang="en-US" sz="20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M.Hum</a:t>
            </a:r>
            <a:endParaRPr lang="en-US" sz="2000" dirty="0">
              <a:latin typeface="Akrobat ExtraBold" panose="00000900000000000000" pitchFamily="50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64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5000">
              <a:schemeClr val="accent1">
                <a:lumMod val="45000"/>
                <a:lumOff val="55000"/>
              </a:schemeClr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771210"/>
              </p:ext>
            </p:extLst>
          </p:nvPr>
        </p:nvGraphicFramePr>
        <p:xfrm>
          <a:off x="928912" y="275767"/>
          <a:ext cx="10000344" cy="6052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4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60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Sepuluh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ribu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Tiga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Seratus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ribu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Tujuh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ratus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ribu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Tujuh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puluh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tiga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Sejuta</a:t>
                      </a:r>
                      <a:r>
                        <a:rPr lang="en-US" sz="2800" dirty="0"/>
                        <a:t> / </a:t>
                      </a:r>
                      <a:r>
                        <a:rPr lang="en-US" sz="2800" dirty="0" err="1"/>
                        <a:t>satu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juta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Seratus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Enam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juta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Seratus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satu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ratus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Seribu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ribu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ribu</a:t>
                      </a:r>
                      <a:r>
                        <a:rPr lang="en-US" sz="2800" dirty="0"/>
                        <a:t> lima </a:t>
                      </a:r>
                      <a:r>
                        <a:rPr lang="en-US" sz="2800" dirty="0" err="1"/>
                        <a:t>ratus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10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oogle Shape;300;p32"/>
          <p:cNvGrpSpPr>
            <a:grpSpLocks/>
          </p:cNvGrpSpPr>
          <p:nvPr/>
        </p:nvGrpSpPr>
        <p:grpSpPr bwMode="auto">
          <a:xfrm>
            <a:off x="5666318" y="6280151"/>
            <a:ext cx="859367" cy="260349"/>
            <a:chOff x="806663" y="3241275"/>
            <a:chExt cx="643950" cy="195675"/>
          </a:xfrm>
        </p:grpSpPr>
        <p:sp>
          <p:nvSpPr>
            <p:cNvPr id="301" name="Google Shape;301;p32"/>
            <p:cNvSpPr/>
            <p:nvPr/>
          </p:nvSpPr>
          <p:spPr>
            <a:xfrm>
              <a:off x="808249" y="3263547"/>
              <a:ext cx="599540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2" name="Google Shape;302;p32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38500" y="91018"/>
            <a:ext cx="4912784" cy="1123949"/>
          </a:xfrm>
        </p:spPr>
        <p:txBody>
          <a:bodyPr/>
          <a:lstStyle/>
          <a:p>
            <a:pPr eaLnBrk="1" fontAlgn="auto" hangingPunct="1">
              <a:buFont typeface="Patrick Hand SC"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NOMOR / ANGKA</a:t>
            </a:r>
            <a:endParaRPr lang="en-ID" b="1" dirty="0">
              <a:solidFill>
                <a:srgbClr val="FF0000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pic>
        <p:nvPicPr>
          <p:cNvPr id="9220" name="Picture 6" descr="Text, calendar&#10;&#10;Description automatically generated with medium confid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9" t="17406" r="48936" b="49207"/>
          <a:stretch>
            <a:fillRect/>
          </a:stretch>
        </p:blipFill>
        <p:spPr bwMode="auto">
          <a:xfrm>
            <a:off x="403150" y="1441322"/>
            <a:ext cx="5087691" cy="5146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21" name="Google Shape;272;p32"/>
          <p:cNvGrpSpPr>
            <a:grpSpLocks/>
          </p:cNvGrpSpPr>
          <p:nvPr/>
        </p:nvGrpSpPr>
        <p:grpSpPr bwMode="auto">
          <a:xfrm flipH="1">
            <a:off x="9747251" y="1"/>
            <a:ext cx="2044700" cy="1445684"/>
            <a:chOff x="6876425" y="1268933"/>
            <a:chExt cx="1653550" cy="1152165"/>
          </a:xfrm>
        </p:grpSpPr>
        <p:grpSp>
          <p:nvGrpSpPr>
            <p:cNvPr id="9235" name="Google Shape;273;p32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9245" name="Google Shape;274;p32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6" name="Google Shape;275;p32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7" name="Google Shape;276;p32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8" name="Google Shape;277;p32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9" name="Google Shape;278;p32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50" name="Google Shape;279;p32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9236" name="Google Shape;280;p32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9238" name="Google Shape;281;p32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7201658" y="1405573"/>
                <a:ext cx="304691" cy="399799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>
                <a:off x="7314633" y="1877910"/>
                <a:ext cx="195139" cy="151823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1" name="Google Shape;284;p32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071565" y="1724400"/>
                <a:ext cx="66759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3" name="Google Shape;286;p32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4" name="Google Shape;287;p32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9237" name="Google Shape;288;p32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9222" name="Google Shape;289;p32"/>
          <p:cNvGrpSpPr>
            <a:grpSpLocks/>
          </p:cNvGrpSpPr>
          <p:nvPr/>
        </p:nvGrpSpPr>
        <p:grpSpPr bwMode="auto">
          <a:xfrm>
            <a:off x="535518" y="332318"/>
            <a:ext cx="950383" cy="806449"/>
            <a:chOff x="-3118700" y="2365900"/>
            <a:chExt cx="741250" cy="792000"/>
          </a:xfrm>
        </p:grpSpPr>
        <p:sp>
          <p:nvSpPr>
            <p:cNvPr id="9225" name="Google Shape;290;p32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6" name="Google Shape;291;p32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7" name="Google Shape;292;p32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8" name="Google Shape;293;p32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9" name="Google Shape;294;p32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0" name="Google Shape;295;p32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1" name="Google Shape;296;p32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2" name="Google Shape;297;p32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3" name="Google Shape;298;p32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4" name="Google Shape;299;p32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36" name="Google Shape;339;p33"/>
          <p:cNvSpPr txBox="1"/>
          <p:nvPr/>
        </p:nvSpPr>
        <p:spPr>
          <a:xfrm rot="19727875">
            <a:off x="5001355" y="1989043"/>
            <a:ext cx="7353300" cy="7386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lIns="121900" tIns="121900" rIns="121900" bIns="12190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en-GB" sz="3200" b="1" kern="0" dirty="0" err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Belas</a:t>
            </a:r>
            <a:r>
              <a:rPr lang="en-GB" sz="3200" b="1" kern="0" dirty="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 - </a:t>
            </a:r>
            <a:r>
              <a:rPr lang="en-GB" sz="3200" b="1" kern="0" dirty="0" err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Puluh</a:t>
            </a:r>
            <a:r>
              <a:rPr lang="en-GB" sz="3200" b="1" kern="0" dirty="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 - Ratus - </a:t>
            </a:r>
            <a:r>
              <a:rPr lang="en-GB" sz="3200" b="1" kern="0" dirty="0" err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Ribu</a:t>
            </a:r>
            <a:r>
              <a:rPr lang="en-GB" sz="3200" b="1" kern="0" dirty="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 - Juta</a:t>
            </a:r>
            <a:endParaRPr sz="3200" b="1" kern="0" dirty="0">
              <a:solidFill>
                <a:srgbClr val="FF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224" name="Google Shape;377;p34"/>
          <p:cNvSpPr txBox="1">
            <a:spLocks noChangeArrowheads="1"/>
          </p:cNvSpPr>
          <p:nvPr/>
        </p:nvSpPr>
        <p:spPr bwMode="auto">
          <a:xfrm>
            <a:off x="6096000" y="4489109"/>
            <a:ext cx="5736167" cy="147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8000" dirty="0" err="1">
                <a:latin typeface="Comfortaa" charset="0"/>
                <a:sym typeface="Comfortaa" charset="0"/>
              </a:rPr>
              <a:t>Rp</a:t>
            </a:r>
            <a:r>
              <a:rPr lang="en-GB" altLang="en-US" sz="8000">
                <a:latin typeface="Comfortaa" charset="0"/>
                <a:sym typeface="Comfortaa" charset="0"/>
              </a:rPr>
              <a:t>. 70.800</a:t>
            </a:r>
            <a:endParaRPr lang="en-US" altLang="en-US" sz="8000" dirty="0">
              <a:solidFill>
                <a:srgbClr val="FF0000"/>
              </a:solidFill>
              <a:latin typeface="Comfortaa" charset="0"/>
              <a:sym typeface="Comforta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25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438152" y="400052"/>
            <a:ext cx="11550649" cy="5541433"/>
          </a:xfrm>
        </p:spPr>
        <p:txBody>
          <a:bodyPr/>
          <a:lstStyle/>
          <a:p>
            <a:pPr eaLnBrk="1" fontAlgn="auto" hangingPunct="1">
              <a:lnSpc>
                <a:spcPct val="200000"/>
              </a:lnSpc>
              <a:buFont typeface="Patrick Hand SC"/>
              <a:buNone/>
              <a:defRPr/>
            </a:pPr>
            <a:r>
              <a:rPr lang="en-GB" sz="4267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Baca</a:t>
            </a:r>
            <a:r>
              <a:rPr lang="en-GB" sz="4267" b="1" dirty="0" err="1">
                <a:solidFill>
                  <a:srgbClr val="FF0000"/>
                </a:solidFill>
                <a:highlight>
                  <a:srgbClr val="FFFF00"/>
                </a:highlight>
                <a:latin typeface="Patrick Hand SC"/>
                <a:ea typeface="Patrick Hand SC"/>
                <a:cs typeface="Patrick Hand SC"/>
                <a:sym typeface="Patrick Hand SC"/>
              </a:rPr>
              <a:t>lah</a:t>
            </a: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 </a:t>
            </a:r>
            <a:r>
              <a:rPr lang="en-GB" sz="4267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nomor</a:t>
            </a: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 </a:t>
            </a:r>
            <a:r>
              <a:rPr lang="en-GB" sz="4267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ini</a:t>
            </a: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!</a:t>
            </a:r>
            <a:br>
              <a:rPr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1	2	3	4	5	6	7	8</a:t>
            </a:r>
            <a:br>
              <a:rPr sz="4267" b="1" dirty="0"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solidFill>
                  <a:srgbClr val="38761D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9	10	11	12	13	14	15	</a:t>
            </a:r>
            <a:br>
              <a:rPr sz="4267" b="1" dirty="0">
                <a:solidFill>
                  <a:srgbClr val="38761D"/>
                </a:solidFill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20	30	40	</a:t>
            </a:r>
            <a:r>
              <a:rPr lang="en-GB" sz="4267" b="1" dirty="0">
                <a:solidFill>
                  <a:srgbClr val="FF00FF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50	60</a:t>
            </a: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	</a:t>
            </a:r>
            <a:r>
              <a:rPr lang="en-GB" sz="4267" b="1" dirty="0">
                <a:solidFill>
                  <a:srgbClr val="0B5394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70	80</a:t>
            </a:r>
            <a:br>
              <a:rPr sz="4267" b="1" dirty="0">
                <a:solidFill>
                  <a:srgbClr val="0B5394"/>
                </a:solidFill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100		300</a:t>
            </a: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		</a:t>
            </a:r>
            <a:r>
              <a:rPr lang="en-GB" sz="4267" b="1" dirty="0">
                <a:solidFill>
                  <a:srgbClr val="FF00FF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600		1.000</a:t>
            </a: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		</a:t>
            </a:r>
            <a:r>
              <a:rPr lang="en-GB" sz="4267" b="1" dirty="0">
                <a:solidFill>
                  <a:srgbClr val="1155CC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3.000</a:t>
            </a:r>
            <a:endParaRPr sz="4267" b="1" dirty="0">
              <a:solidFill>
                <a:srgbClr val="1155CC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grpSp>
        <p:nvGrpSpPr>
          <p:cNvPr id="11267" name="Google Shape;272;p32"/>
          <p:cNvGrpSpPr>
            <a:grpSpLocks/>
          </p:cNvGrpSpPr>
          <p:nvPr/>
        </p:nvGrpSpPr>
        <p:grpSpPr bwMode="auto">
          <a:xfrm flipH="1">
            <a:off x="9584267" y="321734"/>
            <a:ext cx="2044700" cy="1445684"/>
            <a:chOff x="6876425" y="1268933"/>
            <a:chExt cx="1653550" cy="1152165"/>
          </a:xfrm>
        </p:grpSpPr>
        <p:grpSp>
          <p:nvGrpSpPr>
            <p:cNvPr id="11282" name="Google Shape;273;p32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11292" name="Google Shape;274;p32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3" name="Google Shape;275;p32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4" name="Google Shape;276;p32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5" name="Google Shape;277;p32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6" name="Google Shape;278;p32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7" name="Google Shape;279;p32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11283" name="Google Shape;280;p32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11285" name="Google Shape;281;p32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7201658" y="1405573"/>
                <a:ext cx="304691" cy="399799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>
                <a:off x="7314633" y="1877910"/>
                <a:ext cx="195139" cy="151823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8" name="Google Shape;284;p32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071565" y="1724400"/>
                <a:ext cx="66758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0" name="Google Shape;286;p32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1" name="Google Shape;287;p32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11284" name="Google Shape;288;p32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1268" name="Google Shape;289;p32"/>
          <p:cNvGrpSpPr>
            <a:grpSpLocks/>
          </p:cNvGrpSpPr>
          <p:nvPr/>
        </p:nvGrpSpPr>
        <p:grpSpPr bwMode="auto">
          <a:xfrm>
            <a:off x="535518" y="332318"/>
            <a:ext cx="950383" cy="806449"/>
            <a:chOff x="-3118700" y="2365900"/>
            <a:chExt cx="741250" cy="792000"/>
          </a:xfrm>
        </p:grpSpPr>
        <p:sp>
          <p:nvSpPr>
            <p:cNvPr id="11272" name="Google Shape;290;p32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3" name="Google Shape;291;p32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4" name="Google Shape;292;p32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5" name="Google Shape;293;p32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6" name="Google Shape;294;p32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7" name="Google Shape;295;p32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8" name="Google Shape;296;p32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9" name="Google Shape;297;p32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80" name="Google Shape;298;p32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81" name="Google Shape;299;p32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1269" name="Google Shape;300;p32"/>
          <p:cNvGrpSpPr>
            <a:grpSpLocks/>
          </p:cNvGrpSpPr>
          <p:nvPr/>
        </p:nvGrpSpPr>
        <p:grpSpPr bwMode="auto">
          <a:xfrm>
            <a:off x="5666318" y="6280151"/>
            <a:ext cx="859367" cy="260349"/>
            <a:chOff x="806663" y="3241275"/>
            <a:chExt cx="643950" cy="195675"/>
          </a:xfrm>
        </p:grpSpPr>
        <p:sp>
          <p:nvSpPr>
            <p:cNvPr id="301" name="Google Shape;301;p32"/>
            <p:cNvSpPr/>
            <p:nvPr/>
          </p:nvSpPr>
          <p:spPr>
            <a:xfrm>
              <a:off x="808249" y="3263547"/>
              <a:ext cx="599540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1" name="Google Shape;302;p32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717378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title"/>
          </p:nvPr>
        </p:nvSpPr>
        <p:spPr>
          <a:xfrm>
            <a:off x="279400" y="643467"/>
            <a:ext cx="11633200" cy="1123951"/>
          </a:xfrm>
        </p:spPr>
        <p:txBody>
          <a:bodyPr/>
          <a:lstStyle/>
          <a:p>
            <a:pPr eaLnBrk="1" fontAlgn="auto" hangingPunct="1">
              <a:buFont typeface="Patrick Hand SC"/>
              <a:buNone/>
              <a:defRPr/>
            </a:pPr>
            <a:r>
              <a:rPr lang="en-GB" sz="5333" b="1" dirty="0">
                <a:latin typeface="Patrick Hand SC"/>
                <a:ea typeface="Patrick Hand SC"/>
                <a:cs typeface="Patrick Hand SC"/>
                <a:sym typeface="Patrick Hand SC"/>
              </a:rPr>
              <a:t>Baca </a:t>
            </a:r>
            <a:r>
              <a:rPr lang="en-GB" sz="5333" b="1" dirty="0" err="1">
                <a:latin typeface="Patrick Hand SC"/>
                <a:ea typeface="Patrick Hand SC"/>
                <a:cs typeface="Patrick Hand SC"/>
                <a:sym typeface="Patrick Hand SC"/>
              </a:rPr>
              <a:t>Nomor</a:t>
            </a:r>
            <a:endParaRPr sz="5333" b="1" dirty="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grpSp>
        <p:nvGrpSpPr>
          <p:cNvPr id="15363" name="Google Shape;308;p33"/>
          <p:cNvGrpSpPr>
            <a:grpSpLocks/>
          </p:cNvGrpSpPr>
          <p:nvPr/>
        </p:nvGrpSpPr>
        <p:grpSpPr bwMode="auto">
          <a:xfrm flipH="1">
            <a:off x="8576734" y="524934"/>
            <a:ext cx="2645833" cy="2087033"/>
            <a:chOff x="6876425" y="1268933"/>
            <a:chExt cx="1653550" cy="1152165"/>
          </a:xfrm>
        </p:grpSpPr>
        <p:grpSp>
          <p:nvGrpSpPr>
            <p:cNvPr id="15380" name="Google Shape;309;p33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15390" name="Google Shape;310;p33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1" name="Google Shape;311;p33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2" name="Google Shape;312;p33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3" name="Google Shape;313;p33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4" name="Google Shape;314;p33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5" name="Google Shape;315;p33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15381" name="Google Shape;316;p33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15383" name="Google Shape;317;p33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18" name="Google Shape;318;p33"/>
              <p:cNvSpPr/>
              <p:nvPr/>
            </p:nvSpPr>
            <p:spPr>
              <a:xfrm>
                <a:off x="7200520" y="1405650"/>
                <a:ext cx="305576" cy="400803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3"/>
              <p:cNvSpPr/>
              <p:nvPr/>
            </p:nvSpPr>
            <p:spPr>
              <a:xfrm>
                <a:off x="7315608" y="1878902"/>
                <a:ext cx="193135" cy="150740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6" name="Google Shape;320;p33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21" name="Google Shape;321;p33"/>
              <p:cNvSpPr/>
              <p:nvPr/>
            </p:nvSpPr>
            <p:spPr>
              <a:xfrm>
                <a:off x="7070882" y="1724657"/>
                <a:ext cx="67465" cy="71280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8" name="Google Shape;322;p33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89" name="Google Shape;323;p33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15382" name="Google Shape;324;p33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5364" name="Google Shape;325;p33"/>
          <p:cNvGrpSpPr>
            <a:grpSpLocks/>
          </p:cNvGrpSpPr>
          <p:nvPr/>
        </p:nvGrpSpPr>
        <p:grpSpPr bwMode="auto">
          <a:xfrm>
            <a:off x="637117" y="433918"/>
            <a:ext cx="1792816" cy="1748367"/>
            <a:chOff x="-3118700" y="2365900"/>
            <a:chExt cx="741250" cy="792000"/>
          </a:xfrm>
        </p:grpSpPr>
        <p:sp>
          <p:nvSpPr>
            <p:cNvPr id="15370" name="Google Shape;326;p33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1" name="Google Shape;327;p33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2" name="Google Shape;328;p33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3" name="Google Shape;329;p33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4" name="Google Shape;330;p33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5" name="Google Shape;331;p33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6" name="Google Shape;332;p33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7" name="Google Shape;333;p33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8" name="Google Shape;334;p33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9" name="Google Shape;335;p33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5365" name="Google Shape;336;p33"/>
          <p:cNvGrpSpPr>
            <a:grpSpLocks/>
          </p:cNvGrpSpPr>
          <p:nvPr/>
        </p:nvGrpSpPr>
        <p:grpSpPr bwMode="auto">
          <a:xfrm>
            <a:off x="5666318" y="6280151"/>
            <a:ext cx="859367" cy="260349"/>
            <a:chOff x="806663" y="3241275"/>
            <a:chExt cx="643950" cy="195675"/>
          </a:xfrm>
        </p:grpSpPr>
        <p:sp>
          <p:nvSpPr>
            <p:cNvPr id="337" name="Google Shape;337;p33"/>
            <p:cNvSpPr/>
            <p:nvPr/>
          </p:nvSpPr>
          <p:spPr>
            <a:xfrm>
              <a:off x="808249" y="3263547"/>
              <a:ext cx="599540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9" name="Google Shape;338;p33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15366" name="Google Shape;339;p33"/>
          <p:cNvSpPr txBox="1">
            <a:spLocks noChangeArrowheads="1"/>
          </p:cNvSpPr>
          <p:nvPr/>
        </p:nvSpPr>
        <p:spPr bwMode="auto">
          <a:xfrm>
            <a:off x="1602317" y="2260600"/>
            <a:ext cx="9370483" cy="861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4000" b="1">
                <a:solidFill>
                  <a:srgbClr val="FF0000"/>
                </a:solidFill>
                <a:latin typeface="Comfortaa" charset="0"/>
                <a:sym typeface="Comfortaa" charset="0"/>
              </a:rPr>
              <a:t>Belas - Puluh - Ratus - Ribu - Juta</a:t>
            </a:r>
            <a:endParaRPr lang="en-US" altLang="en-US" sz="4000" b="1">
              <a:solidFill>
                <a:srgbClr val="FF0000"/>
              </a:solidFill>
              <a:latin typeface="Comfortaa" charset="0"/>
              <a:sym typeface="Comfortaa" charset="0"/>
            </a:endParaRPr>
          </a:p>
        </p:txBody>
      </p:sp>
      <p:sp>
        <p:nvSpPr>
          <p:cNvPr id="15367" name="Google Shape;340;p33"/>
          <p:cNvSpPr txBox="1">
            <a:spLocks noChangeArrowheads="1"/>
          </p:cNvSpPr>
          <p:nvPr/>
        </p:nvSpPr>
        <p:spPr bwMode="auto">
          <a:xfrm>
            <a:off x="446618" y="3867151"/>
            <a:ext cx="11465983" cy="196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GB" altLang="en-US" sz="3733" b="1" dirty="0">
                <a:latin typeface="Comfortaa" charset="0"/>
                <a:sym typeface="Comfortaa" charset="0"/>
              </a:rPr>
              <a:t>16		21		</a:t>
            </a:r>
            <a:r>
              <a:rPr lang="en-GB" altLang="en-US" sz="3733" b="1" dirty="0">
                <a:solidFill>
                  <a:srgbClr val="0000FF"/>
                </a:solidFill>
                <a:latin typeface="Comfortaa" charset="0"/>
                <a:sym typeface="Comfortaa" charset="0"/>
              </a:rPr>
              <a:t>99		500</a:t>
            </a:r>
            <a:r>
              <a:rPr lang="en-GB" altLang="en-US" sz="3733" b="1" dirty="0">
                <a:latin typeface="Comfortaa" charset="0"/>
                <a:sym typeface="Comfortaa" charset="0"/>
              </a:rPr>
              <a:t>		</a:t>
            </a:r>
            <a:r>
              <a:rPr lang="en-GB" altLang="en-US" sz="3733" b="1" dirty="0">
                <a:solidFill>
                  <a:schemeClr val="accent2"/>
                </a:solidFill>
                <a:latin typeface="Comfortaa" charset="0"/>
                <a:sym typeface="Comfortaa" charset="0"/>
              </a:rPr>
              <a:t>270</a:t>
            </a:r>
            <a:endParaRPr lang="en-ID" altLang="en-US" sz="3733" b="1" dirty="0">
              <a:solidFill>
                <a:schemeClr val="accent2"/>
              </a:solidFill>
              <a:latin typeface="Comfortaa" charset="0"/>
              <a:sym typeface="Comfortaa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ID" altLang="en-US" sz="3733" b="1" dirty="0">
                <a:solidFill>
                  <a:srgbClr val="FF0000"/>
                </a:solidFill>
                <a:latin typeface="Comfortaa" charset="0"/>
                <a:sym typeface="Comfortaa" charset="0"/>
              </a:rPr>
              <a:t>3.800			65.000</a:t>
            </a:r>
            <a:r>
              <a:rPr lang="en-ID" altLang="en-US" sz="3733" b="1" dirty="0">
                <a:latin typeface="Comfortaa" charset="0"/>
                <a:sym typeface="Comfortaa" charset="0"/>
              </a:rPr>
              <a:t>			</a:t>
            </a:r>
            <a:r>
              <a:rPr lang="en-ID" altLang="en-US" sz="3733" b="1" dirty="0">
                <a:solidFill>
                  <a:srgbClr val="FF9900"/>
                </a:solidFill>
                <a:latin typeface="Comfortaa" charset="0"/>
                <a:sym typeface="Comfortaa" charset="0"/>
              </a:rPr>
              <a:t>3.000.000</a:t>
            </a:r>
          </a:p>
        </p:txBody>
      </p:sp>
    </p:spTree>
    <p:extLst>
      <p:ext uri="{BB962C8B-B14F-4D97-AF65-F5344CB8AC3E}">
        <p14:creationId xmlns:p14="http://schemas.microsoft.com/office/powerpoint/2010/main" val="241807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oogle Shape;494;p38"/>
          <p:cNvGrpSpPr>
            <a:grpSpLocks/>
          </p:cNvGrpSpPr>
          <p:nvPr/>
        </p:nvGrpSpPr>
        <p:grpSpPr bwMode="auto">
          <a:xfrm flipH="1">
            <a:off x="9053271" y="65552"/>
            <a:ext cx="2645833" cy="2087033"/>
            <a:chOff x="6876425" y="1268933"/>
            <a:chExt cx="1653550" cy="1152165"/>
          </a:xfrm>
        </p:grpSpPr>
        <p:grpSp>
          <p:nvGrpSpPr>
            <p:cNvPr id="21523" name="Google Shape;495;p38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21533" name="Google Shape;496;p38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4" name="Google Shape;497;p38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5" name="Google Shape;498;p38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6" name="Google Shape;499;p38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7" name="Google Shape;500;p38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8" name="Google Shape;501;p38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21524" name="Google Shape;502;p38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21526" name="Google Shape;503;p38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7200520" y="1405650"/>
                <a:ext cx="305576" cy="400803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38"/>
              <p:cNvSpPr/>
              <p:nvPr/>
            </p:nvSpPr>
            <p:spPr>
              <a:xfrm>
                <a:off x="7315608" y="1878902"/>
                <a:ext cx="193135" cy="150740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9" name="Google Shape;506;p38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7070882" y="1724657"/>
                <a:ext cx="67465" cy="71280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1" name="Google Shape;508;p38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2" name="Google Shape;509;p38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21525" name="Google Shape;510;p38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1507" name="Google Shape;511;p38"/>
          <p:cNvGrpSpPr>
            <a:grpSpLocks/>
          </p:cNvGrpSpPr>
          <p:nvPr/>
        </p:nvGrpSpPr>
        <p:grpSpPr bwMode="auto">
          <a:xfrm>
            <a:off x="341721" y="92522"/>
            <a:ext cx="1286404" cy="1077928"/>
            <a:chOff x="-3118700" y="2365900"/>
            <a:chExt cx="741250" cy="792000"/>
          </a:xfrm>
        </p:grpSpPr>
        <p:sp>
          <p:nvSpPr>
            <p:cNvPr id="21513" name="Google Shape;512;p38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4" name="Google Shape;513;p38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5" name="Google Shape;514;p38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6" name="Google Shape;515;p38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7" name="Google Shape;516;p38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8" name="Google Shape;517;p38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9" name="Google Shape;518;p38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20" name="Google Shape;519;p38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21" name="Google Shape;520;p38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22" name="Google Shape;521;p38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21509" name="Google Shape;525;p38"/>
          <p:cNvSpPr txBox="1">
            <a:spLocks noChangeArrowheads="1"/>
          </p:cNvSpPr>
          <p:nvPr/>
        </p:nvSpPr>
        <p:spPr bwMode="auto">
          <a:xfrm>
            <a:off x="620478" y="1863579"/>
            <a:ext cx="11192933" cy="3805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 marL="914400" indent="-9144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eaLnBrk="1" hangingPunct="1"/>
            <a:r>
              <a:rPr lang="en-GB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Sekarang</a:t>
            </a:r>
            <a:r>
              <a:rPr lang="en-GB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GB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tahun</a:t>
            </a:r>
            <a:r>
              <a:rPr lang="en-GB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2025.</a:t>
            </a:r>
          </a:p>
          <a:p>
            <a:pPr marL="0" indent="0" eaLnBrk="1" hangingPunct="1"/>
            <a:r>
              <a:rPr lang="en-GB" altLang="en-US" sz="2000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This year is 2022</a:t>
            </a:r>
          </a:p>
          <a:p>
            <a:pPr marL="0" indent="0" eaLnBrk="1" hangingPunct="1"/>
            <a:r>
              <a:rPr lang="en-GB" altLang="en-US" sz="3733" b="1">
                <a:solidFill>
                  <a:schemeClr val="tx1"/>
                </a:solidFill>
                <a:latin typeface="Comfortaa" charset="0"/>
                <a:sym typeface="Comfortaa" charset="0"/>
              </a:rPr>
              <a:t>Saya mulai kerja/kuliah pada </a:t>
            </a:r>
            <a:r>
              <a:rPr lang="en-GB" altLang="en-US" sz="3733" b="1" err="1">
                <a:solidFill>
                  <a:schemeClr val="tx1"/>
                </a:solidFill>
                <a:latin typeface="Comfortaa" charset="0"/>
                <a:sym typeface="Comfortaa" charset="0"/>
              </a:rPr>
              <a:t>tahun</a:t>
            </a:r>
            <a:r>
              <a:rPr lang="en-GB" altLang="en-US" sz="3733" b="1">
                <a:solidFill>
                  <a:schemeClr val="tx1"/>
                </a:solidFill>
                <a:latin typeface="Comfortaa" charset="0"/>
                <a:sym typeface="Comfortaa" charset="0"/>
              </a:rPr>
              <a:t> 2020.</a:t>
            </a:r>
            <a:endParaRPr lang="en-GB" altLang="en-US" sz="3733" b="1" dirty="0">
              <a:solidFill>
                <a:schemeClr val="tx1"/>
              </a:solidFill>
              <a:latin typeface="Comfortaa" charset="0"/>
              <a:sym typeface="Comfortaa" charset="0"/>
            </a:endParaRPr>
          </a:p>
          <a:p>
            <a:pPr marL="0" indent="0"/>
            <a:r>
              <a:rPr lang="en-GB" altLang="en-US" sz="2000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I buy this apartment in 2015</a:t>
            </a:r>
          </a:p>
          <a:p>
            <a:pPr marL="0" indent="0" eaLnBrk="1" hangingPunct="1"/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Saya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lahir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pada </a:t>
            </a:r>
            <a:r>
              <a:rPr lang="en-US" altLang="en-US" sz="3733" b="1" err="1">
                <a:solidFill>
                  <a:schemeClr val="tx1"/>
                </a:solidFill>
                <a:latin typeface="Comfortaa" charset="0"/>
                <a:sym typeface="Comfortaa" charset="0"/>
              </a:rPr>
              <a:t>tahun</a:t>
            </a:r>
            <a:r>
              <a:rPr lang="en-US" altLang="en-US" sz="3733" b="1">
                <a:solidFill>
                  <a:schemeClr val="tx1"/>
                </a:solidFill>
                <a:latin typeface="Comfortaa" charset="0"/>
                <a:sym typeface="Comfortaa" charset="0"/>
              </a:rPr>
              <a:t> 1991.</a:t>
            </a:r>
            <a:endParaRPr lang="en-US" altLang="en-US" sz="3733" b="1" dirty="0">
              <a:solidFill>
                <a:schemeClr val="tx1"/>
              </a:solidFill>
              <a:latin typeface="Comfortaa" charset="0"/>
              <a:sym typeface="Comfortaa" charset="0"/>
            </a:endParaRPr>
          </a:p>
          <a:p>
            <a:pPr marL="0" indent="0" eaLnBrk="1" hangingPunct="1"/>
            <a:r>
              <a:rPr lang="en-US" altLang="en-US" sz="2000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I was born in 1993</a:t>
            </a:r>
          </a:p>
          <a:p>
            <a:pPr marL="0" indent="0" eaLnBrk="1" hangingPunct="1"/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Mama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saya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lahir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pada </a:t>
            </a:r>
            <a:r>
              <a:rPr lang="en-US" altLang="en-US" sz="3733" b="1" err="1">
                <a:solidFill>
                  <a:schemeClr val="tx1"/>
                </a:solidFill>
                <a:latin typeface="Comfortaa" charset="0"/>
                <a:sym typeface="Comfortaa" charset="0"/>
              </a:rPr>
              <a:t>tahun</a:t>
            </a:r>
            <a:r>
              <a:rPr lang="en-US" altLang="en-US" sz="3733" b="1">
                <a:solidFill>
                  <a:schemeClr val="tx1"/>
                </a:solidFill>
                <a:latin typeface="Comfortaa" charset="0"/>
                <a:sym typeface="Comfortaa" charset="0"/>
              </a:rPr>
              <a:t> 1980.</a:t>
            </a:r>
            <a:endParaRPr lang="en-US" altLang="en-US" sz="3733" b="1" dirty="0">
              <a:solidFill>
                <a:schemeClr val="tx1"/>
              </a:solidFill>
              <a:latin typeface="Comfortaa" charset="0"/>
              <a:sym typeface="Comfortaa" charset="0"/>
            </a:endParaRPr>
          </a:p>
          <a:p>
            <a:pPr marL="0" indent="0" eaLnBrk="1" hangingPunct="1"/>
            <a:r>
              <a:rPr lang="en-US" altLang="en-US" sz="2000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My mom born in 1977</a:t>
            </a:r>
          </a:p>
        </p:txBody>
      </p:sp>
      <p:sp>
        <p:nvSpPr>
          <p:cNvPr id="21510" name="Google Shape;345;p34"/>
          <p:cNvSpPr txBox="1">
            <a:spLocks noChangeArrowheads="1"/>
          </p:cNvSpPr>
          <p:nvPr/>
        </p:nvSpPr>
        <p:spPr bwMode="auto">
          <a:xfrm>
            <a:off x="2258194" y="134634"/>
            <a:ext cx="7152341" cy="1123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Clr>
                <a:srgbClr val="FB6A2E"/>
              </a:buClr>
              <a:buSzPts val="3600"/>
              <a:buFont typeface="Patrick Hand SC"/>
              <a:buNone/>
            </a:pPr>
            <a:r>
              <a:rPr lang="en-GB" altLang="en-US" sz="5333" b="1" dirty="0" err="1">
                <a:solidFill>
                  <a:srgbClr val="FB6A2E"/>
                </a:solidFill>
                <a:latin typeface="Patrick Hand SC"/>
                <a:sym typeface="Patrick Hand SC"/>
              </a:rPr>
              <a:t>Bacalah</a:t>
            </a:r>
            <a:r>
              <a:rPr lang="en-GB" altLang="en-US" sz="5333" b="1" dirty="0">
                <a:solidFill>
                  <a:srgbClr val="FB6A2E"/>
                </a:solidFill>
                <a:latin typeface="Patrick Hand SC"/>
                <a:sym typeface="Patrick Hand SC"/>
              </a:rPr>
              <a:t> </a:t>
            </a:r>
            <a:r>
              <a:rPr lang="en-GB" altLang="en-US" sz="5333" b="1" dirty="0" err="1">
                <a:solidFill>
                  <a:srgbClr val="FB6A2E"/>
                </a:solidFill>
                <a:latin typeface="Patrick Hand SC"/>
                <a:sym typeface="Patrick Hand SC"/>
              </a:rPr>
              <a:t>nomor</a:t>
            </a:r>
            <a:r>
              <a:rPr lang="en-GB" altLang="en-US" sz="5333" b="1" dirty="0">
                <a:solidFill>
                  <a:srgbClr val="FB6A2E"/>
                </a:solidFill>
                <a:latin typeface="Patrick Hand SC"/>
                <a:sym typeface="Patrick Hand SC"/>
              </a:rPr>
              <a:t> </a:t>
            </a:r>
            <a:r>
              <a:rPr lang="en-GB" altLang="en-US" sz="5333" b="1" dirty="0" err="1">
                <a:solidFill>
                  <a:srgbClr val="FB6A2E"/>
                </a:solidFill>
                <a:latin typeface="Patrick Hand SC"/>
                <a:sym typeface="Patrick Hand SC"/>
              </a:rPr>
              <a:t>ini</a:t>
            </a:r>
            <a:r>
              <a:rPr lang="en-GB" altLang="en-US" sz="5333" b="1" dirty="0">
                <a:solidFill>
                  <a:srgbClr val="FB6A2E"/>
                </a:solidFill>
                <a:latin typeface="Patrick Hand SC"/>
                <a:sym typeface="Patrick Hand SC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9916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1026" name="Picture 2" descr="Top 5 Best Natured Dogs - Dogs By Nin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33714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693458" y="4887819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Saya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punya</a:t>
            </a:r>
            <a:r>
              <a:rPr lang="en-US" dirty="0">
                <a:latin typeface="Akrobat Black" panose="00000A00000000000000" pitchFamily="50" charset="0"/>
              </a:rPr>
              <a:t> …. </a:t>
            </a:r>
            <a:r>
              <a:rPr lang="en-US" dirty="0" err="1">
                <a:latin typeface="Akrobat Black" panose="00000A00000000000000" pitchFamily="50" charset="0"/>
              </a:rPr>
              <a:t>anjing</a:t>
            </a:r>
            <a:endParaRPr lang="en-US" dirty="0">
              <a:latin typeface="Akrobat Black" panose="00000A00000000000000" pitchFamily="50" charset="0"/>
            </a:endParaRP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I have 5 dog</a:t>
            </a:r>
          </a:p>
        </p:txBody>
      </p:sp>
    </p:spTree>
    <p:extLst>
      <p:ext uri="{BB962C8B-B14F-4D97-AF65-F5344CB8AC3E}">
        <p14:creationId xmlns:p14="http://schemas.microsoft.com/office/powerpoint/2010/main" val="1818930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3074" name="Picture 2" descr="BMW M... and the Los Angeles Auto Show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2000" r="-1140" b="8123"/>
          <a:stretch/>
        </p:blipFill>
        <p:spPr bwMode="auto">
          <a:xfrm>
            <a:off x="2073088" y="1233714"/>
            <a:ext cx="8350624" cy="32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150658" y="4618878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Saya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punya</a:t>
            </a:r>
            <a:r>
              <a:rPr lang="en-US" dirty="0">
                <a:latin typeface="Akrobat Black" panose="00000A00000000000000" pitchFamily="50" charset="0"/>
              </a:rPr>
              <a:t> …. </a:t>
            </a:r>
            <a:r>
              <a:rPr lang="en-US" dirty="0" err="1">
                <a:latin typeface="Akrobat Black" panose="00000A00000000000000" pitchFamily="50" charset="0"/>
              </a:rPr>
              <a:t>mobil</a:t>
            </a:r>
            <a:r>
              <a:rPr lang="en-US" dirty="0">
                <a:latin typeface="Akrobat Black" panose="00000A00000000000000" pitchFamily="50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I have two car</a:t>
            </a:r>
          </a:p>
        </p:txBody>
      </p:sp>
    </p:spTree>
    <p:extLst>
      <p:ext uri="{BB962C8B-B14F-4D97-AF65-F5344CB8AC3E}">
        <p14:creationId xmlns:p14="http://schemas.microsoft.com/office/powerpoint/2010/main" val="3024148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2054" name="Picture 6" descr="Super 30 Birthday Ca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69" y="1715294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5647764" y="2427008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Usia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saya</a:t>
            </a:r>
            <a:r>
              <a:rPr lang="en-US" dirty="0">
                <a:latin typeface="Akrobat Black" panose="00000A00000000000000" pitchFamily="50" charset="0"/>
              </a:rPr>
              <a:t> … </a:t>
            </a:r>
            <a:r>
              <a:rPr lang="en-US" dirty="0" err="1">
                <a:latin typeface="Akrobat Black" panose="00000A00000000000000" pitchFamily="50" charset="0"/>
              </a:rPr>
              <a:t>tahun</a:t>
            </a:r>
            <a:r>
              <a:rPr lang="en-US" dirty="0">
                <a:latin typeface="Akrobat Black" panose="00000A00000000000000" pitchFamily="50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I’m 30 years old</a:t>
            </a:r>
          </a:p>
        </p:txBody>
      </p:sp>
    </p:spTree>
    <p:extLst>
      <p:ext uri="{BB962C8B-B14F-4D97-AF65-F5344CB8AC3E}">
        <p14:creationId xmlns:p14="http://schemas.microsoft.com/office/powerpoint/2010/main" val="1436029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4098" name="Picture 2" descr="Amazon.com: Floor Number Sign -6TH Floor Sign(Aluminium, Black/Silver,Size  6x9) The Sensation line : Office Product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00" y="1680883"/>
            <a:ext cx="242458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128247" y="2400113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Saya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tinggal</a:t>
            </a:r>
            <a:r>
              <a:rPr lang="en-US" dirty="0">
                <a:latin typeface="Akrobat Black" panose="00000A00000000000000" pitchFamily="50" charset="0"/>
              </a:rPr>
              <a:t> di </a:t>
            </a:r>
            <a:r>
              <a:rPr lang="en-US" dirty="0" err="1">
                <a:latin typeface="Akrobat Black" panose="00000A00000000000000" pitchFamily="50" charset="0"/>
              </a:rPr>
              <a:t>lantai</a:t>
            </a:r>
            <a:r>
              <a:rPr lang="en-US" dirty="0">
                <a:latin typeface="Akrobat Black" panose="00000A00000000000000" pitchFamily="50" charset="0"/>
              </a:rPr>
              <a:t> ….</a:t>
            </a: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I live in ….. </a:t>
            </a:r>
            <a:r>
              <a:rPr lang="en-US" sz="2800" i="1" dirty="0" err="1">
                <a:latin typeface="Akrobat Black" panose="00000A00000000000000" pitchFamily="50" charset="0"/>
              </a:rPr>
              <a:t>th</a:t>
            </a:r>
            <a:r>
              <a:rPr lang="en-US" sz="2800" i="1" dirty="0">
                <a:latin typeface="Akrobat Black" panose="00000A00000000000000" pitchFamily="50" charset="0"/>
              </a:rPr>
              <a:t> floor</a:t>
            </a:r>
          </a:p>
        </p:txBody>
      </p:sp>
    </p:spTree>
    <p:extLst>
      <p:ext uri="{BB962C8B-B14F-4D97-AF65-F5344CB8AC3E}">
        <p14:creationId xmlns:p14="http://schemas.microsoft.com/office/powerpoint/2010/main" val="1819859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5124" name="Picture 4" descr="Icon calendar day number 17 17th day month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72" b="7560"/>
          <a:stretch/>
        </p:blipFill>
        <p:spPr bwMode="auto">
          <a:xfrm>
            <a:off x="824753" y="1717807"/>
            <a:ext cx="4253601" cy="423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647764" y="2427008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Sekarang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tanggal</a:t>
            </a:r>
            <a:r>
              <a:rPr lang="en-US" dirty="0">
                <a:latin typeface="Akrobat Black" panose="00000A00000000000000" pitchFamily="50" charset="0"/>
              </a:rPr>
              <a:t> …. </a:t>
            </a:r>
            <a:r>
              <a:rPr lang="en-US" dirty="0" err="1">
                <a:latin typeface="Akrobat Black" panose="00000A00000000000000" pitchFamily="50" charset="0"/>
              </a:rPr>
              <a:t>Februari</a:t>
            </a:r>
            <a:endParaRPr lang="en-US" dirty="0">
              <a:latin typeface="Akrobat Black" panose="00000A00000000000000" pitchFamily="50" charset="0"/>
            </a:endParaRP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Today is ….. </a:t>
            </a:r>
            <a:r>
              <a:rPr lang="en-US" sz="2800" i="1" dirty="0" err="1">
                <a:latin typeface="Akrobat Black" panose="00000A00000000000000" pitchFamily="50" charset="0"/>
              </a:rPr>
              <a:t>th</a:t>
            </a:r>
            <a:r>
              <a:rPr lang="en-US" sz="2800" i="1" dirty="0">
                <a:latin typeface="Akrobat Black" panose="00000A00000000000000" pitchFamily="50" charset="0"/>
              </a:rPr>
              <a:t>  February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734252" y="1233714"/>
            <a:ext cx="2675732" cy="14234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sz="6000" dirty="0" err="1">
                <a:latin typeface="Akrobat Black" panose="00000A00000000000000" pitchFamily="50" charset="0"/>
              </a:rPr>
              <a:t>Februari</a:t>
            </a:r>
            <a:endParaRPr lang="en-US" sz="6000" dirty="0"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060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6146" name="Picture 2" descr="You Will Find Best Mangoes in The World in These 8 Places in India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16" y="1448826"/>
            <a:ext cx="5953125" cy="446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759387" y="2440454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Saya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punya</a:t>
            </a:r>
            <a:r>
              <a:rPr lang="en-US" dirty="0">
                <a:latin typeface="Akrobat Black" panose="00000A00000000000000" pitchFamily="50" charset="0"/>
              </a:rPr>
              <a:t> …. </a:t>
            </a:r>
            <a:r>
              <a:rPr lang="en-US" dirty="0" err="1">
                <a:latin typeface="Akrobat Black" panose="00000A00000000000000" pitchFamily="50" charset="0"/>
              </a:rPr>
              <a:t>mangga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I have 8 mango</a:t>
            </a:r>
          </a:p>
        </p:txBody>
      </p:sp>
    </p:spTree>
    <p:extLst>
      <p:ext uri="{BB962C8B-B14F-4D97-AF65-F5344CB8AC3E}">
        <p14:creationId xmlns:p14="http://schemas.microsoft.com/office/powerpoint/2010/main" val="2445421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210" y="1568415"/>
            <a:ext cx="10883153" cy="32529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D" sz="6000" b="1" dirty="0" err="1"/>
              <a:t>Umur</a:t>
            </a:r>
            <a:r>
              <a:rPr lang="en-ID" sz="6000" b="1" dirty="0"/>
              <a:t> </a:t>
            </a:r>
            <a:r>
              <a:rPr lang="en-ID" sz="6000" b="1" dirty="0" err="1"/>
              <a:t>kamu</a:t>
            </a:r>
            <a:r>
              <a:rPr lang="en-ID" sz="6000" b="1" dirty="0"/>
              <a:t> </a:t>
            </a:r>
            <a:r>
              <a:rPr lang="en-ID" sz="6000" b="1" dirty="0" err="1"/>
              <a:t>berapa</a:t>
            </a:r>
            <a:r>
              <a:rPr lang="en-ID" sz="6000" b="1" dirty="0"/>
              <a:t>?</a:t>
            </a:r>
          </a:p>
          <a:p>
            <a:pPr marL="0" indent="0" algn="ctr">
              <a:buNone/>
            </a:pPr>
            <a:r>
              <a:rPr lang="en-ID" sz="6000" b="1" dirty="0" err="1"/>
              <a:t>Nomor</a:t>
            </a:r>
            <a:r>
              <a:rPr lang="en-ID" sz="6000" b="1" dirty="0"/>
              <a:t> </a:t>
            </a:r>
            <a:r>
              <a:rPr lang="en-ID" sz="6000" b="1" dirty="0" err="1"/>
              <a:t>teleponmu</a:t>
            </a:r>
            <a:r>
              <a:rPr lang="en-ID" sz="6000" b="1" dirty="0"/>
              <a:t> </a:t>
            </a:r>
            <a:r>
              <a:rPr lang="en-ID" sz="6000" b="1" dirty="0" err="1"/>
              <a:t>berapa</a:t>
            </a:r>
            <a:r>
              <a:rPr lang="en-ID" sz="6000" b="1" dirty="0"/>
              <a:t>?</a:t>
            </a:r>
          </a:p>
          <a:p>
            <a:pPr marL="0" indent="0" algn="ctr">
              <a:buNone/>
            </a:pPr>
            <a:r>
              <a:rPr lang="en-ID" sz="6000" b="1" dirty="0" err="1"/>
              <a:t>Kamu</a:t>
            </a:r>
            <a:r>
              <a:rPr lang="en-ID" sz="6000" b="1" dirty="0"/>
              <a:t> </a:t>
            </a:r>
            <a:r>
              <a:rPr lang="en-ID" sz="6000" b="1" dirty="0" err="1"/>
              <a:t>lahir</a:t>
            </a:r>
            <a:r>
              <a:rPr lang="en-ID" sz="6000" b="1" dirty="0"/>
              <a:t> </a:t>
            </a:r>
            <a:r>
              <a:rPr lang="en-ID" sz="6000" b="1" dirty="0" err="1"/>
              <a:t>tahun</a:t>
            </a:r>
            <a:r>
              <a:rPr lang="en-ID" sz="6000" b="1" dirty="0"/>
              <a:t> </a:t>
            </a:r>
            <a:r>
              <a:rPr lang="en-ID" sz="6000" b="1" dirty="0" err="1"/>
              <a:t>berapa</a:t>
            </a:r>
            <a:r>
              <a:rPr lang="en-ID" sz="6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3591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3 Cara Mudah Membuat Watermark untuk Scan KTP - Glints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44" y="0"/>
            <a:ext cx="9888311" cy="679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82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752742"/>
            <a:ext cx="2569029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err="1">
                <a:latin typeface="Akrobat Bold" panose="00000800000000000000" pitchFamily="50" charset="0"/>
              </a:rPr>
              <a:t>Urutan</a:t>
            </a:r>
            <a:r>
              <a:rPr lang="en-US" sz="5400" b="1" dirty="0">
                <a:latin typeface="Akrobat Bold" panose="00000800000000000000" pitchFamily="50" charset="0"/>
              </a:rPr>
              <a:t> </a:t>
            </a:r>
            <a:br>
              <a:rPr lang="en-US" sz="5400" b="1" dirty="0">
                <a:latin typeface="Akrobat Bold" panose="00000800000000000000" pitchFamily="50" charset="0"/>
              </a:rPr>
            </a:br>
            <a:r>
              <a:rPr lang="en-US" sz="5400" b="1" dirty="0">
                <a:latin typeface="Akrobat Bold" panose="00000800000000000000" pitchFamily="50" charset="0"/>
              </a:rPr>
              <a:t> </a:t>
            </a:r>
            <a:r>
              <a:rPr lang="en-US" sz="5400" b="1" i="1" dirty="0">
                <a:latin typeface="Akrobat Bold" panose="00000800000000000000" pitchFamily="50" charset="0"/>
              </a:rPr>
              <a:t>Ordinal </a:t>
            </a:r>
          </a:p>
        </p:txBody>
      </p:sp>
      <p:pic>
        <p:nvPicPr>
          <p:cNvPr id="3074" name="Picture 2" descr="Pertemuan XXV – Ordinal Number – Study English with 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287" y="-26952"/>
            <a:ext cx="8345714" cy="688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096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oogle Shape;272;p32"/>
          <p:cNvGrpSpPr>
            <a:grpSpLocks/>
          </p:cNvGrpSpPr>
          <p:nvPr/>
        </p:nvGrpSpPr>
        <p:grpSpPr bwMode="auto">
          <a:xfrm flipH="1">
            <a:off x="9584267" y="321734"/>
            <a:ext cx="2044700" cy="1445684"/>
            <a:chOff x="6876425" y="1268933"/>
            <a:chExt cx="1653550" cy="1152165"/>
          </a:xfrm>
        </p:grpSpPr>
        <p:grpSp>
          <p:nvGrpSpPr>
            <p:cNvPr id="37907" name="Google Shape;273;p32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37917" name="Google Shape;274;p32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18" name="Google Shape;275;p32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19" name="Google Shape;276;p32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20" name="Google Shape;277;p32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21" name="Google Shape;278;p32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22" name="Google Shape;279;p32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37908" name="Google Shape;280;p32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37910" name="Google Shape;281;p32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7201658" y="1405573"/>
                <a:ext cx="304691" cy="399799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>
                <a:off x="7314633" y="1877910"/>
                <a:ext cx="195139" cy="151823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13" name="Google Shape;284;p32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071565" y="1724400"/>
                <a:ext cx="66758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15" name="Google Shape;286;p32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16" name="Google Shape;287;p32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37909" name="Google Shape;288;p32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7891" name="Google Shape;289;p32"/>
          <p:cNvGrpSpPr>
            <a:grpSpLocks/>
          </p:cNvGrpSpPr>
          <p:nvPr/>
        </p:nvGrpSpPr>
        <p:grpSpPr bwMode="auto">
          <a:xfrm>
            <a:off x="535518" y="332318"/>
            <a:ext cx="950383" cy="806449"/>
            <a:chOff x="-3118700" y="2365900"/>
            <a:chExt cx="741250" cy="792000"/>
          </a:xfrm>
        </p:grpSpPr>
        <p:sp>
          <p:nvSpPr>
            <p:cNvPr id="37897" name="Google Shape;290;p32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8" name="Google Shape;291;p32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9" name="Google Shape;292;p32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0" name="Google Shape;293;p32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1" name="Google Shape;294;p32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2" name="Google Shape;295;p32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3" name="Google Shape;296;p32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4" name="Google Shape;297;p32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5" name="Google Shape;298;p32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6" name="Google Shape;299;p32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7892" name="Google Shape;300;p32"/>
          <p:cNvGrpSpPr>
            <a:grpSpLocks/>
          </p:cNvGrpSpPr>
          <p:nvPr/>
        </p:nvGrpSpPr>
        <p:grpSpPr bwMode="auto">
          <a:xfrm>
            <a:off x="5916085" y="6231467"/>
            <a:ext cx="857249" cy="260351"/>
            <a:chOff x="806663" y="3241275"/>
            <a:chExt cx="643950" cy="195675"/>
          </a:xfrm>
        </p:grpSpPr>
        <p:sp>
          <p:nvSpPr>
            <p:cNvPr id="301" name="Google Shape;301;p32"/>
            <p:cNvSpPr/>
            <p:nvPr/>
          </p:nvSpPr>
          <p:spPr>
            <a:xfrm>
              <a:off x="808253" y="3263547"/>
              <a:ext cx="599431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96" name="Google Shape;302;p32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pic>
        <p:nvPicPr>
          <p:cNvPr id="37893" name="Picture 2" descr="Text&#10;&#10;Description automatically generated with medium confid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8" t="41943" r="26753" b="4779"/>
          <a:stretch>
            <a:fillRect/>
          </a:stretch>
        </p:blipFill>
        <p:spPr bwMode="auto">
          <a:xfrm>
            <a:off x="368301" y="218018"/>
            <a:ext cx="5331884" cy="6421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Google Shape;642;p42"/>
          <p:cNvSpPr txBox="1">
            <a:spLocks noGrp="1" noChangeArrowheads="1"/>
          </p:cNvSpPr>
          <p:nvPr>
            <p:ph type="subTitle" idx="1"/>
          </p:nvPr>
        </p:nvSpPr>
        <p:spPr>
          <a:xfrm>
            <a:off x="5287434" y="994833"/>
            <a:ext cx="6904567" cy="5226051"/>
          </a:xfrm>
        </p:spPr>
        <p:txBody>
          <a:bodyPr spcFirstLastPara="1" vert="horz" lIns="480000" tIns="45720" rIns="91440" bIns="45720" rtlCol="0">
            <a:noAutofit/>
          </a:bodyPr>
          <a:lstStyle/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Contoh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: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Saya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adalah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anak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pertama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/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kesatu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.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Dia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adalah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anak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ketiga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.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Ini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adalah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kopi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kedua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saya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hari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ini.</a:t>
            </a:r>
          </a:p>
        </p:txBody>
      </p:sp>
    </p:spTree>
    <p:extLst>
      <p:ext uri="{BB962C8B-B14F-4D97-AF65-F5344CB8AC3E}">
        <p14:creationId xmlns:p14="http://schemas.microsoft.com/office/powerpoint/2010/main" val="2458858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 err="1">
                <a:latin typeface="Akrobat Bold" panose="00000800000000000000" pitchFamily="50" charset="0"/>
              </a:rPr>
              <a:t>Harga</a:t>
            </a:r>
            <a:r>
              <a:rPr lang="en-US" sz="7200" b="1" dirty="0">
                <a:latin typeface="Akrobat Bold" panose="00000800000000000000" pitchFamily="50" charset="0"/>
              </a:rPr>
              <a:t> /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625" y="1776412"/>
            <a:ext cx="4629604" cy="179410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Ini 5000 rupiah</a:t>
            </a:r>
          </a:p>
          <a:p>
            <a:pPr marL="0" indent="0">
              <a:buNone/>
            </a:pPr>
            <a:r>
              <a:rPr lang="en-US" dirty="0"/>
              <a:t>Ini 100 euro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6" name="Picture 8" descr="7 Pahlawan yang Menjadi Gambar Uang Rupiah Kertas Cetakan Bar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4271735"/>
            <a:ext cx="5695950" cy="2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6879772" y="1799669"/>
            <a:ext cx="4057401" cy="1770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Iphone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Iphone</a:t>
            </a:r>
            <a:r>
              <a:rPr lang="en-US" dirty="0"/>
              <a:t> 1000 Euro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3074" name="Picture 2" descr="Denmark 1000 Kroner Banknote 2009 Series Circulated. Single 1k Danish Krone  Note | eBay">
            <a:extLst>
              <a:ext uri="{FF2B5EF4-FFF2-40B4-BE49-F238E27FC236}">
                <a16:creationId xmlns:a16="http://schemas.microsoft.com/office/drawing/2014/main" id="{BBCE10EB-F57A-4214-AADF-23D98EC7E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271735"/>
            <a:ext cx="5695950" cy="248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140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089361"/>
              </p:ext>
            </p:extLst>
          </p:nvPr>
        </p:nvGraphicFramePr>
        <p:xfrm>
          <a:off x="596152" y="336176"/>
          <a:ext cx="10515600" cy="5706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943">
                <a:tc>
                  <a:txBody>
                    <a:bodyPr/>
                    <a:lstStyle/>
                    <a:p>
                      <a:r>
                        <a:rPr lang="en-US" dirty="0"/>
                        <a:t>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/>
                        <a:t>Angka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Number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Gratis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Free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/>
                        <a:t>Murah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Cheap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Bayar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Pay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/>
                        <a:t>Mahal 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expensive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Persen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Percent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3200"/>
                        <a:t>Berapa pasnya?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How much exactly?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Beli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Buy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/>
                        <a:t>Tawar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bargain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Jual 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Sell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600"/>
                        <a:t>Menawarkan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Offer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Kembalian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Change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/>
                        <a:t>Traktir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Treat 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Kembalikan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Return/refund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330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59" y="1465943"/>
            <a:ext cx="11295529" cy="471102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 err="1"/>
              <a:t>Berapa</a:t>
            </a:r>
            <a:r>
              <a:rPr lang="en-US" sz="3600" b="1" dirty="0"/>
              <a:t> </a:t>
            </a:r>
            <a:r>
              <a:rPr lang="en-US" sz="3600" b="1" dirty="0" err="1"/>
              <a:t>harga</a:t>
            </a:r>
            <a:r>
              <a:rPr lang="en-US" sz="3600" b="1" dirty="0"/>
              <a:t> </a:t>
            </a:r>
            <a:r>
              <a:rPr lang="en-US" sz="3600" dirty="0" err="1"/>
              <a:t>rumah</a:t>
            </a:r>
            <a:r>
              <a:rPr lang="en-US" sz="3600" dirty="0"/>
              <a:t> </a:t>
            </a:r>
            <a:r>
              <a:rPr lang="en-US" sz="3600" dirty="0" err="1"/>
              <a:t>itu</a:t>
            </a:r>
            <a:r>
              <a:rPr lang="en-US" sz="3600" dirty="0"/>
              <a:t>? (how much for the house?)</a:t>
            </a:r>
          </a:p>
          <a:p>
            <a:pPr marL="0" indent="0">
              <a:buNone/>
            </a:pPr>
            <a:r>
              <a:rPr lang="en-US" sz="3600" b="1" dirty="0" err="1"/>
              <a:t>Harga</a:t>
            </a:r>
            <a:r>
              <a:rPr lang="en-US" sz="3600" dirty="0"/>
              <a:t> </a:t>
            </a:r>
            <a:r>
              <a:rPr lang="en-US" sz="3600" dirty="0" err="1"/>
              <a:t>rumah</a:t>
            </a:r>
            <a:r>
              <a:rPr lang="en-US" sz="3600" dirty="0"/>
              <a:t> </a:t>
            </a:r>
            <a:r>
              <a:rPr lang="en-US" sz="3600" dirty="0" err="1"/>
              <a:t>itu</a:t>
            </a:r>
            <a:r>
              <a:rPr lang="en-US" sz="3600" dirty="0"/>
              <a:t> … rupiah (the house price is …. Rupiah)</a:t>
            </a:r>
          </a:p>
          <a:p>
            <a:pPr marL="0" indent="0">
              <a:buNone/>
            </a:pPr>
            <a:r>
              <a:rPr lang="en-US" sz="3600" dirty="0"/>
              <a:t>Saya </a:t>
            </a:r>
            <a:r>
              <a:rPr lang="en-US" sz="3600" b="1" dirty="0" err="1"/>
              <a:t>beli</a:t>
            </a:r>
            <a:r>
              <a:rPr lang="en-US" sz="3600" dirty="0"/>
              <a:t> baju di mall (I buy this clothes in mall)</a:t>
            </a:r>
          </a:p>
          <a:p>
            <a:pPr marL="0" indent="0">
              <a:buNone/>
            </a:pPr>
            <a:r>
              <a:rPr lang="en-US" sz="3600" b="1" dirty="0" err="1"/>
              <a:t>Harga</a:t>
            </a:r>
            <a:r>
              <a:rPr lang="en-US" sz="3600" dirty="0"/>
              <a:t> baju ini </a:t>
            </a:r>
            <a:r>
              <a:rPr lang="en-US" sz="3600" b="1" dirty="0"/>
              <a:t>mahal (this Clothes is expensive)</a:t>
            </a:r>
          </a:p>
          <a:p>
            <a:pPr marL="0" indent="0">
              <a:buNone/>
            </a:pPr>
            <a:r>
              <a:rPr lang="en-US" sz="3600" dirty="0" err="1"/>
              <a:t>Dia</a:t>
            </a:r>
            <a:r>
              <a:rPr lang="en-US" sz="3600" dirty="0"/>
              <a:t> </a:t>
            </a:r>
            <a:r>
              <a:rPr lang="en-US" sz="3600" b="1" dirty="0" err="1"/>
              <a:t>beli</a:t>
            </a:r>
            <a:r>
              <a:rPr lang="en-US" sz="3600" b="1" dirty="0"/>
              <a:t> </a:t>
            </a:r>
            <a:r>
              <a:rPr lang="en-US" sz="3600" dirty="0" err="1"/>
              <a:t>buku</a:t>
            </a:r>
            <a:r>
              <a:rPr lang="en-US" sz="3600" dirty="0"/>
              <a:t> </a:t>
            </a:r>
            <a:r>
              <a:rPr lang="en-US" sz="3600" b="1" dirty="0" err="1"/>
              <a:t>harga</a:t>
            </a:r>
            <a:r>
              <a:rPr lang="en-US" sz="3600" dirty="0"/>
              <a:t> 200 Euro</a:t>
            </a:r>
          </a:p>
          <a:p>
            <a:pPr marL="0" indent="0">
              <a:buNone/>
            </a:pPr>
            <a:r>
              <a:rPr lang="en-US" sz="3600" b="1" dirty="0" err="1"/>
              <a:t>Harga</a:t>
            </a:r>
            <a:r>
              <a:rPr lang="en-US" sz="3600" dirty="0"/>
              <a:t> </a:t>
            </a:r>
            <a:r>
              <a:rPr lang="en-US" sz="3600" dirty="0" err="1"/>
              <a:t>tiket</a:t>
            </a:r>
            <a:r>
              <a:rPr lang="en-US" sz="3600" dirty="0"/>
              <a:t> </a:t>
            </a:r>
            <a:r>
              <a:rPr lang="en-US" sz="3600" dirty="0" err="1"/>
              <a:t>pesawat</a:t>
            </a:r>
            <a:r>
              <a:rPr lang="en-US" sz="3600" dirty="0"/>
              <a:t> </a:t>
            </a:r>
            <a:r>
              <a:rPr lang="en-US" sz="3600" b="1" dirty="0" err="1"/>
              <a:t>sangat</a:t>
            </a:r>
            <a:r>
              <a:rPr lang="en-US" sz="3600" dirty="0"/>
              <a:t> </a:t>
            </a:r>
            <a:r>
              <a:rPr lang="en-US" sz="3600" b="1" dirty="0" err="1"/>
              <a:t>murah</a:t>
            </a:r>
            <a:r>
              <a:rPr lang="en-US" sz="3600" b="1" dirty="0"/>
              <a:t> (plane ticket price is very cheap)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55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krobat Black" panose="00000A00000000000000" pitchFamily="50" charset="0"/>
              </a:rPr>
              <a:t>Praktik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Menulis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871" y="1825625"/>
            <a:ext cx="106859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Ambil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di </a:t>
            </a:r>
            <a:r>
              <a:rPr lang="en-US" dirty="0" err="1"/>
              <a:t>dekatmu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Sebutkan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i="1" dirty="0"/>
              <a:t>Take an object near you and tell the price of that object!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Saya</a:t>
            </a:r>
            <a:r>
              <a:rPr lang="en-US" b="1" dirty="0"/>
              <a:t> </a:t>
            </a:r>
            <a:r>
              <a:rPr lang="en-US" b="1" dirty="0" err="1"/>
              <a:t>punya</a:t>
            </a:r>
            <a:r>
              <a:rPr lang="en-US" b="1" dirty="0"/>
              <a:t> </a:t>
            </a: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i="1" dirty="0"/>
              <a:t>(I have a book)</a:t>
            </a:r>
          </a:p>
          <a:p>
            <a:pPr marL="0" indent="0">
              <a:buNone/>
            </a:pPr>
            <a:r>
              <a:rPr lang="en-US" b="1" dirty="0" err="1"/>
              <a:t>Harga</a:t>
            </a:r>
            <a:r>
              <a:rPr lang="en-US" b="1" dirty="0"/>
              <a:t> </a:t>
            </a: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 10.000 Rupiah </a:t>
            </a:r>
            <a:r>
              <a:rPr lang="en-US" i="1" dirty="0"/>
              <a:t>(This book price is 10.000 rupiah)</a:t>
            </a:r>
          </a:p>
          <a:p>
            <a:pPr marL="0" indent="0">
              <a:buNone/>
            </a:pP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 </a:t>
            </a:r>
            <a:r>
              <a:rPr lang="en-US" b="1" dirty="0" err="1"/>
              <a:t>sangat</a:t>
            </a:r>
            <a:r>
              <a:rPr lang="en-US" b="1" dirty="0"/>
              <a:t> (</a:t>
            </a:r>
            <a:r>
              <a:rPr lang="en-US" b="1" dirty="0" err="1"/>
              <a:t>mahal</a:t>
            </a:r>
            <a:r>
              <a:rPr lang="en-US" b="1" dirty="0"/>
              <a:t>/</a:t>
            </a:r>
            <a:r>
              <a:rPr lang="en-US" b="1" dirty="0" err="1"/>
              <a:t>murah</a:t>
            </a:r>
            <a:r>
              <a:rPr lang="en-US" b="1" dirty="0"/>
              <a:t>) </a:t>
            </a:r>
            <a:r>
              <a:rPr lang="en-US" i="1" dirty="0"/>
              <a:t>(This book is expensive/ cheap)</a:t>
            </a:r>
          </a:p>
          <a:p>
            <a:pPr marL="0" indent="0">
              <a:buNone/>
            </a:pPr>
            <a:r>
              <a:rPr lang="en-US" b="1" dirty="0" err="1"/>
              <a:t>Saya</a:t>
            </a:r>
            <a:r>
              <a:rPr lang="en-US" b="1" dirty="0"/>
              <a:t> </a:t>
            </a:r>
            <a:r>
              <a:rPr lang="en-US" b="1" dirty="0" err="1"/>
              <a:t>beli</a:t>
            </a:r>
            <a:r>
              <a:rPr lang="en-US" b="1" dirty="0"/>
              <a:t> di </a:t>
            </a:r>
            <a:r>
              <a:rPr lang="en-US" b="1" dirty="0" err="1"/>
              <a:t>pasar</a:t>
            </a:r>
            <a:r>
              <a:rPr lang="en-US" b="1" dirty="0"/>
              <a:t> </a:t>
            </a:r>
            <a:r>
              <a:rPr lang="en-US" i="1" dirty="0"/>
              <a:t>( I bought it in the market)</a:t>
            </a:r>
          </a:p>
        </p:txBody>
      </p:sp>
    </p:spTree>
    <p:extLst>
      <p:ext uri="{BB962C8B-B14F-4D97-AF65-F5344CB8AC3E}">
        <p14:creationId xmlns:p14="http://schemas.microsoft.com/office/powerpoint/2010/main" val="1410598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krobat Black" panose="00000A00000000000000" pitchFamily="50" charset="0"/>
              </a:rPr>
              <a:t>Praktik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Bicara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221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 err="1"/>
              <a:t>Sebutkan</a:t>
            </a:r>
            <a:r>
              <a:rPr lang="en-US" sz="3600" dirty="0"/>
              <a:t> </a:t>
            </a:r>
            <a:r>
              <a:rPr lang="en-US" sz="3600" dirty="0" err="1"/>
              <a:t>harga</a:t>
            </a:r>
            <a:r>
              <a:rPr lang="en-US" sz="3600" dirty="0"/>
              <a:t> </a:t>
            </a:r>
            <a:r>
              <a:rPr lang="en-US" sz="3600" dirty="0" err="1"/>
              <a:t>benda</a:t>
            </a:r>
            <a:r>
              <a:rPr lang="en-US" sz="3600" dirty="0"/>
              <a:t> yang </a:t>
            </a:r>
            <a:r>
              <a:rPr lang="en-US" sz="3600" dirty="0" err="1"/>
              <a:t>kamu</a:t>
            </a:r>
            <a:r>
              <a:rPr lang="en-US" sz="3600" dirty="0"/>
              <a:t> </a:t>
            </a:r>
            <a:r>
              <a:rPr lang="en-US" sz="3600" dirty="0" err="1"/>
              <a:t>punya</a:t>
            </a:r>
            <a:endParaRPr lang="en-US" sz="3600" dirty="0"/>
          </a:p>
          <a:p>
            <a:pPr marL="0" indent="0">
              <a:buNone/>
            </a:pPr>
            <a:r>
              <a:rPr lang="en-US" sz="3600" i="1" dirty="0"/>
              <a:t>tell the price of the object you have!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dirty="0" err="1"/>
              <a:t>Saya</a:t>
            </a:r>
            <a:r>
              <a:rPr lang="en-US" sz="3600" b="1" dirty="0"/>
              <a:t> </a:t>
            </a:r>
            <a:r>
              <a:rPr lang="en-US" sz="3600" b="1" dirty="0" err="1"/>
              <a:t>punya</a:t>
            </a:r>
            <a:r>
              <a:rPr lang="en-US" sz="3600" b="1" dirty="0"/>
              <a:t> 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buku</a:t>
            </a: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3600" b="1" dirty="0" err="1"/>
              <a:t>Harga</a:t>
            </a:r>
            <a:r>
              <a:rPr lang="en-US" sz="3600" b="1" dirty="0"/>
              <a:t> </a:t>
            </a:r>
            <a:r>
              <a:rPr lang="en-US" sz="3600" b="1" dirty="0" err="1"/>
              <a:t>buku</a:t>
            </a:r>
            <a:r>
              <a:rPr lang="en-US" sz="3600" b="1" dirty="0"/>
              <a:t> Ini ……. Euro </a:t>
            </a:r>
            <a:r>
              <a:rPr lang="en-US" sz="3600" b="1" dirty="0" err="1"/>
              <a:t>atau</a:t>
            </a:r>
            <a:r>
              <a:rPr lang="en-US" sz="3600" b="1" dirty="0"/>
              <a:t> …. Rupiah</a:t>
            </a:r>
            <a:endParaRPr lang="en-US" sz="3600" i="1" dirty="0"/>
          </a:p>
          <a:p>
            <a:pPr marL="0" indent="0">
              <a:buNone/>
            </a:pPr>
            <a:r>
              <a:rPr lang="en-US" sz="3600" b="1" dirty="0" err="1"/>
              <a:t>Buku</a:t>
            </a:r>
            <a:r>
              <a:rPr lang="en-US" sz="3600" b="1" dirty="0"/>
              <a:t>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sangat</a:t>
            </a:r>
            <a:r>
              <a:rPr lang="en-US" sz="3600" b="1" dirty="0"/>
              <a:t> (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mahal</a:t>
            </a: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/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murah</a:t>
            </a:r>
            <a:r>
              <a:rPr lang="en-US" sz="3600" b="1" dirty="0"/>
              <a:t>)</a:t>
            </a:r>
            <a:endParaRPr lang="en-US" sz="3600" i="1" dirty="0"/>
          </a:p>
          <a:p>
            <a:pPr marL="0" indent="0">
              <a:buNone/>
            </a:pPr>
            <a:r>
              <a:rPr lang="en-US" sz="3600" b="1" dirty="0" err="1"/>
              <a:t>Saya</a:t>
            </a:r>
            <a:r>
              <a:rPr lang="en-US" sz="3600" b="1" dirty="0"/>
              <a:t> </a:t>
            </a:r>
            <a:r>
              <a:rPr lang="en-US" sz="3600" b="1" dirty="0" err="1"/>
              <a:t>beli</a:t>
            </a:r>
            <a:r>
              <a:rPr lang="en-US" sz="3600" b="1" dirty="0"/>
              <a:t> di 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pasar</a:t>
            </a:r>
            <a:endParaRPr lang="en-US" sz="3600" i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29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718982" y="4515133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err="1"/>
              <a:t>adalah</a:t>
            </a:r>
            <a:r>
              <a:rPr lang="en-US" sz="2800"/>
              <a:t> </a:t>
            </a:r>
            <a:endParaRPr lang="en-US" sz="2800" b="1" dirty="0"/>
          </a:p>
          <a:p>
            <a:r>
              <a:rPr lang="en-US" sz="2800" err="1"/>
              <a:t>Harga</a:t>
            </a:r>
            <a:r>
              <a:rPr lang="en-US" sz="2800"/>
              <a:t> </a:t>
            </a:r>
            <a:r>
              <a:rPr lang="en-US" sz="2800" b="1"/>
              <a:t>mobil listrik</a:t>
            </a:r>
            <a:r>
              <a:rPr lang="en-US" sz="2800"/>
              <a:t> Ini </a:t>
            </a:r>
            <a:r>
              <a:rPr lang="en-US" sz="2800" b="1"/>
              <a:t>900 juta </a:t>
            </a:r>
            <a:r>
              <a:rPr lang="en-US" sz="2800"/>
              <a:t>Rupiah</a:t>
            </a:r>
            <a:endParaRPr lang="en-US" sz="2800" dirty="0"/>
          </a:p>
          <a:p>
            <a:r>
              <a:rPr lang="en-US" sz="2800" b="1"/>
              <a:t>Mobil listrik</a:t>
            </a:r>
            <a:r>
              <a:rPr lang="en-US" sz="280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b="1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</a:t>
            </a:r>
            <a:r>
              <a:rPr lang="en-US" sz="2800"/>
              <a:t>di </a:t>
            </a:r>
            <a:r>
              <a:rPr lang="en-US" sz="2800" b="1"/>
              <a:t>toko mobil</a:t>
            </a:r>
            <a:endParaRPr lang="en-US" sz="2800" b="1" dirty="0"/>
          </a:p>
        </p:txBody>
      </p:sp>
      <p:pic>
        <p:nvPicPr>
          <p:cNvPr id="4098" name="Picture 2" descr="Tesla luncurkan Model Y dengan penggerak roda belakang di Eropa - ANTARA  News">
            <a:extLst>
              <a:ext uri="{FF2B5EF4-FFF2-40B4-BE49-F238E27FC236}">
                <a16:creationId xmlns:a16="http://schemas.microsoft.com/office/drawing/2014/main" id="{9D2681BA-6BFF-4AE1-ABAD-10177F9C8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555" y="166548"/>
            <a:ext cx="6101443" cy="406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468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1026" name="Picture 2" descr="Resep Bakso Kuah Satu Bumbu">
            <a:extLst>
              <a:ext uri="{FF2B5EF4-FFF2-40B4-BE49-F238E27FC236}">
                <a16:creationId xmlns:a16="http://schemas.microsoft.com/office/drawing/2014/main" id="{070192E4-63E8-4325-88D7-EB72F785F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875" y="269006"/>
            <a:ext cx="6509760" cy="41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203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5122" name="Picture 2" descr="SAMSUNG GALAXY S21 5G 8/128GB - Harga &amp; Spesifikasi | Complete Selular">
            <a:extLst>
              <a:ext uri="{FF2B5EF4-FFF2-40B4-BE49-F238E27FC236}">
                <a16:creationId xmlns:a16="http://schemas.microsoft.com/office/drawing/2014/main" id="{C00F4A3A-CFB5-404F-BD53-1B3D628FD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655" y="0"/>
            <a:ext cx="4196938" cy="419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099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314" name="Picture 2" descr="Gucci GG Marmont Leather Continental Wallet - Black | Voila.i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84" r="1855" b="24019"/>
          <a:stretch/>
        </p:blipFill>
        <p:spPr bwMode="auto">
          <a:xfrm>
            <a:off x="3181163" y="1110176"/>
            <a:ext cx="5384614" cy="2891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1718982" y="44693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</p:spTree>
    <p:extLst>
      <p:ext uri="{BB962C8B-B14F-4D97-AF65-F5344CB8AC3E}">
        <p14:creationId xmlns:p14="http://schemas.microsoft.com/office/powerpoint/2010/main" val="3504239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2" name="Picture 2" descr="RESEP MIE AYAM TERENAK YANG PERNAH AKU BIKIN. INI RESEP MIE AYAM SPECIAL -  YouTube">
            <a:extLst>
              <a:ext uri="{FF2B5EF4-FFF2-40B4-BE49-F238E27FC236}">
                <a16:creationId xmlns:a16="http://schemas.microsoft.com/office/drawing/2014/main" id="{AA1B809F-2F8E-4951-B6C3-72444B8BC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321697"/>
            <a:ext cx="65341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230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18434" name="Picture 2" descr="Nike Air Jordan 11 Original Terbaru Februari 2023 | Blibl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494" y="562722"/>
            <a:ext cx="516255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714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2" name="Picture 2" descr="Ultra Milk Chocolate Susu UHT 200ml | ASTRO">
            <a:extLst>
              <a:ext uri="{FF2B5EF4-FFF2-40B4-BE49-F238E27FC236}">
                <a16:creationId xmlns:a16="http://schemas.microsoft.com/office/drawing/2014/main" id="{7E2BCB66-578C-4F86-9EA8-1D9FA1AE6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41" y="150961"/>
            <a:ext cx="4351317" cy="435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872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1032" name="Picture 8" descr="Resep Nasi Goreng Jawa Praktis dan Nikmat | Bango">
            <a:extLst>
              <a:ext uri="{FF2B5EF4-FFF2-40B4-BE49-F238E27FC236}">
                <a16:creationId xmlns:a16="http://schemas.microsoft.com/office/drawing/2014/main" id="{04006FAC-FA9E-4D86-931E-7AE3C7FFF4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" t="28512" r="-2239" b="15396"/>
          <a:stretch/>
        </p:blipFill>
        <p:spPr bwMode="auto">
          <a:xfrm>
            <a:off x="3143250" y="503760"/>
            <a:ext cx="5905500" cy="331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653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718982" y="44693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2050" name="Picture 2" descr="iPhone 17 Pro dan iPhone 17 Pro Max - Apple (ID)">
            <a:extLst>
              <a:ext uri="{FF2B5EF4-FFF2-40B4-BE49-F238E27FC236}">
                <a16:creationId xmlns:a16="http://schemas.microsoft.com/office/drawing/2014/main" id="{4D0A8478-61A7-4166-9F55-8CFF29C8BC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4" t="4207" r="25636"/>
          <a:stretch/>
        </p:blipFill>
        <p:spPr bwMode="auto">
          <a:xfrm>
            <a:off x="4197927" y="509235"/>
            <a:ext cx="3454377" cy="354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859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529" y="228600"/>
            <a:ext cx="5655508" cy="55180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/>
              <a:t>	</a:t>
            </a:r>
            <a:r>
              <a:rPr lang="en-US" dirty="0"/>
              <a:t>: </a:t>
            </a:r>
            <a:r>
              <a:rPr lang="en-US" dirty="0" err="1"/>
              <a:t>Permisi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beli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	: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…..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berapa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	: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…..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oke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jadi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anda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….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	: </a:t>
            </a:r>
            <a:r>
              <a:rPr lang="en-US" dirty="0" err="1"/>
              <a:t>oke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total?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jadi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semua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……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	: ini </a:t>
            </a:r>
            <a:r>
              <a:rPr lang="en-US" dirty="0" err="1"/>
              <a:t>pak</a:t>
            </a:r>
            <a:r>
              <a:rPr lang="en-US" dirty="0"/>
              <a:t> </a:t>
            </a:r>
            <a:r>
              <a:rPr lang="en-US" dirty="0" err="1"/>
              <a:t>uangnya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Terima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kasih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	: Sama-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AA0822-D0FB-4F12-9BA9-4DB920B968BA}"/>
              </a:ext>
            </a:extLst>
          </p:cNvPr>
          <p:cNvSpPr/>
          <p:nvPr/>
        </p:nvSpPr>
        <p:spPr>
          <a:xfrm>
            <a:off x="5652655" y="131618"/>
            <a:ext cx="6292816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2800" dirty="0"/>
              <a:t>Buyer: </a:t>
            </a:r>
            <a:r>
              <a:rPr lang="en-ID" sz="2400" dirty="0"/>
              <a:t>Excuse me, I want to buy something.</a:t>
            </a:r>
          </a:p>
          <a:p>
            <a:r>
              <a:rPr lang="en-ID" sz="3000" dirty="0"/>
              <a:t>Seller: What do you want to buy?</a:t>
            </a:r>
          </a:p>
          <a:p>
            <a:r>
              <a:rPr lang="en-ID" sz="3000" dirty="0"/>
              <a:t>Buyer: I want to buy…</a:t>
            </a:r>
          </a:p>
          <a:p>
            <a:r>
              <a:rPr lang="en-ID" sz="3000" dirty="0"/>
              <a:t>Seller: How much do you want to buy?</a:t>
            </a:r>
          </a:p>
          <a:p>
            <a:r>
              <a:rPr lang="en-ID" sz="3000" dirty="0"/>
              <a:t>Buyer: I want to buy…</a:t>
            </a:r>
          </a:p>
          <a:p>
            <a:r>
              <a:rPr lang="en-ID" sz="3000" dirty="0"/>
              <a:t>Seller: Okay, so you buy…</a:t>
            </a:r>
          </a:p>
          <a:p>
            <a:r>
              <a:rPr lang="en-ID" sz="3000" dirty="0"/>
              <a:t>Buyer: Okay, how much is the total?</a:t>
            </a:r>
          </a:p>
          <a:p>
            <a:r>
              <a:rPr lang="en-ID" sz="3000" dirty="0"/>
              <a:t>Seller: So, all of it…</a:t>
            </a:r>
          </a:p>
          <a:p>
            <a:r>
              <a:rPr lang="en-ID" sz="3000" dirty="0"/>
              <a:t>Buyer: Here's the money, sir.</a:t>
            </a:r>
          </a:p>
          <a:p>
            <a:r>
              <a:rPr lang="en-ID" sz="3000" dirty="0"/>
              <a:t>Seller: Thank you.</a:t>
            </a:r>
          </a:p>
          <a:p>
            <a:r>
              <a:rPr lang="en-ID" sz="3000" dirty="0"/>
              <a:t>Buyer: You're welcome.</a:t>
            </a:r>
          </a:p>
        </p:txBody>
      </p:sp>
    </p:spTree>
    <p:extLst>
      <p:ext uri="{BB962C8B-B14F-4D97-AF65-F5344CB8AC3E}">
        <p14:creationId xmlns:p14="http://schemas.microsoft.com/office/powerpoint/2010/main" val="764127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528" y="228600"/>
            <a:ext cx="11031071" cy="55180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/>
              <a:t>		</a:t>
            </a:r>
            <a:r>
              <a:rPr lang="en-US" dirty="0"/>
              <a:t>: </a:t>
            </a:r>
            <a:r>
              <a:rPr lang="en-US" dirty="0" err="1"/>
              <a:t>Permisi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beli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		: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…..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berapa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		: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…..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oke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jadi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anda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….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		: </a:t>
            </a:r>
            <a:r>
              <a:rPr lang="en-US" dirty="0" err="1"/>
              <a:t>oke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total </a:t>
            </a:r>
            <a:r>
              <a:rPr lang="en-US" dirty="0" err="1"/>
              <a:t>semuanya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jadi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semua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……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		: ini </a:t>
            </a:r>
            <a:r>
              <a:rPr lang="en-US" dirty="0" err="1"/>
              <a:t>pak</a:t>
            </a:r>
            <a:r>
              <a:rPr lang="en-US" dirty="0"/>
              <a:t> </a:t>
            </a:r>
            <a:r>
              <a:rPr lang="en-US" dirty="0" err="1"/>
              <a:t>uangnya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Terima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kasih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		: Sama-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405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 descr="Image result for terima kasih indonesia cartoo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-244475"/>
            <a:ext cx="8213725" cy="710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23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1033</Words>
  <Application>Microsoft Office PowerPoint</Application>
  <PresentationFormat>Widescreen</PresentationFormat>
  <Paragraphs>207</Paragraphs>
  <Slides>33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Akrobat Black</vt:lpstr>
      <vt:lpstr>Akrobat Bold</vt:lpstr>
      <vt:lpstr>Akrobat ExtraBold</vt:lpstr>
      <vt:lpstr>Arial</vt:lpstr>
      <vt:lpstr>Calibri</vt:lpstr>
      <vt:lpstr>Calibri Light</vt:lpstr>
      <vt:lpstr>Comfortaa</vt:lpstr>
      <vt:lpstr>Patrick Hand</vt:lpstr>
      <vt:lpstr>Patrick Hand SC</vt:lpstr>
      <vt:lpstr>Office Theme</vt:lpstr>
      <vt:lpstr>PowerPoint Presentation</vt:lpstr>
      <vt:lpstr>PowerPoint Presentation</vt:lpstr>
      <vt:lpstr>NOMOR / ANGKA</vt:lpstr>
      <vt:lpstr>Bacalah nomor ini! 1 2 3 4 5 6 7 8 9 10 11 12 13 14 15  20 30 40 50 60 70 80 100  300  600  1.000  3.000</vt:lpstr>
      <vt:lpstr>Baca Nomor</vt:lpstr>
      <vt:lpstr>PowerPoint Presentation</vt:lpstr>
      <vt:lpstr>Contoh kalimat</vt:lpstr>
      <vt:lpstr>Contoh kalimat</vt:lpstr>
      <vt:lpstr>Contoh kalimat</vt:lpstr>
      <vt:lpstr>Contoh kalimat</vt:lpstr>
      <vt:lpstr>Contoh kalimat</vt:lpstr>
      <vt:lpstr>Contoh kalimat</vt:lpstr>
      <vt:lpstr>PowerPoint Presentation</vt:lpstr>
      <vt:lpstr>PowerPoint Presentation</vt:lpstr>
      <vt:lpstr>Urutan   Ordinal </vt:lpstr>
      <vt:lpstr>PowerPoint Presentation</vt:lpstr>
      <vt:lpstr>Harga / Price</vt:lpstr>
      <vt:lpstr>PowerPoint Presentation</vt:lpstr>
      <vt:lpstr>Contoh kalimat</vt:lpstr>
      <vt:lpstr>Praktik Menulis</vt:lpstr>
      <vt:lpstr>Praktik Bicara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68</cp:revision>
  <dcterms:created xsi:type="dcterms:W3CDTF">2020-10-19T23:51:58Z</dcterms:created>
  <dcterms:modified xsi:type="dcterms:W3CDTF">2025-12-02T16:02:56Z</dcterms:modified>
</cp:coreProperties>
</file>