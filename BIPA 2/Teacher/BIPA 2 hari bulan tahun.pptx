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20"/>
  </p:handoutMasterIdLst>
  <p:sldIdLst>
    <p:sldId id="289" r:id="rId5"/>
    <p:sldId id="290" r:id="rId6"/>
    <p:sldId id="304" r:id="rId7"/>
    <p:sldId id="305" r:id="rId8"/>
    <p:sldId id="306" r:id="rId9"/>
    <p:sldId id="307" r:id="rId10"/>
    <p:sldId id="267" r:id="rId11"/>
    <p:sldId id="278" r:id="rId12"/>
    <p:sldId id="302" r:id="rId13"/>
    <p:sldId id="308" r:id="rId14"/>
    <p:sldId id="301" r:id="rId15"/>
    <p:sldId id="309" r:id="rId16"/>
    <p:sldId id="293" r:id="rId17"/>
    <p:sldId id="294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576" userDrawn="1">
          <p15:clr>
            <a:srgbClr val="A4A3A4"/>
          </p15:clr>
        </p15:guide>
        <p15:guide id="8" orient="horz" pos="3744" userDrawn="1">
          <p15:clr>
            <a:srgbClr val="A4A3A4"/>
          </p15:clr>
        </p15:guide>
        <p15:guide id="9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21" autoAdjust="0"/>
    <p:restoredTop sz="93725" autoAdjust="0"/>
  </p:normalViewPr>
  <p:slideViewPr>
    <p:cSldViewPr snapToGrid="0" showGuides="1">
      <p:cViewPr>
        <p:scale>
          <a:sx n="100" d="100"/>
          <a:sy n="100" d="100"/>
        </p:scale>
        <p:origin x="-486" y="-360"/>
      </p:cViewPr>
      <p:guideLst>
        <p:guide orient="horz" pos="1344"/>
        <p:guide pos="576"/>
        <p:guide orient="horz" pos="3744"/>
        <p:guide pos="3840"/>
      </p:guideLst>
    </p:cSldViewPr>
  </p:slideViewPr>
  <p:outlineViewPr>
    <p:cViewPr>
      <p:scale>
        <a:sx n="33" d="100"/>
        <a:sy n="33" d="100"/>
      </p:scale>
      <p:origin x="0" y="-59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9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5DC31D-6BBA-1E40-9A7E-1FE0A421F3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9E10C-1649-9148-9887-C4B5DF38CE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65657-3F36-724B-A332-D448C4527D30}" type="datetimeFigureOut"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9E7DC-2FE3-FA48-929A-C3D3179E1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40692-4B9B-A444-A85B-911AF05DE3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0D8CC-6079-CB40-AF25-90B118481B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1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ADDF-D82C-4780-9143-87E5F529D8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8648" y="813816"/>
            <a:ext cx="64008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2B550A-AB53-4D15-A89E-6EEBB5151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41448" y="1655064"/>
            <a:ext cx="7315200" cy="1143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DE1EB1-91FE-4CB8-81BD-5BBBFC22C6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98648" y="3027707"/>
            <a:ext cx="68580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86028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11DAB-71A2-44C9-B830-25E19DC583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9B5FD0-EA88-4EA1-89FF-A0346C36D9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2203704"/>
            <a:ext cx="6400800" cy="420624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11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E24C-B229-452F-B387-BA3429761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CEFA7B-7934-4EAA-8C20-7D9B03B9E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1981933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93050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E35BBCA-FB90-42AF-995A-AA6CE87BD6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643"/>
          <a:stretch>
            <a:fillRect/>
          </a:stretch>
        </p:blipFill>
        <p:spPr>
          <a:xfrm>
            <a:off x="914400" y="466647"/>
            <a:ext cx="10563726" cy="6391353"/>
          </a:xfrm>
          <a:custGeom>
            <a:avLst/>
            <a:gdLst>
              <a:gd name="connsiteX0" fmla="*/ 0 w 10563726"/>
              <a:gd name="connsiteY0" fmla="*/ 0 h 6391353"/>
              <a:gd name="connsiteX1" fmla="*/ 10563726 w 10563726"/>
              <a:gd name="connsiteY1" fmla="*/ 0 h 6391353"/>
              <a:gd name="connsiteX2" fmla="*/ 10563726 w 10563726"/>
              <a:gd name="connsiteY2" fmla="*/ 6391353 h 6391353"/>
              <a:gd name="connsiteX3" fmla="*/ 0 w 10563726"/>
              <a:gd name="connsiteY3" fmla="*/ 6391353 h 639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63726" h="6391353">
                <a:moveTo>
                  <a:pt x="0" y="0"/>
                </a:moveTo>
                <a:lnTo>
                  <a:pt x="10563726" y="0"/>
                </a:lnTo>
                <a:lnTo>
                  <a:pt x="10563726" y="6391353"/>
                </a:lnTo>
                <a:lnTo>
                  <a:pt x="0" y="639135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399BE-6A96-4D58-AF62-861F9AE2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E12991-70DA-442D-98F3-6739146463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724912"/>
            <a:ext cx="7772401" cy="36576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778D16-894A-4379-8B5B-DC2423451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106A418-68CC-4D3D-9032-696498842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93C440-01C8-4E08-A98E-D76F10D08B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13064"/>
            <a:ext cx="6858001" cy="427939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56047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AA20A23-A33B-4A1B-9162-707282E535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602"/>
          <a:stretch>
            <a:fillRect/>
          </a:stretch>
        </p:blipFill>
        <p:spPr>
          <a:xfrm>
            <a:off x="1066800" y="523183"/>
            <a:ext cx="10058400" cy="6334817"/>
          </a:xfrm>
          <a:custGeom>
            <a:avLst/>
            <a:gdLst>
              <a:gd name="connsiteX0" fmla="*/ 0 w 10058400"/>
              <a:gd name="connsiteY0" fmla="*/ 0 h 6334817"/>
              <a:gd name="connsiteX1" fmla="*/ 10058400 w 10058400"/>
              <a:gd name="connsiteY1" fmla="*/ 0 h 6334817"/>
              <a:gd name="connsiteX2" fmla="*/ 10058400 w 10058400"/>
              <a:gd name="connsiteY2" fmla="*/ 6334817 h 6334817"/>
              <a:gd name="connsiteX3" fmla="*/ 0 w 10058400"/>
              <a:gd name="connsiteY3" fmla="*/ 6334817 h 633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334817">
                <a:moveTo>
                  <a:pt x="0" y="0"/>
                </a:moveTo>
                <a:lnTo>
                  <a:pt x="10058400" y="0"/>
                </a:lnTo>
                <a:lnTo>
                  <a:pt x="10058400" y="6334817"/>
                </a:lnTo>
                <a:lnTo>
                  <a:pt x="0" y="6334817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36F446-5EA3-48C4-AA8D-AB9850B03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70600-CFB5-4805-BC68-5AE22166B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951305"/>
            <a:ext cx="7772400" cy="3456432"/>
          </a:xfrm>
        </p:spPr>
        <p:txBody>
          <a:bodyPr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C8060D-32CA-4A3C-9EAF-A2D3801AB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92641-A8C8-41F9-8E1C-7C929693C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CC55B6-E9DA-4B68-A0D8-957F46B46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2062956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6304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C6103AFC-AC4C-4756-AEEE-B0D669AC8C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4880"/>
          <a:stretch>
            <a:fillRect/>
          </a:stretch>
        </p:blipFill>
        <p:spPr>
          <a:xfrm>
            <a:off x="878302" y="469222"/>
            <a:ext cx="10424160" cy="6388778"/>
          </a:xfrm>
          <a:custGeom>
            <a:avLst/>
            <a:gdLst>
              <a:gd name="connsiteX0" fmla="*/ 0 w 10424160"/>
              <a:gd name="connsiteY0" fmla="*/ 0 h 6388778"/>
              <a:gd name="connsiteX1" fmla="*/ 10424160 w 10424160"/>
              <a:gd name="connsiteY1" fmla="*/ 0 h 6388778"/>
              <a:gd name="connsiteX2" fmla="*/ 10424160 w 10424160"/>
              <a:gd name="connsiteY2" fmla="*/ 6388778 h 6388778"/>
              <a:gd name="connsiteX3" fmla="*/ 0 w 10424160"/>
              <a:gd name="connsiteY3" fmla="*/ 6388778 h 6388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24160" h="6388778">
                <a:moveTo>
                  <a:pt x="0" y="0"/>
                </a:moveTo>
                <a:lnTo>
                  <a:pt x="10424160" y="0"/>
                </a:lnTo>
                <a:lnTo>
                  <a:pt x="10424160" y="6388778"/>
                </a:lnTo>
                <a:lnTo>
                  <a:pt x="0" y="6388778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04EF9-570E-48F5-BA06-DEB9EB7F7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9" y="1460692"/>
            <a:ext cx="6857999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B30880-FB83-4FD8-B7A4-675D68A47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0" y="2438570"/>
            <a:ext cx="6858000" cy="3950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8183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6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775E2-26ED-4CEF-94F6-7C85D113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46653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32AB5-76E2-49F4-96EE-B419AF1F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94859"/>
            <a:ext cx="10058400" cy="372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7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F26B43"/>
          </p15:clr>
        </p15:guide>
        <p15:guide id="2" pos="576" userDrawn="1">
          <p15:clr>
            <a:srgbClr val="F26B43"/>
          </p15:clr>
        </p15:guide>
        <p15:guide id="3" pos="7104" userDrawn="1">
          <p15:clr>
            <a:srgbClr val="F26B43"/>
          </p15:clr>
        </p15:guide>
        <p15:guide id="4" orient="horz" pos="3744" userDrawn="1">
          <p15:clr>
            <a:srgbClr val="F26B43"/>
          </p15:clr>
        </p15:guide>
        <p15:guide id="5" pos="2760" userDrawn="1">
          <p15:clr>
            <a:srgbClr val="F26B43"/>
          </p15:clr>
        </p15:guide>
        <p15:guide id="6" pos="4944" userDrawn="1">
          <p15:clr>
            <a:srgbClr val="F26B43"/>
          </p15:clr>
        </p15:guide>
        <p15:guide id="7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E3D5-B129-455A-8D61-5DE355CF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j-lt"/>
              </a:rPr>
              <a:t>BIPA </a:t>
            </a:r>
            <a:r>
              <a:rPr lang="en-US" dirty="0" err="1">
                <a:latin typeface="+mj-lt"/>
              </a:rPr>
              <a:t>Kopenhagen</a:t>
            </a:r>
            <a:r>
              <a:rPr lang="en-US" dirty="0">
                <a:latin typeface="+mj-lt"/>
              </a:rPr>
              <a:t> 2025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512D6-1B42-4E1C-AEE3-478A340AC1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41448" y="1655064"/>
            <a:ext cx="7315200" cy="972403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Hari, </a:t>
            </a:r>
            <a:r>
              <a:rPr lang="en-US" sz="5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bulan</a:t>
            </a:r>
            <a:r>
              <a:rPr lang="en-US" sz="5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dan </a:t>
            </a:r>
            <a:r>
              <a:rPr lang="en-US" sz="5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tahun</a:t>
            </a:r>
            <a:endParaRPr lang="en-US" sz="54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pic>
        <p:nvPicPr>
          <p:cNvPr id="12" name="Graphic 11" descr="Illustration of a pencil character ">
            <a:extLst>
              <a:ext uri="{FF2B5EF4-FFF2-40B4-BE49-F238E27FC236}">
                <a16:creationId xmlns:a16="http://schemas.microsoft.com/office/drawing/2014/main" id="{937FAC84-23F1-401F-A313-68AD63D60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77964">
            <a:off x="1811563" y="4144102"/>
            <a:ext cx="1155789" cy="1971643"/>
          </a:xfrm>
          <a:prstGeom prst="rect">
            <a:avLst/>
          </a:prstGeom>
        </p:spPr>
      </p:pic>
      <p:pic>
        <p:nvPicPr>
          <p:cNvPr id="8" name="Graphic 7" descr="Illustration of a blue bag of school supplies character ">
            <a:extLst>
              <a:ext uri="{FF2B5EF4-FFF2-40B4-BE49-F238E27FC236}">
                <a16:creationId xmlns:a16="http://schemas.microsoft.com/office/drawing/2014/main" id="{F3A63EAE-D921-4D74-B1C8-6D0E847DF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2560" y="4391095"/>
            <a:ext cx="2483858" cy="1709233"/>
          </a:xfrm>
          <a:prstGeom prst="rect">
            <a:avLst/>
          </a:prstGeom>
        </p:spPr>
      </p:pic>
      <p:pic>
        <p:nvPicPr>
          <p:cNvPr id="10" name="Graphic 9" descr="Illustration of a purple book character ">
            <a:extLst>
              <a:ext uri="{FF2B5EF4-FFF2-40B4-BE49-F238E27FC236}">
                <a16:creationId xmlns:a16="http://schemas.microsoft.com/office/drawing/2014/main" id="{8A4FC9B1-AAE5-49E7-9209-B1CD7DC8C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269620" y="4059937"/>
            <a:ext cx="1775352" cy="2059055"/>
          </a:xfrm>
          <a:prstGeom prst="rect">
            <a:avLst/>
          </a:prstGeom>
        </p:spPr>
      </p:pic>
      <p:pic>
        <p:nvPicPr>
          <p:cNvPr id="6" name="Graphic 5" descr="Illustration of a globe character ">
            <a:extLst>
              <a:ext uri="{FF2B5EF4-FFF2-40B4-BE49-F238E27FC236}">
                <a16:creationId xmlns:a16="http://schemas.microsoft.com/office/drawing/2014/main" id="{A1CF0450-3738-4D52-BF18-A90C1F16AC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8174" y="4442978"/>
            <a:ext cx="2213723" cy="17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5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6520-2640-4559-BAB1-ADE3A738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14401"/>
            <a:ext cx="7053943" cy="685800"/>
          </a:xfrm>
        </p:spPr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Hari dan </a:t>
            </a:r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Tanggal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berapa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ini?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Illustration of a blue bag of school supplies character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  <p:pic>
        <p:nvPicPr>
          <p:cNvPr id="1026" name="Picture 2" descr="330+ Calendar 25th Date Icon Stock Illustrations, Royalty-Free Vector  Graphics &amp; Clip Art - iStock">
            <a:extLst>
              <a:ext uri="{FF2B5EF4-FFF2-40B4-BE49-F238E27FC236}">
                <a16:creationId xmlns:a16="http://schemas.microsoft.com/office/drawing/2014/main" id="{13481FED-71E6-4F1B-AB00-86CE32B80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3704"/>
            <a:ext cx="2315688" cy="231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1CD3990-0905-4E50-859A-30825C6C2A71}"/>
              </a:ext>
            </a:extLst>
          </p:cNvPr>
          <p:cNvSpPr txBox="1">
            <a:spLocks/>
          </p:cNvSpPr>
          <p:nvPr/>
        </p:nvSpPr>
        <p:spPr>
          <a:xfrm>
            <a:off x="1518063" y="2203704"/>
            <a:ext cx="1462644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2025</a:t>
            </a:r>
          </a:p>
        </p:txBody>
      </p:sp>
      <p:pic>
        <p:nvPicPr>
          <p:cNvPr id="1028" name="Picture 4" descr="480+ February 17 Stock Photos, Pictures &amp; Royalty-Free Images - iStock">
            <a:extLst>
              <a:ext uri="{FF2B5EF4-FFF2-40B4-BE49-F238E27FC236}">
                <a16:creationId xmlns:a16="http://schemas.microsoft.com/office/drawing/2014/main" id="{DD1A8A0B-C278-4A0E-A395-750BC62C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208" y="2216604"/>
            <a:ext cx="2315688" cy="231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2C7AC5-5430-4078-9D30-59D23ECA535D}"/>
              </a:ext>
            </a:extLst>
          </p:cNvPr>
          <p:cNvSpPr txBox="1">
            <a:spLocks/>
          </p:cNvSpPr>
          <p:nvPr/>
        </p:nvSpPr>
        <p:spPr>
          <a:xfrm>
            <a:off x="4292128" y="2203704"/>
            <a:ext cx="1462644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9883BD-35BA-4B27-AB15-5E0AC504EEE3}"/>
              </a:ext>
            </a:extLst>
          </p:cNvPr>
          <p:cNvSpPr/>
          <p:nvPr/>
        </p:nvSpPr>
        <p:spPr>
          <a:xfrm>
            <a:off x="3009209" y="4645841"/>
            <a:ext cx="41239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Ini </a:t>
            </a:r>
            <a:r>
              <a:rPr lang="en-US" sz="28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hari</a:t>
            </a:r>
            <a:r>
              <a:rPr lang="en-US" sz="28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senin</a:t>
            </a:r>
            <a:r>
              <a:rPr lang="en-US" sz="28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</a:t>
            </a:r>
            <a:r>
              <a:rPr lang="en-US" sz="28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tanggal</a:t>
            </a:r>
            <a:r>
              <a:rPr lang="en-US" sz="28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17 </a:t>
            </a:r>
            <a:r>
              <a:rPr lang="en-US" sz="28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Februari</a:t>
            </a:r>
            <a:r>
              <a:rPr lang="en-US" sz="28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2025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30019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8 September Foto Stok - Unduh Gambar Sekarang - 25-29 tahun, Number 28,  September - iStock">
            <a:extLst>
              <a:ext uri="{FF2B5EF4-FFF2-40B4-BE49-F238E27FC236}">
                <a16:creationId xmlns:a16="http://schemas.microsoft.com/office/drawing/2014/main" id="{A69853E6-47DE-4726-ABFA-82CCA9227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53" y="1847445"/>
            <a:ext cx="3965249" cy="297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796520-2640-4559-BAB1-ADE3A738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6" y="201882"/>
            <a:ext cx="7053943" cy="685800"/>
          </a:xfrm>
        </p:spPr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Hari dan </a:t>
            </a:r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Tanggal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berapa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ini?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Illustration of a blue bag of school supplies character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1CD3990-0905-4E50-859A-30825C6C2A71}"/>
              </a:ext>
            </a:extLst>
          </p:cNvPr>
          <p:cNvSpPr txBox="1">
            <a:spLocks/>
          </p:cNvSpPr>
          <p:nvPr/>
        </p:nvSpPr>
        <p:spPr>
          <a:xfrm>
            <a:off x="1645485" y="1813304"/>
            <a:ext cx="1462644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EF62E4-2E54-4CD6-8FEC-90AA29DE2EF1}"/>
              </a:ext>
            </a:extLst>
          </p:cNvPr>
          <p:cNvSpPr/>
          <p:nvPr/>
        </p:nvSpPr>
        <p:spPr>
          <a:xfrm>
            <a:off x="4461545" y="1813304"/>
            <a:ext cx="3825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Kapan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Besok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?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Besok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hari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…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Tanggal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…</a:t>
            </a:r>
            <a:endParaRPr lang="en-ID" sz="2400" dirty="0">
              <a:latin typeface="Adobe Garamond Pro Bold" panose="020207020605060204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DFBA1F-D5C4-4B48-B314-141C81300736}"/>
              </a:ext>
            </a:extLst>
          </p:cNvPr>
          <p:cNvSpPr/>
          <p:nvPr/>
        </p:nvSpPr>
        <p:spPr>
          <a:xfrm>
            <a:off x="4461545" y="3244203"/>
            <a:ext cx="3825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Kapan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kemarin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?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kemarin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hari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…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Tanggal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…</a:t>
            </a:r>
            <a:endParaRPr lang="en-ID" sz="2400" dirty="0">
              <a:latin typeface="Adobe Garamond Pro Bold" panose="020207020605060204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202F9A-12ED-4318-8EE3-3801DA595284}"/>
              </a:ext>
            </a:extLst>
          </p:cNvPr>
          <p:cNvSpPr/>
          <p:nvPr/>
        </p:nvSpPr>
        <p:spPr>
          <a:xfrm>
            <a:off x="4484384" y="4625765"/>
            <a:ext cx="3825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Kapan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Lusa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?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lusa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hari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…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Tanggal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…</a:t>
            </a:r>
            <a:endParaRPr lang="en-ID" sz="24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63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5,200+ January 1st Calendar Stock Photos, Pictures &amp; Royalty-Free Images -  iStock">
            <a:extLst>
              <a:ext uri="{FF2B5EF4-FFF2-40B4-BE49-F238E27FC236}">
                <a16:creationId xmlns:a16="http://schemas.microsoft.com/office/drawing/2014/main" id="{BEDE6D88-16DB-4604-84CC-B93FC4F4D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34" y="1814818"/>
            <a:ext cx="3483283" cy="348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796520-2640-4559-BAB1-ADE3A738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6" y="201882"/>
            <a:ext cx="7053943" cy="685800"/>
          </a:xfrm>
        </p:spPr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Hari dan </a:t>
            </a:r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Tanggal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berapa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ini?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Illustration of a blue bag of school supplies character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1CD3990-0905-4E50-859A-30825C6C2A71}"/>
              </a:ext>
            </a:extLst>
          </p:cNvPr>
          <p:cNvSpPr txBox="1">
            <a:spLocks/>
          </p:cNvSpPr>
          <p:nvPr/>
        </p:nvSpPr>
        <p:spPr>
          <a:xfrm>
            <a:off x="1645485" y="1813304"/>
            <a:ext cx="1462644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EF62E4-2E54-4CD6-8FEC-90AA29DE2EF1}"/>
              </a:ext>
            </a:extLst>
          </p:cNvPr>
          <p:cNvSpPr/>
          <p:nvPr/>
        </p:nvSpPr>
        <p:spPr>
          <a:xfrm>
            <a:off x="4461545" y="1813304"/>
            <a:ext cx="3825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Kapan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Besok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?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Besok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hari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kamis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 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Tanggal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…</a:t>
            </a:r>
            <a:endParaRPr lang="en-ID" sz="2400" dirty="0">
              <a:latin typeface="Adobe Garamond Pro Bold" panose="020207020605060204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DFBA1F-D5C4-4B48-B314-141C81300736}"/>
              </a:ext>
            </a:extLst>
          </p:cNvPr>
          <p:cNvSpPr/>
          <p:nvPr/>
        </p:nvSpPr>
        <p:spPr>
          <a:xfrm>
            <a:off x="4461545" y="3244203"/>
            <a:ext cx="3825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Kapan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kemarin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?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kemarin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hari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selasa</a:t>
            </a:r>
            <a:endParaRPr lang="en-US" sz="2400" dirty="0">
              <a:latin typeface="Adobe Garamond Pro Bold" panose="02020702060506020403" pitchFamily="18" charset="0"/>
              <a:ea typeface="Adobe Fan Heiti Std B" panose="020B0700000000000000" pitchFamily="34" charset="-128"/>
            </a:endParaRP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Tanggal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…</a:t>
            </a:r>
            <a:endParaRPr lang="en-ID" sz="2400" dirty="0">
              <a:latin typeface="Adobe Garamond Pro Bold" panose="020207020605060204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202F9A-12ED-4318-8EE3-3801DA595284}"/>
              </a:ext>
            </a:extLst>
          </p:cNvPr>
          <p:cNvSpPr/>
          <p:nvPr/>
        </p:nvSpPr>
        <p:spPr>
          <a:xfrm>
            <a:off x="4484384" y="4625765"/>
            <a:ext cx="3825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Kapan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Lusa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?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lusa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hari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jumat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</a:t>
            </a:r>
          </a:p>
          <a:p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Tanggal</a:t>
            </a:r>
            <a:r>
              <a:rPr lang="en-US" sz="2400" dirty="0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 3 </a:t>
            </a:r>
            <a:r>
              <a:rPr lang="en-US" sz="2400" dirty="0" err="1">
                <a:latin typeface="Adobe Garamond Pro Bold" panose="02020702060506020403" pitchFamily="18" charset="0"/>
                <a:ea typeface="Adobe Fan Heiti Std B" panose="020B0700000000000000" pitchFamily="34" charset="-128"/>
              </a:rPr>
              <a:t>januari</a:t>
            </a:r>
            <a:endParaRPr lang="en-ID" sz="24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19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C4E2-ACEF-4256-A17D-F439C7E5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4AA67-8335-4648-9F19-464827CAB3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098" name="Picture 2" descr="Keterangan foto tidak tersedia.">
            <a:extLst>
              <a:ext uri="{FF2B5EF4-FFF2-40B4-BE49-F238E27FC236}">
                <a16:creationId xmlns:a16="http://schemas.microsoft.com/office/drawing/2014/main" id="{57A57CA1-93BF-438B-BB67-C1F409AAC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5" y="0"/>
            <a:ext cx="9150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07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Illustration of a blue bag of school supplies character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EF62E4-2E54-4CD6-8FEC-90AA29DE2EF1}"/>
              </a:ext>
            </a:extLst>
          </p:cNvPr>
          <p:cNvSpPr/>
          <p:nvPr/>
        </p:nvSpPr>
        <p:spPr>
          <a:xfrm>
            <a:off x="384390" y="130343"/>
            <a:ext cx="7895067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/>
              <a:t>Selumbari</a:t>
            </a:r>
            <a:r>
              <a:rPr lang="en-US" sz="2800" dirty="0"/>
              <a:t> → </a:t>
            </a:r>
            <a:r>
              <a:rPr lang="en-US" sz="2800" i="1" dirty="0"/>
              <a:t>The day before yesterday</a:t>
            </a:r>
            <a:r>
              <a:rPr lang="en-ID" sz="2800" i="1" dirty="0">
                <a:latin typeface="Adobe Garamond Pro Bold" panose="02020702060506020403" pitchFamily="18" charset="0"/>
              </a:rPr>
              <a:t> </a:t>
            </a:r>
          </a:p>
          <a:p>
            <a:r>
              <a:rPr lang="en-ID" sz="2800" dirty="0"/>
              <a:t>Hari </a:t>
            </a:r>
            <a:r>
              <a:rPr lang="en-ID" sz="2800" dirty="0" err="1"/>
              <a:t>ini</a:t>
            </a:r>
            <a:r>
              <a:rPr lang="en-ID" sz="2800" dirty="0"/>
              <a:t> </a:t>
            </a:r>
            <a:r>
              <a:rPr lang="en-ID" sz="2800" dirty="0" err="1"/>
              <a:t>Senin</a:t>
            </a:r>
            <a:r>
              <a:rPr lang="en-ID" sz="2800" dirty="0"/>
              <a:t>, </a:t>
            </a:r>
            <a:r>
              <a:rPr lang="en-ID" sz="2800" dirty="0" err="1"/>
              <a:t>selumbari</a:t>
            </a:r>
            <a:r>
              <a:rPr lang="en-ID" sz="2800" dirty="0"/>
              <a:t>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Sabtu</a:t>
            </a:r>
            <a:r>
              <a:rPr lang="en-ID" sz="2800" dirty="0"/>
              <a:t>.</a:t>
            </a:r>
          </a:p>
          <a:p>
            <a:r>
              <a:rPr lang="en-ID" sz="2800" b="1" dirty="0" err="1"/>
              <a:t>Kemarin</a:t>
            </a:r>
            <a:r>
              <a:rPr lang="en-ID" sz="2800" dirty="0"/>
              <a:t> → </a:t>
            </a:r>
            <a:r>
              <a:rPr lang="en-ID" sz="2800" i="1" dirty="0"/>
              <a:t>Yesterday</a:t>
            </a:r>
          </a:p>
          <a:p>
            <a:r>
              <a:rPr lang="fi-FI" sz="2800" dirty="0"/>
              <a:t>Hari ini Senin, kemarin adalah Minggu.</a:t>
            </a:r>
          </a:p>
          <a:p>
            <a:r>
              <a:rPr lang="en-ID" sz="2800" b="1" dirty="0"/>
              <a:t>Hari </a:t>
            </a:r>
            <a:r>
              <a:rPr lang="en-ID" sz="2800" b="1" dirty="0" err="1"/>
              <a:t>ini</a:t>
            </a:r>
            <a:r>
              <a:rPr lang="en-ID" sz="2800" dirty="0"/>
              <a:t> → </a:t>
            </a:r>
            <a:r>
              <a:rPr lang="en-ID" sz="2800" i="1" dirty="0"/>
              <a:t>Today</a:t>
            </a:r>
          </a:p>
          <a:p>
            <a:r>
              <a:rPr lang="it-IT" sz="2800" dirty="0"/>
              <a:t>Hari ini saya belajar bahasa Indonesia</a:t>
            </a:r>
          </a:p>
          <a:p>
            <a:r>
              <a:rPr lang="en-ID" sz="2800" b="1" dirty="0" err="1"/>
              <a:t>Besok</a:t>
            </a:r>
            <a:r>
              <a:rPr lang="en-ID" sz="2800" dirty="0"/>
              <a:t> → </a:t>
            </a:r>
            <a:r>
              <a:rPr lang="en-ID" sz="2800" i="1" dirty="0"/>
              <a:t>Tomorrow</a:t>
            </a:r>
          </a:p>
          <a:p>
            <a:r>
              <a:rPr lang="en-ID" sz="2800" dirty="0"/>
              <a:t>Hari </a:t>
            </a:r>
            <a:r>
              <a:rPr lang="en-ID" sz="2800" dirty="0" err="1"/>
              <a:t>ini</a:t>
            </a:r>
            <a:r>
              <a:rPr lang="en-ID" sz="2800" dirty="0"/>
              <a:t> </a:t>
            </a:r>
            <a:r>
              <a:rPr lang="en-ID" sz="2800" dirty="0" err="1"/>
              <a:t>Senin</a:t>
            </a:r>
            <a:r>
              <a:rPr lang="en-ID" sz="2800" dirty="0"/>
              <a:t>, </a:t>
            </a:r>
            <a:r>
              <a:rPr lang="en-ID" sz="2800" dirty="0" err="1"/>
              <a:t>besok</a:t>
            </a:r>
            <a:r>
              <a:rPr lang="en-ID" sz="2800" dirty="0"/>
              <a:t>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Selasa</a:t>
            </a:r>
            <a:r>
              <a:rPr lang="en-ID" sz="2800" dirty="0"/>
              <a:t>.</a:t>
            </a:r>
          </a:p>
          <a:p>
            <a:r>
              <a:rPr lang="en-US" sz="2800" b="1" dirty="0" err="1"/>
              <a:t>Lusa</a:t>
            </a:r>
            <a:r>
              <a:rPr lang="en-US" sz="2800" dirty="0"/>
              <a:t> → </a:t>
            </a:r>
            <a:r>
              <a:rPr lang="en-US" sz="2800" i="1" dirty="0"/>
              <a:t>The day after tomorrow</a:t>
            </a:r>
          </a:p>
          <a:p>
            <a:r>
              <a:rPr lang="en-US" sz="2800" b="1" dirty="0" err="1"/>
              <a:t>Tulat</a:t>
            </a:r>
            <a:r>
              <a:rPr lang="en-US" sz="2800" dirty="0"/>
              <a:t> → </a:t>
            </a:r>
            <a:r>
              <a:rPr lang="en-US" sz="2800" i="1" dirty="0"/>
              <a:t>Three days after today</a:t>
            </a:r>
          </a:p>
          <a:p>
            <a:r>
              <a:rPr lang="fi-FI" sz="2800" dirty="0"/>
              <a:t>Hari ini Senin, tulat adalah Kamis.</a:t>
            </a:r>
            <a:endParaRPr lang="en-US" sz="2800" i="1" dirty="0"/>
          </a:p>
          <a:p>
            <a:r>
              <a:rPr lang="en-US" sz="2800" b="1" dirty="0" err="1"/>
              <a:t>Tubin</a:t>
            </a:r>
            <a:r>
              <a:rPr lang="en-US" sz="2800" dirty="0"/>
              <a:t> → </a:t>
            </a:r>
            <a:r>
              <a:rPr lang="en-US" sz="2800" i="1" dirty="0"/>
              <a:t>Four days after today</a:t>
            </a:r>
          </a:p>
          <a:p>
            <a:r>
              <a:rPr lang="fi-FI" sz="2800" dirty="0"/>
              <a:t>Hari ini Senin, tubin adalah Jumat.</a:t>
            </a:r>
            <a:endParaRPr lang="en-ID" sz="2800" dirty="0"/>
          </a:p>
          <a:p>
            <a:endParaRPr lang="en-US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4B2DB4-87A6-4434-AC6D-6139C710E09D}"/>
              </a:ext>
            </a:extLst>
          </p:cNvPr>
          <p:cNvSpPr/>
          <p:nvPr/>
        </p:nvSpPr>
        <p:spPr>
          <a:xfrm>
            <a:off x="365111" y="5870376"/>
            <a:ext cx="78470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i-FI" sz="2400" b="1" dirty="0"/>
              <a:t>Saya akan pergi ke restauran lusa dengan teman-teman.</a:t>
            </a:r>
          </a:p>
          <a:p>
            <a:r>
              <a:rPr lang="fi-FI" sz="2400" b="1" dirty="0"/>
              <a:t>Kemarin saya pergi ke Arhus beli sepeda. </a:t>
            </a:r>
            <a:endParaRPr lang="en-ID" sz="2400" b="1" dirty="0"/>
          </a:p>
        </p:txBody>
      </p:sp>
    </p:spTree>
    <p:extLst>
      <p:ext uri="{BB962C8B-B14F-4D97-AF65-F5344CB8AC3E}">
        <p14:creationId xmlns:p14="http://schemas.microsoft.com/office/powerpoint/2010/main" val="34909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897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Kosakata</a:t>
            </a:r>
            <a:r>
              <a:rPr lang="en-US" sz="54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 </a:t>
            </a:r>
            <a:r>
              <a:rPr lang="en-US" sz="5400" b="1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tentang</a:t>
            </a:r>
            <a:r>
              <a:rPr lang="en-US" sz="54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 </a:t>
            </a:r>
            <a:r>
              <a:rPr lang="en-US" sz="5400" b="1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waktu</a:t>
            </a:r>
            <a:endParaRPr lang="en-US" sz="5400" b="1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443598"/>
              </p:ext>
            </p:extLst>
          </p:nvPr>
        </p:nvGraphicFramePr>
        <p:xfrm>
          <a:off x="618563" y="885373"/>
          <a:ext cx="11094464" cy="5180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6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939">
                <a:tc>
                  <a:txBody>
                    <a:bodyPr/>
                    <a:lstStyle/>
                    <a:p>
                      <a:r>
                        <a:rPr lang="en-US" sz="3200" dirty="0" err="1"/>
                        <a:t>Tahun</a:t>
                      </a:r>
                      <a:r>
                        <a:rPr lang="en-US" sz="3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Sebelum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masehi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Before Christ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939">
                <a:tc>
                  <a:txBody>
                    <a:bodyPr/>
                    <a:lstStyle/>
                    <a:p>
                      <a:r>
                        <a:rPr lang="en-US" sz="3200" dirty="0" err="1"/>
                        <a:t>Dekade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Decade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800 </a:t>
                      </a:r>
                      <a:r>
                        <a:rPr lang="en-US" sz="3200" dirty="0" err="1"/>
                        <a:t>masehi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800 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939">
                <a:tc>
                  <a:txBody>
                    <a:bodyPr/>
                    <a:lstStyle/>
                    <a:p>
                      <a:r>
                        <a:rPr lang="en-US" sz="3200" dirty="0"/>
                        <a:t>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Century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Caturwulan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Quarter (4 </a:t>
                      </a:r>
                      <a:r>
                        <a:rPr lang="en-US" sz="2400" dirty="0" err="1"/>
                        <a:t>bulan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939">
                <a:tc>
                  <a:txBody>
                    <a:bodyPr/>
                    <a:lstStyle/>
                    <a:p>
                      <a:r>
                        <a:rPr lang="en-US" sz="3200" dirty="0" err="1"/>
                        <a:t>Seharian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Whole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Trimester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 </a:t>
                      </a:r>
                      <a:r>
                        <a:rPr lang="en-US" sz="3200" dirty="0" err="1"/>
                        <a:t>bulan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939">
                <a:tc>
                  <a:txBody>
                    <a:bodyPr/>
                    <a:lstStyle/>
                    <a:p>
                      <a:r>
                        <a:rPr lang="en-US" sz="3200" dirty="0" err="1"/>
                        <a:t>Semalaman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All night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Sewindu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 </a:t>
                      </a:r>
                      <a:r>
                        <a:rPr lang="en-US" sz="3200" dirty="0" err="1"/>
                        <a:t>tahun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999">
                <a:tc>
                  <a:txBody>
                    <a:bodyPr/>
                    <a:lstStyle/>
                    <a:p>
                      <a:r>
                        <a:rPr lang="en-US" sz="3200" dirty="0"/>
                        <a:t>Masa </a:t>
                      </a:r>
                      <a:r>
                        <a:rPr lang="en-US" sz="3200" dirty="0" err="1"/>
                        <a:t>depan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Tengah </a:t>
                      </a:r>
                      <a:r>
                        <a:rPr lang="en-US" sz="3200" dirty="0" err="1"/>
                        <a:t>malam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midnight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7939">
                <a:tc>
                  <a:txBody>
                    <a:bodyPr/>
                    <a:lstStyle/>
                    <a:p>
                      <a:r>
                        <a:rPr lang="en-US" sz="2800" dirty="0" err="1"/>
                        <a:t>Bulan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depan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Next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Dini </a:t>
                      </a:r>
                      <a:r>
                        <a:rPr lang="en-US" sz="3200" dirty="0" err="1"/>
                        <a:t>hari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After midnight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7939">
                <a:tc>
                  <a:txBody>
                    <a:bodyPr/>
                    <a:lstStyle/>
                    <a:p>
                      <a:r>
                        <a:rPr lang="en-US" sz="2400" dirty="0"/>
                        <a:t>Masa </a:t>
                      </a:r>
                      <a:r>
                        <a:rPr lang="en-US" sz="2400" dirty="0" err="1"/>
                        <a:t>depan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cerah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Bright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074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06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ow to Send the Perfect Birthday Email | Sendin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857"/>
            <a:ext cx="12192000" cy="497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886" y="1330105"/>
            <a:ext cx="10515600" cy="1160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dobe Garamond Pro Bold" panose="02020702060506020403" pitchFamily="18" charset="0"/>
              </a:rPr>
              <a:t>Check on your phone calendar. </a:t>
            </a:r>
          </a:p>
          <a:p>
            <a:pPr marL="0" indent="0">
              <a:buNone/>
            </a:pPr>
            <a:r>
              <a:rPr lang="en-US" sz="3200" dirty="0">
                <a:latin typeface="Adobe Garamond Pro Bold" panose="02020702060506020403" pitchFamily="18" charset="0"/>
              </a:rPr>
              <a:t>Tell about your </a:t>
            </a:r>
            <a:r>
              <a:rPr lang="en-US" sz="3200" b="1" dirty="0">
                <a:latin typeface="Adobe Garamond Pro Bold" panose="02020702060506020403" pitchFamily="18" charset="0"/>
              </a:rPr>
              <a:t>birthday</a:t>
            </a:r>
            <a:r>
              <a:rPr lang="en-US" sz="3200" dirty="0">
                <a:latin typeface="Adobe Garamond Pro Bold" panose="02020702060506020403" pitchFamily="18" charset="0"/>
              </a:rPr>
              <a:t> (</a:t>
            </a:r>
            <a:r>
              <a:rPr lang="en-US" sz="3200" dirty="0" err="1">
                <a:latin typeface="Adobe Garamond Pro Bold" panose="02020702060506020403" pitchFamily="18" charset="0"/>
              </a:rPr>
              <a:t>Ulang</a:t>
            </a:r>
            <a:r>
              <a:rPr lang="en-US" sz="3200" dirty="0">
                <a:latin typeface="Adobe Garamond Pro Bold" panose="02020702060506020403" pitchFamily="18" charset="0"/>
              </a:rPr>
              <a:t> </a:t>
            </a:r>
            <a:r>
              <a:rPr lang="en-US" sz="3200" dirty="0" err="1">
                <a:latin typeface="Adobe Garamond Pro Bold" panose="02020702060506020403" pitchFamily="18" charset="0"/>
              </a:rPr>
              <a:t>tahun</a:t>
            </a:r>
            <a:r>
              <a:rPr lang="en-US" sz="3200" dirty="0">
                <a:latin typeface="Adobe Garamond Pro Bold" panose="02020702060506020403" pitchFamily="18" charset="0"/>
              </a:rPr>
              <a:t>)</a:t>
            </a:r>
          </a:p>
        </p:txBody>
      </p:sp>
      <p:sp>
        <p:nvSpPr>
          <p:cNvPr id="4" name="Title 4"/>
          <p:cNvSpPr txBox="1">
            <a:spLocks/>
          </p:cNvSpPr>
          <p:nvPr/>
        </p:nvSpPr>
        <p:spPr>
          <a:xfrm>
            <a:off x="838201" y="275708"/>
            <a:ext cx="10515600" cy="1049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Patrick Hand SC"/>
              <a:buNone/>
              <a:defRPr/>
            </a:pPr>
            <a:r>
              <a:rPr lang="en-US" sz="6000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Praktik</a:t>
            </a:r>
            <a:r>
              <a:rPr lang="en-US" sz="6000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US" sz="6000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Bicara</a:t>
            </a:r>
            <a:endParaRPr lang="en-ID" sz="6000" b="1" dirty="0">
              <a:solidFill>
                <a:srgbClr val="FF0000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8886" y="2490898"/>
            <a:ext cx="6418943" cy="4098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dirty="0"/>
              <a:t>Nama </a:t>
            </a:r>
            <a:r>
              <a:rPr lang="en-US" sz="4000" dirty="0" err="1"/>
              <a:t>saya</a:t>
            </a:r>
            <a:r>
              <a:rPr lang="en-US" sz="4000" dirty="0"/>
              <a:t> ….(my name)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Saya</a:t>
            </a:r>
            <a:r>
              <a:rPr lang="en-US" sz="4000" dirty="0"/>
              <a:t> </a:t>
            </a:r>
            <a:r>
              <a:rPr lang="en-US" sz="4000" dirty="0" err="1"/>
              <a:t>lahir</a:t>
            </a:r>
            <a:r>
              <a:rPr lang="en-US" sz="4000" dirty="0"/>
              <a:t> di … (born place)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hari</a:t>
            </a:r>
            <a:r>
              <a:rPr lang="en-US" sz="4000" dirty="0"/>
              <a:t> …. (day)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tanggal</a:t>
            </a:r>
            <a:r>
              <a:rPr lang="en-US" sz="4000" dirty="0"/>
              <a:t> ….(date)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bulan</a:t>
            </a:r>
            <a:r>
              <a:rPr lang="en-US" sz="4000" dirty="0"/>
              <a:t> …… (Month)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tahun</a:t>
            </a:r>
            <a:r>
              <a:rPr lang="en-US" sz="4000" dirty="0"/>
              <a:t> ……( Year)</a:t>
            </a:r>
          </a:p>
        </p:txBody>
      </p:sp>
    </p:spTree>
    <p:extLst>
      <p:ext uri="{BB962C8B-B14F-4D97-AF65-F5344CB8AC3E}">
        <p14:creationId xmlns:p14="http://schemas.microsoft.com/office/powerpoint/2010/main" val="17096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61755D0-5562-4A11-BF40-227C0B57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Jadwal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mingguanku</a:t>
            </a:r>
            <a:endParaRPr lang="en-US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0"/>
            <a:ext cx="3174771" cy="6867328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Graphic 4" descr="Illustration of a purple book character">
            <a:extLst>
              <a:ext uri="{FF2B5EF4-FFF2-40B4-BE49-F238E27FC236}">
                <a16:creationId xmlns:a16="http://schemas.microsoft.com/office/drawing/2014/main" id="{66D65075-912A-0B45-A895-6C8FA62F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855" y="2074690"/>
            <a:ext cx="2240025" cy="270861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97625" y="1935634"/>
            <a:ext cx="8633117" cy="4233672"/>
          </a:xfrm>
        </p:spPr>
        <p:txBody>
          <a:bodyPr>
            <a:normAutofit/>
          </a:bodyPr>
          <a:lstStyle/>
          <a:p>
            <a:pPr algn="just"/>
            <a:r>
              <a:rPr lang="en-ID" sz="3200" dirty="0"/>
              <a:t>Saya </a:t>
            </a:r>
            <a:r>
              <a:rPr lang="en-ID" sz="3200" dirty="0" err="1"/>
              <a:t>kerja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hari</a:t>
            </a:r>
            <a:r>
              <a:rPr lang="en-ID" sz="3200" dirty="0"/>
              <a:t> </a:t>
            </a:r>
            <a:r>
              <a:rPr lang="en-ID" sz="3200" dirty="0" err="1"/>
              <a:t>Senin</a:t>
            </a:r>
            <a:r>
              <a:rPr lang="en-ID" sz="3200" dirty="0"/>
              <a:t> </a:t>
            </a:r>
            <a:r>
              <a:rPr lang="en-ID" sz="3200" dirty="0" err="1"/>
              <a:t>sampai</a:t>
            </a:r>
            <a:r>
              <a:rPr lang="en-ID" sz="3200" dirty="0"/>
              <a:t> </a:t>
            </a:r>
            <a:r>
              <a:rPr lang="en-ID" sz="3200" dirty="0" err="1"/>
              <a:t>Jumat</a:t>
            </a:r>
            <a:r>
              <a:rPr lang="en-ID" sz="3200" dirty="0"/>
              <a:t>. Pada </a:t>
            </a:r>
            <a:r>
              <a:rPr lang="en-ID" sz="3200" dirty="0" err="1"/>
              <a:t>hari</a:t>
            </a:r>
            <a:r>
              <a:rPr lang="en-ID" sz="3200" dirty="0"/>
              <a:t> </a:t>
            </a:r>
            <a:r>
              <a:rPr lang="en-ID" sz="3200" dirty="0" err="1"/>
              <a:t>Sabtu</a:t>
            </a:r>
            <a:r>
              <a:rPr lang="en-ID" sz="3200" dirty="0"/>
              <a:t> dan </a:t>
            </a:r>
            <a:r>
              <a:rPr lang="en-ID" sz="3200" dirty="0" err="1"/>
              <a:t>Minggu</a:t>
            </a:r>
            <a:r>
              <a:rPr lang="en-ID" sz="3200" dirty="0"/>
              <a:t>, </a:t>
            </a:r>
            <a:r>
              <a:rPr lang="en-ID" sz="3200" dirty="0" err="1"/>
              <a:t>saya</a:t>
            </a:r>
            <a:r>
              <a:rPr lang="en-ID" sz="3200" dirty="0"/>
              <a:t> </a:t>
            </a:r>
            <a:r>
              <a:rPr lang="en-ID" sz="3200" dirty="0" err="1"/>
              <a:t>libur</a:t>
            </a:r>
            <a:r>
              <a:rPr lang="en-ID" sz="3200" dirty="0"/>
              <a:t>. </a:t>
            </a:r>
            <a:r>
              <a:rPr lang="en-ID" sz="3200" dirty="0" err="1"/>
              <a:t>Setiap</a:t>
            </a:r>
            <a:r>
              <a:rPr lang="en-ID" sz="3200" dirty="0"/>
              <a:t> </a:t>
            </a:r>
            <a:r>
              <a:rPr lang="en-ID" sz="3200" dirty="0" err="1"/>
              <a:t>minggu</a:t>
            </a:r>
            <a:r>
              <a:rPr lang="en-ID" sz="3200" dirty="0"/>
              <a:t>, </a:t>
            </a:r>
            <a:r>
              <a:rPr lang="en-ID" sz="3200" dirty="0" err="1"/>
              <a:t>saya</a:t>
            </a:r>
            <a:r>
              <a:rPr lang="en-ID" sz="3200" dirty="0"/>
              <a:t> </a:t>
            </a:r>
            <a:r>
              <a:rPr lang="en-ID" sz="3200" dirty="0" err="1"/>
              <a:t>pergi</a:t>
            </a:r>
            <a:r>
              <a:rPr lang="en-ID" sz="3200" dirty="0"/>
              <a:t> </a:t>
            </a:r>
            <a:r>
              <a:rPr lang="en-ID" sz="3200" dirty="0" err="1"/>
              <a:t>ke</a:t>
            </a:r>
            <a:r>
              <a:rPr lang="en-ID" sz="3200" dirty="0"/>
              <a:t> pasar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membeli</a:t>
            </a:r>
            <a:r>
              <a:rPr lang="en-ID" sz="3200" dirty="0"/>
              <a:t> </a:t>
            </a:r>
            <a:r>
              <a:rPr lang="en-ID" sz="3200" dirty="0" err="1"/>
              <a:t>sayur</a:t>
            </a:r>
            <a:r>
              <a:rPr lang="en-ID" sz="3200" dirty="0"/>
              <a:t> dan </a:t>
            </a:r>
            <a:r>
              <a:rPr lang="en-ID" sz="3200" dirty="0" err="1"/>
              <a:t>buah</a:t>
            </a:r>
            <a:r>
              <a:rPr lang="en-ID" sz="3200" dirty="0"/>
              <a:t>. </a:t>
            </a:r>
            <a:r>
              <a:rPr lang="en-ID" sz="3200" dirty="0" err="1"/>
              <a:t>Bulan</a:t>
            </a:r>
            <a:r>
              <a:rPr lang="en-ID" sz="3200" dirty="0"/>
              <a:t> </a:t>
            </a:r>
            <a:r>
              <a:rPr lang="en-ID" sz="3200" dirty="0" err="1"/>
              <a:t>Januari</a:t>
            </a:r>
            <a:r>
              <a:rPr lang="en-ID" sz="3200" dirty="0"/>
              <a:t> </a:t>
            </a:r>
            <a:r>
              <a:rPr lang="en-ID" sz="3200" dirty="0" err="1"/>
              <a:t>sampai</a:t>
            </a:r>
            <a:r>
              <a:rPr lang="en-ID" sz="3200" dirty="0"/>
              <a:t> </a:t>
            </a:r>
            <a:r>
              <a:rPr lang="en-ID" sz="3200" dirty="0" err="1"/>
              <a:t>Maret</a:t>
            </a:r>
            <a:r>
              <a:rPr lang="en-ID" sz="3200" dirty="0"/>
              <a:t> </a:t>
            </a:r>
            <a:r>
              <a:rPr lang="en-ID" sz="3200" dirty="0" err="1"/>
              <a:t>saya</a:t>
            </a:r>
            <a:r>
              <a:rPr lang="en-ID" sz="3200" dirty="0"/>
              <a:t> </a:t>
            </a:r>
            <a:r>
              <a:rPr lang="en-ID" sz="3200" dirty="0" err="1"/>
              <a:t>selalu</a:t>
            </a:r>
            <a:r>
              <a:rPr lang="en-ID" sz="3200" dirty="0"/>
              <a:t> </a:t>
            </a:r>
            <a:r>
              <a:rPr lang="en-ID" sz="3200" dirty="0" err="1"/>
              <a:t>bawa</a:t>
            </a:r>
            <a:r>
              <a:rPr lang="en-ID" sz="3200" dirty="0"/>
              <a:t> </a:t>
            </a:r>
            <a:r>
              <a:rPr lang="en-ID" sz="3200" dirty="0" err="1"/>
              <a:t>payung</a:t>
            </a:r>
            <a:r>
              <a:rPr lang="en-ID" sz="3200" dirty="0"/>
              <a:t> </a:t>
            </a:r>
            <a:r>
              <a:rPr lang="en-ID" sz="3200" dirty="0" err="1"/>
              <a:t>karena</a:t>
            </a:r>
            <a:r>
              <a:rPr lang="en-ID" sz="3200" dirty="0"/>
              <a:t> </a:t>
            </a:r>
            <a:r>
              <a:rPr lang="en-ID" sz="3200" dirty="0" err="1"/>
              <a:t>cuaca</a:t>
            </a:r>
            <a:r>
              <a:rPr lang="en-ID" sz="3200" dirty="0"/>
              <a:t> di Indonesia </a:t>
            </a:r>
            <a:r>
              <a:rPr lang="en-ID" sz="3200" dirty="0" err="1"/>
              <a:t>sering</a:t>
            </a:r>
            <a:r>
              <a:rPr lang="en-ID" sz="3200" dirty="0"/>
              <a:t> </a:t>
            </a:r>
            <a:r>
              <a:rPr lang="en-ID" sz="3200" dirty="0" err="1"/>
              <a:t>hujan</a:t>
            </a:r>
            <a:r>
              <a:rPr lang="en-ID" sz="3200" dirty="0"/>
              <a:t>. Pada </a:t>
            </a:r>
            <a:r>
              <a:rPr lang="en-ID" sz="3200" dirty="0" err="1"/>
              <a:t>bulan</a:t>
            </a:r>
            <a:r>
              <a:rPr lang="en-ID" sz="3200" dirty="0"/>
              <a:t> </a:t>
            </a:r>
            <a:r>
              <a:rPr lang="en-ID" sz="3200" dirty="0" err="1"/>
              <a:t>Juni</a:t>
            </a:r>
            <a:r>
              <a:rPr lang="en-ID" sz="3200" dirty="0"/>
              <a:t> dan </a:t>
            </a:r>
            <a:r>
              <a:rPr lang="en-ID" sz="3200" dirty="0" err="1"/>
              <a:t>Juli</a:t>
            </a:r>
            <a:r>
              <a:rPr lang="en-ID" sz="3200" dirty="0"/>
              <a:t>, </a:t>
            </a:r>
            <a:r>
              <a:rPr lang="en-ID" sz="3200" dirty="0" err="1"/>
              <a:t>saya</a:t>
            </a:r>
            <a:r>
              <a:rPr lang="en-ID" sz="3200" dirty="0"/>
              <a:t> </a:t>
            </a:r>
            <a:r>
              <a:rPr lang="en-ID" sz="3200" dirty="0" err="1"/>
              <a:t>ingin</a:t>
            </a:r>
            <a:r>
              <a:rPr lang="en-ID" sz="3200" dirty="0"/>
              <a:t> </a:t>
            </a:r>
            <a:r>
              <a:rPr lang="en-ID" sz="3200" dirty="0" err="1"/>
              <a:t>pergi</a:t>
            </a:r>
            <a:r>
              <a:rPr lang="en-ID" sz="3200" dirty="0"/>
              <a:t> </a:t>
            </a:r>
            <a:r>
              <a:rPr lang="en-ID" sz="3200" dirty="0" err="1"/>
              <a:t>liburan</a:t>
            </a:r>
            <a:r>
              <a:rPr lang="en-ID" sz="3200" dirty="0"/>
              <a:t> </a:t>
            </a:r>
            <a:r>
              <a:rPr lang="en-ID" sz="3200" dirty="0" err="1"/>
              <a:t>karena</a:t>
            </a:r>
            <a:r>
              <a:rPr lang="en-ID" sz="3200" dirty="0"/>
              <a:t> </a:t>
            </a:r>
            <a:r>
              <a:rPr lang="en-ID" sz="3200" dirty="0" err="1"/>
              <a:t>cuacanya</a:t>
            </a:r>
            <a:r>
              <a:rPr lang="en-ID" sz="3200" dirty="0"/>
              <a:t> </a:t>
            </a:r>
            <a:r>
              <a:rPr lang="en-ID" sz="3200" dirty="0" err="1"/>
              <a:t>cerah</a:t>
            </a:r>
            <a:r>
              <a:rPr lang="en-ID" sz="3200" dirty="0"/>
              <a:t>. Saya paling </a:t>
            </a:r>
            <a:r>
              <a:rPr lang="en-ID" sz="3200" dirty="0" err="1"/>
              <a:t>suka</a:t>
            </a:r>
            <a:r>
              <a:rPr lang="en-ID" sz="3200" dirty="0"/>
              <a:t> </a:t>
            </a:r>
            <a:r>
              <a:rPr lang="en-ID" sz="3200" dirty="0" err="1"/>
              <a:t>bulan</a:t>
            </a:r>
            <a:r>
              <a:rPr lang="en-ID" sz="3200" dirty="0"/>
              <a:t> </a:t>
            </a:r>
            <a:r>
              <a:rPr lang="en-ID" sz="3200" dirty="0" err="1"/>
              <a:t>Desember</a:t>
            </a:r>
            <a:r>
              <a:rPr lang="en-ID" sz="3200" dirty="0"/>
              <a:t>, </a:t>
            </a:r>
            <a:r>
              <a:rPr lang="en-ID" sz="3200" dirty="0" err="1"/>
              <a:t>karena</a:t>
            </a:r>
            <a:r>
              <a:rPr lang="en-ID" sz="3200" dirty="0"/>
              <a:t> </a:t>
            </a:r>
            <a:r>
              <a:rPr lang="en-ID" sz="3200" dirty="0" err="1"/>
              <a:t>ada</a:t>
            </a:r>
            <a:r>
              <a:rPr lang="en-ID" sz="3200" dirty="0"/>
              <a:t> </a:t>
            </a:r>
            <a:r>
              <a:rPr lang="en-ID" sz="3200" dirty="0" err="1"/>
              <a:t>banyak</a:t>
            </a:r>
            <a:r>
              <a:rPr lang="en-ID" sz="3200" dirty="0"/>
              <a:t> </a:t>
            </a:r>
            <a:r>
              <a:rPr lang="en-ID" sz="3200" dirty="0" err="1"/>
              <a:t>hari</a:t>
            </a:r>
            <a:r>
              <a:rPr lang="en-ID" sz="3200" dirty="0"/>
              <a:t> </a:t>
            </a:r>
            <a:r>
              <a:rPr lang="en-ID" sz="3200" dirty="0" err="1"/>
              <a:t>libur</a:t>
            </a:r>
            <a:r>
              <a:rPr lang="en-ID" sz="3200" dirty="0"/>
              <a:t> dan </a:t>
            </a:r>
            <a:r>
              <a:rPr lang="en-ID" sz="3200" dirty="0" err="1"/>
              <a:t>suasana</a:t>
            </a:r>
            <a:r>
              <a:rPr lang="en-ID" sz="3200" dirty="0"/>
              <a:t> </a:t>
            </a:r>
            <a:r>
              <a:rPr lang="en-ID" sz="3200" dirty="0" err="1"/>
              <a:t>menyenangkan</a:t>
            </a:r>
            <a:r>
              <a:rPr lang="en-ID" sz="3200" dirty="0"/>
              <a:t>.</a:t>
            </a:r>
            <a:endParaRPr lang="en-US" sz="32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74736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61755D0-5562-4A11-BF40-227C0B57E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091" y="583796"/>
            <a:ext cx="6857999" cy="653547"/>
          </a:xfrm>
        </p:spPr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Jawab </a:t>
            </a:r>
            <a:r>
              <a:rPr lang="en-US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pertanyaan</a:t>
            </a:r>
            <a:endParaRPr lang="en-US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" y="0"/>
            <a:ext cx="2830287" cy="6867328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Graphic 4" descr="Illustration of a purple book character">
            <a:extLst>
              <a:ext uri="{FF2B5EF4-FFF2-40B4-BE49-F238E27FC236}">
                <a16:creationId xmlns:a16="http://schemas.microsoft.com/office/drawing/2014/main" id="{66D65075-912A-0B45-A895-6C8FA62F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855" y="2074690"/>
            <a:ext cx="2240025" cy="270861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4770" y="1814286"/>
            <a:ext cx="8755972" cy="4355020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D" sz="3600" dirty="0"/>
              <a:t>Hari </a:t>
            </a:r>
            <a:r>
              <a:rPr lang="en-ID" sz="3600" dirty="0" err="1"/>
              <a:t>apa</a:t>
            </a:r>
            <a:r>
              <a:rPr lang="en-ID" sz="3600" dirty="0"/>
              <a:t> </a:t>
            </a:r>
            <a:r>
              <a:rPr lang="en-ID" sz="3600" dirty="0" err="1"/>
              <a:t>penulis</a:t>
            </a:r>
            <a:r>
              <a:rPr lang="en-ID" sz="3600" dirty="0"/>
              <a:t> </a:t>
            </a:r>
            <a:r>
              <a:rPr lang="en-ID" sz="3600" dirty="0" err="1"/>
              <a:t>bekerja</a:t>
            </a:r>
            <a:r>
              <a:rPr lang="en-ID" sz="3600" dirty="0"/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sz="3600" dirty="0"/>
              <a:t>Kapan </a:t>
            </a:r>
            <a:r>
              <a:rPr lang="en-ID" sz="3600" dirty="0" err="1"/>
              <a:t>penulis</a:t>
            </a:r>
            <a:r>
              <a:rPr lang="en-ID" sz="3600" dirty="0"/>
              <a:t> </a:t>
            </a:r>
            <a:r>
              <a:rPr lang="en-ID" sz="3600" dirty="0" err="1"/>
              <a:t>libur</a:t>
            </a:r>
            <a:r>
              <a:rPr lang="en-ID" sz="3600" dirty="0"/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sz="3600" dirty="0" err="1"/>
              <a:t>Apa</a:t>
            </a:r>
            <a:r>
              <a:rPr lang="en-ID" sz="3600" dirty="0"/>
              <a:t> yang </a:t>
            </a:r>
            <a:r>
              <a:rPr lang="en-ID" sz="3600" dirty="0" err="1"/>
              <a:t>penulis</a:t>
            </a:r>
            <a:r>
              <a:rPr lang="en-ID" sz="3600" dirty="0"/>
              <a:t> </a:t>
            </a:r>
            <a:r>
              <a:rPr lang="en-ID" sz="3600" dirty="0" err="1"/>
              <a:t>lakukan</a:t>
            </a:r>
            <a:r>
              <a:rPr lang="en-ID" sz="3600" dirty="0"/>
              <a:t> </a:t>
            </a:r>
            <a:r>
              <a:rPr lang="en-ID" sz="3600" dirty="0" err="1"/>
              <a:t>setiap</a:t>
            </a:r>
            <a:r>
              <a:rPr lang="en-ID" sz="3600" dirty="0"/>
              <a:t> </a:t>
            </a:r>
            <a:r>
              <a:rPr lang="en-ID" sz="3600" dirty="0" err="1"/>
              <a:t>minggu</a:t>
            </a:r>
            <a:r>
              <a:rPr lang="en-ID" sz="3600" dirty="0"/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sz="3600" dirty="0" err="1"/>
              <a:t>Mengapa</a:t>
            </a:r>
            <a:r>
              <a:rPr lang="en-ID" sz="3600" dirty="0"/>
              <a:t> </a:t>
            </a:r>
            <a:r>
              <a:rPr lang="en-ID" sz="3600" dirty="0" err="1"/>
              <a:t>penulis</a:t>
            </a:r>
            <a:r>
              <a:rPr lang="en-ID" sz="3600" dirty="0"/>
              <a:t> </a:t>
            </a:r>
            <a:r>
              <a:rPr lang="en-ID" sz="3600" dirty="0" err="1"/>
              <a:t>selalu</a:t>
            </a:r>
            <a:r>
              <a:rPr lang="en-ID" sz="3600" dirty="0"/>
              <a:t> </a:t>
            </a:r>
            <a:r>
              <a:rPr lang="en-ID" sz="3600" dirty="0" err="1"/>
              <a:t>bawa</a:t>
            </a:r>
            <a:r>
              <a:rPr lang="en-ID" sz="3600" dirty="0"/>
              <a:t> </a:t>
            </a:r>
            <a:r>
              <a:rPr lang="en-ID" sz="3600" dirty="0" err="1"/>
              <a:t>payung</a:t>
            </a:r>
            <a:r>
              <a:rPr lang="en-ID" sz="3600" dirty="0"/>
              <a:t> pada </a:t>
            </a:r>
            <a:r>
              <a:rPr lang="en-ID" sz="3600" dirty="0" err="1"/>
              <a:t>bulan</a:t>
            </a:r>
            <a:r>
              <a:rPr lang="en-ID" sz="3600" dirty="0"/>
              <a:t> </a:t>
            </a:r>
            <a:r>
              <a:rPr lang="en-ID" sz="3600" dirty="0" err="1"/>
              <a:t>Januari</a:t>
            </a:r>
            <a:r>
              <a:rPr lang="en-ID" sz="3600" dirty="0"/>
              <a:t> </a:t>
            </a:r>
            <a:r>
              <a:rPr lang="en-ID" sz="3600" dirty="0" err="1"/>
              <a:t>sampai</a:t>
            </a:r>
            <a:r>
              <a:rPr lang="en-ID" sz="3600" dirty="0"/>
              <a:t> </a:t>
            </a:r>
            <a:r>
              <a:rPr lang="en-ID" sz="3600" dirty="0" err="1"/>
              <a:t>Maret</a:t>
            </a:r>
            <a:r>
              <a:rPr lang="en-ID" sz="3600" dirty="0"/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sz="3600" dirty="0" err="1"/>
              <a:t>Mengapa</a:t>
            </a:r>
            <a:r>
              <a:rPr lang="en-ID" sz="3600" dirty="0"/>
              <a:t> </a:t>
            </a:r>
            <a:r>
              <a:rPr lang="en-ID" sz="3600" dirty="0" err="1"/>
              <a:t>penulis</a:t>
            </a:r>
            <a:r>
              <a:rPr lang="en-ID" sz="3600" dirty="0"/>
              <a:t> </a:t>
            </a:r>
            <a:r>
              <a:rPr lang="en-ID" sz="3600" dirty="0" err="1"/>
              <a:t>suka</a:t>
            </a:r>
            <a:r>
              <a:rPr lang="en-ID" sz="3600" dirty="0"/>
              <a:t> </a:t>
            </a:r>
            <a:r>
              <a:rPr lang="en-ID" sz="3600" dirty="0" err="1"/>
              <a:t>bulan</a:t>
            </a:r>
            <a:r>
              <a:rPr lang="en-ID" sz="3600" dirty="0"/>
              <a:t> </a:t>
            </a:r>
            <a:r>
              <a:rPr lang="en-ID" sz="3600" dirty="0" err="1"/>
              <a:t>Desember</a:t>
            </a:r>
            <a:r>
              <a:rPr lang="en-ID" sz="3600" dirty="0"/>
              <a:t>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50329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4B320A-560D-4493-AA6A-79A2C8DC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Hari  </a:t>
            </a:r>
            <a:r>
              <a:rPr lang="en-US" dirty="0" err="1"/>
              <a:t>penting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FFE3-A7C7-9249-96D4-8D9AC15E0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772" y="2724912"/>
            <a:ext cx="9593942" cy="3657600"/>
          </a:xfrm>
        </p:spPr>
        <p:txBody>
          <a:bodyPr>
            <a:normAutofit/>
          </a:bodyPr>
          <a:lstStyle/>
          <a:p>
            <a:pPr algn="ctr"/>
            <a:r>
              <a:rPr lang="en-ID" sz="2800" dirty="0"/>
              <a:t>Kapan </a:t>
            </a:r>
            <a:r>
              <a:rPr lang="en-ID" sz="2800" dirty="0" err="1"/>
              <a:t>tanggal</a:t>
            </a:r>
            <a:r>
              <a:rPr lang="en-ID" sz="2800" dirty="0"/>
              <a:t> </a:t>
            </a:r>
            <a:r>
              <a:rPr lang="en-ID" sz="2800" dirty="0" err="1"/>
              <a:t>penting</a:t>
            </a:r>
            <a:r>
              <a:rPr lang="en-ID" sz="2800" dirty="0"/>
              <a:t> </a:t>
            </a:r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dirty="0" err="1"/>
              <a:t>hidup</a:t>
            </a:r>
            <a:r>
              <a:rPr lang="en-ID" sz="2800" dirty="0"/>
              <a:t> : </a:t>
            </a:r>
            <a:r>
              <a:rPr lang="en-ID" sz="2800" dirty="0" err="1"/>
              <a:t>hari</a:t>
            </a:r>
            <a:r>
              <a:rPr lang="en-ID" sz="2800" dirty="0"/>
              <a:t> </a:t>
            </a:r>
            <a:r>
              <a:rPr lang="en-ID" sz="2800" dirty="0" err="1"/>
              <a:t>lahir</a:t>
            </a:r>
            <a:r>
              <a:rPr lang="en-ID" sz="2800" dirty="0"/>
              <a:t>, </a:t>
            </a:r>
            <a:r>
              <a:rPr lang="en-ID" sz="2800" dirty="0" err="1"/>
              <a:t>hari</a:t>
            </a:r>
            <a:r>
              <a:rPr lang="en-ID" sz="2800" dirty="0"/>
              <a:t> </a:t>
            </a:r>
            <a:r>
              <a:rPr lang="en-ID" sz="2800" dirty="0" err="1"/>
              <a:t>pertama</a:t>
            </a:r>
            <a:r>
              <a:rPr lang="en-ID" sz="2800" dirty="0"/>
              <a:t> </a:t>
            </a:r>
            <a:r>
              <a:rPr lang="en-ID" sz="2800" dirty="0" err="1"/>
              <a:t>kerja</a:t>
            </a:r>
            <a:r>
              <a:rPr lang="en-ID" sz="2800" dirty="0"/>
              <a:t>, </a:t>
            </a:r>
            <a:r>
              <a:rPr lang="en-ID" sz="2800" dirty="0" err="1"/>
              <a:t>menikah</a:t>
            </a:r>
            <a:r>
              <a:rPr lang="en-ID" sz="2800" dirty="0"/>
              <a:t>, </a:t>
            </a:r>
            <a:r>
              <a:rPr lang="en-ID" sz="2800" dirty="0" err="1"/>
              <a:t>meninggal</a:t>
            </a:r>
            <a:r>
              <a:rPr lang="en-ID" sz="2800" dirty="0"/>
              <a:t>, </a:t>
            </a:r>
            <a:r>
              <a:rPr lang="en-ID" sz="2800" dirty="0" err="1"/>
              <a:t>pindah</a:t>
            </a:r>
            <a:r>
              <a:rPr lang="en-ID" sz="2800" dirty="0"/>
              <a:t> </a:t>
            </a:r>
            <a:r>
              <a:rPr lang="en-ID" sz="2800" dirty="0" err="1"/>
              <a:t>rumah</a:t>
            </a:r>
            <a:r>
              <a:rPr lang="en-ID" sz="2800" dirty="0"/>
              <a:t> </a:t>
            </a:r>
            <a:r>
              <a:rPr lang="en-ID" sz="2800" dirty="0" err="1"/>
              <a:t>dll</a:t>
            </a:r>
            <a:endParaRPr lang="en-ID" sz="2800" dirty="0"/>
          </a:p>
          <a:p>
            <a:pPr algn="ctr"/>
            <a:r>
              <a:rPr lang="en-ID" sz="2800" dirty="0" err="1"/>
              <a:t>Sebutkan</a:t>
            </a:r>
            <a:r>
              <a:rPr lang="en-ID" sz="2800" dirty="0"/>
              <a:t> </a:t>
            </a:r>
            <a:r>
              <a:rPr lang="en-ID" sz="2800" dirty="0" err="1"/>
              <a:t>tanggalnya</a:t>
            </a:r>
            <a:r>
              <a:rPr lang="en-ID" sz="2800" dirty="0"/>
              <a:t> </a:t>
            </a:r>
            <a:r>
              <a:rPr lang="en-ID" sz="2800" dirty="0" err="1"/>
              <a:t>dengan</a:t>
            </a:r>
            <a:r>
              <a:rPr lang="en-ID" sz="2800" dirty="0"/>
              <a:t> </a:t>
            </a:r>
            <a:r>
              <a:rPr lang="en-ID" sz="2800" dirty="0" err="1"/>
              <a:t>bicara</a:t>
            </a:r>
            <a:r>
              <a:rPr lang="en-ID" sz="2800" dirty="0"/>
              <a:t>!</a:t>
            </a:r>
          </a:p>
          <a:p>
            <a:pPr algn="ctr"/>
            <a:endParaRPr lang="en-ID" sz="2800" dirty="0"/>
          </a:p>
          <a:p>
            <a:pPr algn="ctr"/>
            <a:r>
              <a:rPr lang="en-US" sz="2800" i="1" dirty="0"/>
              <a:t>When are the important dates in your life: birth, first day of work, marriage, death, moving house, etc.? Speak the dates!</a:t>
            </a:r>
            <a:endParaRPr lang="en-ID" sz="2800" i="1" dirty="0"/>
          </a:p>
        </p:txBody>
      </p:sp>
    </p:spTree>
    <p:extLst>
      <p:ext uri="{BB962C8B-B14F-4D97-AF65-F5344CB8AC3E}">
        <p14:creationId xmlns:p14="http://schemas.microsoft.com/office/powerpoint/2010/main" val="524939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4B320A-560D-4493-AA6A-79A2C8DC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Musim</a:t>
            </a:r>
            <a:r>
              <a:rPr lang="en-US" dirty="0"/>
              <a:t> dan </a:t>
            </a:r>
            <a:r>
              <a:rPr lang="en-US" dirty="0" err="1"/>
              <a:t>Cuaca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FFE3-A7C7-9249-96D4-8D9AC15E0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772" y="2724912"/>
            <a:ext cx="9593942" cy="3657600"/>
          </a:xfrm>
        </p:spPr>
        <p:txBody>
          <a:bodyPr>
            <a:normAutofit/>
          </a:bodyPr>
          <a:lstStyle/>
          <a:p>
            <a:pPr algn="ctr"/>
            <a:r>
              <a:rPr lang="en-ID" sz="2800" dirty="0"/>
              <a:t>Ada </a:t>
            </a:r>
            <a:r>
              <a:rPr lang="en-ID" sz="2800" dirty="0" err="1"/>
              <a:t>musim</a:t>
            </a:r>
            <a:r>
              <a:rPr lang="en-ID" sz="2800" dirty="0"/>
              <a:t> </a:t>
            </a:r>
            <a:r>
              <a:rPr lang="en-ID" sz="2800" dirty="0" err="1"/>
              <a:t>apa</a:t>
            </a:r>
            <a:r>
              <a:rPr lang="en-ID" sz="2800" dirty="0"/>
              <a:t> </a:t>
            </a:r>
            <a:r>
              <a:rPr lang="en-ID" sz="2800" dirty="0" err="1"/>
              <a:t>saja</a:t>
            </a:r>
            <a:r>
              <a:rPr lang="en-ID" sz="2800" dirty="0"/>
              <a:t> di </a:t>
            </a:r>
            <a:r>
              <a:rPr lang="en-ID" sz="2800" dirty="0" err="1"/>
              <a:t>negaramu</a:t>
            </a:r>
            <a:r>
              <a:rPr lang="en-ID" sz="2800" dirty="0"/>
              <a:t>?</a:t>
            </a:r>
          </a:p>
          <a:p>
            <a:pPr algn="ctr"/>
            <a:r>
              <a:rPr lang="en-ID" sz="2800" dirty="0"/>
              <a:t>Kapan </a:t>
            </a:r>
            <a:r>
              <a:rPr lang="en-ID" sz="2800" dirty="0" err="1"/>
              <a:t>musim</a:t>
            </a:r>
            <a:r>
              <a:rPr lang="en-ID" sz="2800" dirty="0"/>
              <a:t> </a:t>
            </a:r>
            <a:r>
              <a:rPr lang="en-ID" sz="2800" dirty="0" err="1"/>
              <a:t>itu</a:t>
            </a:r>
            <a:r>
              <a:rPr lang="en-ID" sz="2800" dirty="0"/>
              <a:t> </a:t>
            </a:r>
            <a:r>
              <a:rPr lang="en-ID" sz="2800" dirty="0" err="1"/>
              <a:t>mulai</a:t>
            </a:r>
            <a:r>
              <a:rPr lang="en-ID" sz="2800" dirty="0"/>
              <a:t> dan </a:t>
            </a:r>
            <a:r>
              <a:rPr lang="en-ID" sz="2800" dirty="0" err="1"/>
              <a:t>berakhir</a:t>
            </a:r>
            <a:r>
              <a:rPr lang="en-ID" sz="2800" dirty="0"/>
              <a:t>? </a:t>
            </a:r>
            <a:r>
              <a:rPr lang="en-ID" sz="2800" dirty="0" err="1"/>
              <a:t>Tanggal</a:t>
            </a:r>
            <a:r>
              <a:rPr lang="en-ID" sz="2800" dirty="0"/>
              <a:t>/</a:t>
            </a:r>
            <a:r>
              <a:rPr lang="en-ID" sz="2800" dirty="0" err="1"/>
              <a:t>bulan</a:t>
            </a:r>
            <a:r>
              <a:rPr lang="en-ID" sz="2800" dirty="0"/>
              <a:t> </a:t>
            </a:r>
            <a:r>
              <a:rPr lang="en-ID" sz="2800" dirty="0" err="1"/>
              <a:t>apa</a:t>
            </a:r>
            <a:r>
              <a:rPr lang="en-ID" sz="2800" dirty="0"/>
              <a:t>?</a:t>
            </a:r>
          </a:p>
          <a:p>
            <a:pPr algn="ctr"/>
            <a:endParaRPr lang="en-ID" sz="2800" dirty="0"/>
          </a:p>
          <a:p>
            <a:pPr algn="ctr"/>
            <a:r>
              <a:rPr lang="en-US" sz="2800" i="1" dirty="0"/>
              <a:t>What seasons are there in your </a:t>
            </a:r>
            <a:r>
              <a:rPr lang="en-US" sz="2800" i="1" dirty="0" err="1"/>
              <a:t>country?When</a:t>
            </a:r>
            <a:r>
              <a:rPr lang="en-US" sz="2800" i="1" dirty="0"/>
              <a:t> do they start and end? What date/month?</a:t>
            </a:r>
            <a:endParaRPr lang="en-ID" sz="2800" i="1" dirty="0"/>
          </a:p>
        </p:txBody>
      </p:sp>
    </p:spTree>
    <p:extLst>
      <p:ext uri="{BB962C8B-B14F-4D97-AF65-F5344CB8AC3E}">
        <p14:creationId xmlns:p14="http://schemas.microsoft.com/office/powerpoint/2010/main" val="2255184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D4A52C-1616-4DE9-8F38-FB14C873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dobe Garamond Pro Bold" panose="02020702060506020403" pitchFamily="18" charset="0"/>
              </a:rPr>
              <a:t>Jadwal</a:t>
            </a:r>
            <a:r>
              <a:rPr lang="en-US" dirty="0">
                <a:latin typeface="Adobe Garamond Pro Bold" panose="02020702060506020403" pitchFamily="18" charset="0"/>
              </a:rPr>
              <a:t> </a:t>
            </a:r>
            <a:r>
              <a:rPr lang="en-US" dirty="0" err="1">
                <a:latin typeface="Adobe Garamond Pro Bold" panose="02020702060506020403" pitchFamily="18" charset="0"/>
              </a:rPr>
              <a:t>Mingguan</a:t>
            </a:r>
            <a:br>
              <a:rPr lang="en-US" dirty="0">
                <a:latin typeface="Adobe Garamond Pro Bold" panose="02020702060506020403" pitchFamily="18" charset="0"/>
              </a:rPr>
            </a:br>
            <a:r>
              <a:rPr lang="en-US" sz="2800" dirty="0" err="1">
                <a:latin typeface="Adobe Garamond Pro Bold" panose="02020702060506020403" pitchFamily="18" charset="0"/>
              </a:rPr>
              <a:t>buat</a:t>
            </a:r>
            <a:r>
              <a:rPr lang="en-US" sz="2800" dirty="0">
                <a:latin typeface="Adobe Garamond Pro Bold" panose="02020702060506020403" pitchFamily="18" charset="0"/>
              </a:rPr>
              <a:t> </a:t>
            </a:r>
            <a:r>
              <a:rPr lang="en-US" sz="2800" dirty="0" err="1">
                <a:latin typeface="Adobe Garamond Pro Bold" panose="02020702060506020403" pitchFamily="18" charset="0"/>
              </a:rPr>
              <a:t>sendiri</a:t>
            </a:r>
            <a:endParaRPr lang="en-US" dirty="0">
              <a:latin typeface="Adobe Garamond Pro Bold" panose="02020702060506020403" pitchFamily="18" charset="0"/>
            </a:endParaRPr>
          </a:p>
        </p:txBody>
      </p:sp>
      <p:pic>
        <p:nvPicPr>
          <p:cNvPr id="9" name="Graphic 8" descr="Illustration of a globe character ">
            <a:extLst>
              <a:ext uri="{FF2B5EF4-FFF2-40B4-BE49-F238E27FC236}">
                <a16:creationId xmlns:a16="http://schemas.microsoft.com/office/drawing/2014/main" id="{ABDECD10-E1E7-4208-B869-09373BB9D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208" y="212510"/>
            <a:ext cx="2645040" cy="2089582"/>
          </a:xfrm>
          <a:prstGeom prst="rect">
            <a:avLst/>
          </a:prstGeom>
        </p:spPr>
      </p:pic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2767E2A8-F4E3-4677-B95A-1B70A4E3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467466"/>
              </p:ext>
            </p:extLst>
          </p:nvPr>
        </p:nvGraphicFramePr>
        <p:xfrm>
          <a:off x="290286" y="2714171"/>
          <a:ext cx="11741968" cy="4286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24">
                  <a:extLst>
                    <a:ext uri="{9D8B030D-6E8A-4147-A177-3AD203B41FA5}">
                      <a16:colId xmlns:a16="http://schemas.microsoft.com/office/drawing/2014/main" val="2200881296"/>
                    </a:ext>
                  </a:extLst>
                </a:gridCol>
                <a:gridCol w="1677424">
                  <a:extLst>
                    <a:ext uri="{9D8B030D-6E8A-4147-A177-3AD203B41FA5}">
                      <a16:colId xmlns:a16="http://schemas.microsoft.com/office/drawing/2014/main" val="602181085"/>
                    </a:ext>
                  </a:extLst>
                </a:gridCol>
                <a:gridCol w="1677424">
                  <a:extLst>
                    <a:ext uri="{9D8B030D-6E8A-4147-A177-3AD203B41FA5}">
                      <a16:colId xmlns:a16="http://schemas.microsoft.com/office/drawing/2014/main" val="102654454"/>
                    </a:ext>
                  </a:extLst>
                </a:gridCol>
                <a:gridCol w="1677424">
                  <a:extLst>
                    <a:ext uri="{9D8B030D-6E8A-4147-A177-3AD203B41FA5}">
                      <a16:colId xmlns:a16="http://schemas.microsoft.com/office/drawing/2014/main" val="3985687703"/>
                    </a:ext>
                  </a:extLst>
                </a:gridCol>
                <a:gridCol w="1677424">
                  <a:extLst>
                    <a:ext uri="{9D8B030D-6E8A-4147-A177-3AD203B41FA5}">
                      <a16:colId xmlns:a16="http://schemas.microsoft.com/office/drawing/2014/main" val="1485971282"/>
                    </a:ext>
                  </a:extLst>
                </a:gridCol>
                <a:gridCol w="1677424">
                  <a:extLst>
                    <a:ext uri="{9D8B030D-6E8A-4147-A177-3AD203B41FA5}">
                      <a16:colId xmlns:a16="http://schemas.microsoft.com/office/drawing/2014/main" val="3884180560"/>
                    </a:ext>
                  </a:extLst>
                </a:gridCol>
                <a:gridCol w="1677424">
                  <a:extLst>
                    <a:ext uri="{9D8B030D-6E8A-4147-A177-3AD203B41FA5}">
                      <a16:colId xmlns:a16="http://schemas.microsoft.com/office/drawing/2014/main" val="1507942156"/>
                    </a:ext>
                  </a:extLst>
                </a:gridCol>
              </a:tblGrid>
              <a:tr h="72571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Senin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Selasa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Rabu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Kamis</a:t>
                      </a:r>
                      <a:r>
                        <a:rPr lang="en-US" sz="2800" dirty="0"/>
                        <a:t> 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Jumat</a:t>
                      </a:r>
                      <a:r>
                        <a:rPr lang="en-US" sz="2800" dirty="0"/>
                        <a:t> 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Sabtu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minggu</a:t>
                      </a:r>
                      <a:endParaRPr lang="en-ID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958864"/>
                  </a:ext>
                </a:extLst>
              </a:tr>
              <a:tr h="72571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Kerja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Kerja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Kerja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Kerja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Olahraga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Santai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Jalan </a:t>
                      </a:r>
                      <a:r>
                        <a:rPr lang="en-US" sz="2800" dirty="0" err="1"/>
                        <a:t>jalan</a:t>
                      </a:r>
                      <a:endParaRPr lang="en-ID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1053318"/>
                  </a:ext>
                </a:extLst>
              </a:tr>
              <a:tr h="72571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Baca </a:t>
                      </a:r>
                      <a:r>
                        <a:rPr lang="en-US" sz="2800" dirty="0" err="1"/>
                        <a:t>buku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Belajar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Cuci</a:t>
                      </a:r>
                      <a:r>
                        <a:rPr lang="en-US" sz="2800" dirty="0"/>
                        <a:t> baju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Lihat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netflix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Kerja</a:t>
                      </a:r>
                      <a:r>
                        <a:rPr lang="en-US" sz="2800" dirty="0"/>
                        <a:t> 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Minum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teh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Masak</a:t>
                      </a:r>
                      <a:endParaRPr lang="en-ID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493312"/>
                  </a:ext>
                </a:extLst>
              </a:tr>
              <a:tr h="72571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Yoga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olahraga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Main game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masak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Belanja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Nonton</a:t>
                      </a:r>
                      <a:r>
                        <a:rPr lang="en-US" sz="2800" dirty="0"/>
                        <a:t> film</a:t>
                      </a:r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Main game</a:t>
                      </a:r>
                      <a:endParaRPr lang="en-ID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98752"/>
                  </a:ext>
                </a:extLst>
              </a:tr>
              <a:tr h="725714">
                <a:tc>
                  <a:txBody>
                    <a:bodyPr/>
                    <a:lstStyle/>
                    <a:p>
                      <a:pPr algn="ctr"/>
                      <a:endParaRPr lang="en-ID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D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84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246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7C4AF-BB0C-400D-A8AA-F137B026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662605"/>
            <a:ext cx="6857999" cy="653547"/>
          </a:xfrm>
        </p:spPr>
        <p:txBody>
          <a:bodyPr/>
          <a:lstStyle/>
          <a:p>
            <a:pPr algn="ctr"/>
            <a:r>
              <a:rPr lang="en-US" dirty="0"/>
              <a:t>Dialog </a:t>
            </a:r>
            <a:r>
              <a:rPr lang="en-US" dirty="0" err="1"/>
              <a:t>jadwal</a:t>
            </a:r>
            <a:endParaRPr lang="en-US" dirty="0"/>
          </a:p>
        </p:txBody>
      </p:sp>
      <p:pic>
        <p:nvPicPr>
          <p:cNvPr id="9" name="Graphic 8" descr="Illustration of a ruler character ">
            <a:extLst>
              <a:ext uri="{FF2B5EF4-FFF2-40B4-BE49-F238E27FC236}">
                <a16:creationId xmlns:a16="http://schemas.microsoft.com/office/drawing/2014/main" id="{4B6C31E8-1BAB-42D1-B428-60F38E95B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23556" flipH="1">
            <a:off x="297409" y="441612"/>
            <a:ext cx="2435717" cy="77229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2FEA6-8248-4738-93E1-2DBD6D4DB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8446" y="1961723"/>
            <a:ext cx="6423611" cy="4233672"/>
          </a:xfrm>
        </p:spPr>
        <p:txBody>
          <a:bodyPr>
            <a:normAutofit/>
          </a:bodyPr>
          <a:lstStyle/>
          <a:p>
            <a:r>
              <a:rPr lang="en-US" sz="2400" dirty="0"/>
              <a:t>A: Halo…… Hari </a:t>
            </a:r>
            <a:r>
              <a:rPr lang="en-US" sz="2400" dirty="0" err="1"/>
              <a:t>apa</a:t>
            </a:r>
            <a:r>
              <a:rPr lang="en-US" sz="2400" dirty="0"/>
              <a:t> </a:t>
            </a:r>
            <a:r>
              <a:rPr lang="en-US" sz="2400" dirty="0" err="1"/>
              <a:t>kamu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? </a:t>
            </a:r>
          </a:p>
          <a:p>
            <a:r>
              <a:rPr lang="en-US" sz="2400" dirty="0"/>
              <a:t>B: Halo….. Saya </a:t>
            </a:r>
            <a:r>
              <a:rPr lang="en-US" sz="2400" dirty="0" err="1"/>
              <a:t>kerja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hari</a:t>
            </a:r>
            <a:r>
              <a:rPr lang="en-US" sz="2400" dirty="0"/>
              <a:t> …..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dirty="0" err="1"/>
              <a:t>hari</a:t>
            </a:r>
            <a:r>
              <a:rPr lang="en-US" sz="2400" dirty="0"/>
              <a:t> </a:t>
            </a:r>
          </a:p>
          <a:p>
            <a:r>
              <a:rPr lang="en-US" sz="2400" dirty="0"/>
              <a:t>A: </a:t>
            </a:r>
            <a:r>
              <a:rPr lang="en-US" sz="2400" dirty="0" err="1"/>
              <a:t>lalu</a:t>
            </a:r>
            <a:r>
              <a:rPr lang="en-US" sz="2400" dirty="0"/>
              <a:t>, Hari </a:t>
            </a:r>
            <a:r>
              <a:rPr lang="en-US" sz="2400" dirty="0" err="1"/>
              <a:t>apa</a:t>
            </a:r>
            <a:r>
              <a:rPr lang="en-US" sz="2400" dirty="0"/>
              <a:t> </a:t>
            </a:r>
            <a:r>
              <a:rPr lang="en-US" sz="2400" dirty="0" err="1"/>
              <a:t>kamu</a:t>
            </a:r>
            <a:r>
              <a:rPr lang="en-US" sz="2400" dirty="0"/>
              <a:t> </a:t>
            </a:r>
            <a:r>
              <a:rPr lang="en-US" sz="2400" dirty="0" err="1"/>
              <a:t>libur</a:t>
            </a:r>
            <a:r>
              <a:rPr lang="en-US" sz="2400" dirty="0"/>
              <a:t> ? </a:t>
            </a:r>
          </a:p>
          <a:p>
            <a:r>
              <a:rPr lang="en-US" sz="2400" dirty="0"/>
              <a:t>B: Saya </a:t>
            </a:r>
            <a:r>
              <a:rPr lang="en-US" sz="2400" dirty="0" err="1"/>
              <a:t>libur</a:t>
            </a:r>
            <a:r>
              <a:rPr lang="en-US" sz="2400" dirty="0"/>
              <a:t> </a:t>
            </a:r>
            <a:r>
              <a:rPr lang="en-US" sz="2400" dirty="0" err="1"/>
              <a:t>hari</a:t>
            </a:r>
            <a:r>
              <a:rPr lang="en-US" sz="2400" dirty="0"/>
              <a:t> ….dan ….. </a:t>
            </a:r>
            <a:r>
              <a:rPr lang="en-US" sz="2400" dirty="0" err="1"/>
              <a:t>Biasanya</a:t>
            </a:r>
            <a:r>
              <a:rPr lang="en-US" sz="2400" dirty="0"/>
              <a:t> </a:t>
            </a:r>
            <a:r>
              <a:rPr lang="en-US" sz="2400" dirty="0" err="1"/>
              <a:t>saya</a:t>
            </a:r>
            <a:r>
              <a:rPr lang="en-US" sz="2400" dirty="0"/>
              <a:t> ……. </a:t>
            </a:r>
          </a:p>
          <a:p>
            <a:r>
              <a:rPr lang="en-US" sz="2400" dirty="0"/>
              <a:t>A: </a:t>
            </a:r>
            <a:r>
              <a:rPr lang="en-US" sz="2400" dirty="0" err="1"/>
              <a:t>Apa</a:t>
            </a:r>
            <a:r>
              <a:rPr lang="en-US" sz="2400" dirty="0"/>
              <a:t> </a:t>
            </a:r>
            <a:r>
              <a:rPr lang="en-US" sz="2400" dirty="0" err="1"/>
              <a:t>aktivitas</a:t>
            </a:r>
            <a:r>
              <a:rPr lang="en-US" sz="2400" dirty="0"/>
              <a:t> </a:t>
            </a:r>
            <a:r>
              <a:rPr lang="en-US" sz="2400" dirty="0" err="1"/>
              <a:t>kamu</a:t>
            </a:r>
            <a:r>
              <a:rPr lang="en-US" sz="2400" dirty="0"/>
              <a:t> di </a:t>
            </a:r>
            <a:r>
              <a:rPr lang="en-US" sz="2400" dirty="0" err="1"/>
              <a:t>hari</a:t>
            </a:r>
            <a:r>
              <a:rPr lang="en-US" sz="2400" dirty="0"/>
              <a:t> </a:t>
            </a:r>
            <a:r>
              <a:rPr lang="en-US" sz="2400" dirty="0" err="1"/>
              <a:t>jumat</a:t>
            </a:r>
            <a:r>
              <a:rPr lang="en-US" sz="2400" dirty="0"/>
              <a:t>? </a:t>
            </a:r>
          </a:p>
          <a:p>
            <a:r>
              <a:rPr lang="en-US" sz="2400" dirty="0"/>
              <a:t>B: Hari </a:t>
            </a:r>
            <a:r>
              <a:rPr lang="en-US" sz="2400" dirty="0" err="1"/>
              <a:t>jumat</a:t>
            </a:r>
            <a:r>
              <a:rPr lang="en-US" sz="2400" dirty="0"/>
              <a:t> </a:t>
            </a:r>
            <a:r>
              <a:rPr lang="en-US" sz="2400" dirty="0" err="1"/>
              <a:t>saya</a:t>
            </a:r>
            <a:r>
              <a:rPr lang="en-US" sz="2400" dirty="0"/>
              <a:t> </a:t>
            </a:r>
            <a:r>
              <a:rPr lang="en-US" sz="2400" dirty="0" err="1"/>
              <a:t>mau</a:t>
            </a:r>
            <a:r>
              <a:rPr lang="en-US" sz="2400" dirty="0"/>
              <a:t>……. , </a:t>
            </a:r>
            <a:r>
              <a:rPr lang="en-US" sz="2400" dirty="0" err="1"/>
              <a:t>itu</a:t>
            </a:r>
            <a:r>
              <a:rPr lang="en-US" sz="2400" dirty="0"/>
              <a:t> </a:t>
            </a:r>
            <a:r>
              <a:rPr lang="en-US" sz="2400" dirty="0" err="1"/>
              <a:t>pukul</a:t>
            </a:r>
            <a:r>
              <a:rPr lang="en-US" sz="2400" dirty="0"/>
              <a:t> ……sore. </a:t>
            </a:r>
          </a:p>
          <a:p>
            <a:r>
              <a:rPr lang="en-US" sz="2400" dirty="0"/>
              <a:t>A: Oh, </a:t>
            </a:r>
            <a:r>
              <a:rPr lang="en-US" sz="2400" dirty="0" err="1"/>
              <a:t>begitu</a:t>
            </a:r>
            <a:r>
              <a:rPr lang="en-US" sz="2400" dirty="0"/>
              <a:t>.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saya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ikut</a:t>
            </a:r>
            <a:r>
              <a:rPr lang="en-US" sz="2400" dirty="0"/>
              <a:t>? </a:t>
            </a:r>
          </a:p>
          <a:p>
            <a:r>
              <a:rPr lang="en-US" sz="2400" dirty="0"/>
              <a:t>B: </a:t>
            </a:r>
            <a:r>
              <a:rPr lang="en-US" sz="2400" dirty="0" err="1"/>
              <a:t>Tentu</a:t>
            </a:r>
            <a:r>
              <a:rPr lang="en-US" sz="2400" dirty="0"/>
              <a:t>, </a:t>
            </a:r>
            <a:r>
              <a:rPr lang="en-US" sz="2400" dirty="0" err="1"/>
              <a:t>boleh</a:t>
            </a:r>
            <a:r>
              <a:rPr lang="en-US" sz="2400" dirty="0"/>
              <a:t>! </a:t>
            </a:r>
          </a:p>
          <a:p>
            <a:r>
              <a:rPr lang="en-US" sz="2400" dirty="0"/>
              <a:t>A: </a:t>
            </a:r>
            <a:r>
              <a:rPr lang="en-US" sz="2400" dirty="0" err="1"/>
              <a:t>Terima</a:t>
            </a:r>
            <a:r>
              <a:rPr lang="en-US" sz="2400" dirty="0"/>
              <a:t> </a:t>
            </a:r>
            <a:r>
              <a:rPr lang="en-US" sz="2400" dirty="0" err="1"/>
              <a:t>kasih</a:t>
            </a:r>
            <a:endParaRPr 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B6A918-FB28-426E-9503-BE89C2FD6810}"/>
              </a:ext>
            </a:extLst>
          </p:cNvPr>
          <p:cNvSpPr/>
          <p:nvPr/>
        </p:nvSpPr>
        <p:spPr>
          <a:xfrm>
            <a:off x="6807200" y="2237495"/>
            <a:ext cx="501572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2000" i="1" dirty="0"/>
              <a:t>A: Hello… What day do you work?</a:t>
            </a:r>
          </a:p>
          <a:p>
            <a:r>
              <a:rPr lang="en-ID" sz="2000" i="1" dirty="0"/>
              <a:t>B: Hello… I work from …day to …day.</a:t>
            </a:r>
          </a:p>
          <a:p>
            <a:r>
              <a:rPr lang="en-ID" sz="2000" i="1" dirty="0"/>
              <a:t>A: Then, what day are you off?</a:t>
            </a:r>
          </a:p>
          <a:p>
            <a:r>
              <a:rPr lang="en-ID" sz="2000" i="1" dirty="0"/>
              <a:t>B: I’m off on … and …. I usually ….</a:t>
            </a:r>
          </a:p>
          <a:p>
            <a:r>
              <a:rPr lang="en-ID" sz="2000" i="1" dirty="0"/>
              <a:t>A: What is your activity on Friday?</a:t>
            </a:r>
          </a:p>
          <a:p>
            <a:r>
              <a:rPr lang="en-ID" sz="2000" i="1" dirty="0"/>
              <a:t>B: On Friday, I want to …, at … o’clock in the afternoon.</a:t>
            </a:r>
          </a:p>
          <a:p>
            <a:r>
              <a:rPr lang="en-ID" sz="2000" i="1" dirty="0"/>
              <a:t>A: Oh, I see. May I join?</a:t>
            </a:r>
          </a:p>
          <a:p>
            <a:r>
              <a:rPr lang="en-ID" sz="2000" i="1" dirty="0"/>
              <a:t>B: Of course, you may!</a:t>
            </a:r>
          </a:p>
          <a:p>
            <a:r>
              <a:rPr lang="en-ID" sz="2000" i="1" dirty="0"/>
              <a:t>A: Thank you.</a:t>
            </a:r>
          </a:p>
        </p:txBody>
      </p:sp>
    </p:spTree>
    <p:extLst>
      <p:ext uri="{BB962C8B-B14F-4D97-AF65-F5344CB8AC3E}">
        <p14:creationId xmlns:p14="http://schemas.microsoft.com/office/powerpoint/2010/main" val="245869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428" y="233664"/>
            <a:ext cx="10515600" cy="97948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Bebas Neue" panose="020B0606020202050201" pitchFamily="34" charset="0"/>
              </a:rPr>
              <a:t>Important Day (Hari </a:t>
            </a:r>
            <a:r>
              <a:rPr lang="en-US" b="1" dirty="0" err="1">
                <a:latin typeface="Bebas Neue" panose="020B0606020202050201" pitchFamily="34" charset="0"/>
              </a:rPr>
              <a:t>penting</a:t>
            </a:r>
            <a:r>
              <a:rPr lang="en-US" b="1" dirty="0">
                <a:latin typeface="Bebas Neue" panose="020B0606020202050201" pitchFamily="34" charset="0"/>
              </a:rPr>
              <a:t>) / Ceremonial day (</a:t>
            </a:r>
            <a:r>
              <a:rPr lang="en-US" b="1" dirty="0" err="1">
                <a:latin typeface="Bebas Neue" panose="020B0606020202050201" pitchFamily="34" charset="0"/>
              </a:rPr>
              <a:t>upacara</a:t>
            </a:r>
            <a:r>
              <a:rPr lang="en-US" b="1" dirty="0">
                <a:latin typeface="Bebas Neue" panose="020B0606020202050201" pitchFamily="34" charset="0"/>
              </a:rPr>
              <a:t>)</a:t>
            </a:r>
            <a:r>
              <a:rPr lang="en-US" dirty="0"/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329366"/>
              </p:ext>
            </p:extLst>
          </p:nvPr>
        </p:nvGraphicFramePr>
        <p:xfrm>
          <a:off x="805542" y="1053487"/>
          <a:ext cx="10791372" cy="557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9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Eras Demi ITC" panose="020B0805030504020804" pitchFamily="34" charset="0"/>
                        </a:rPr>
                        <a:t>Negara Anda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Eras Demi ITC" panose="020B0805030504020804" pitchFamily="34" charset="0"/>
                        </a:rPr>
                        <a:t>Indonesia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Eras Demi ITC" panose="020B0805030504020804" pitchFamily="34" charset="0"/>
                        </a:rPr>
                        <a:t>Nama </a:t>
                      </a:r>
                      <a:r>
                        <a:rPr lang="en-US" dirty="0" err="1">
                          <a:latin typeface="Eras Demi ITC" panose="020B0805030504020804" pitchFamily="34" charset="0"/>
                        </a:rPr>
                        <a:t>hari</a:t>
                      </a:r>
                      <a:endParaRPr lang="en-US" dirty="0"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Eras Demi ITC" panose="020B0805030504020804" pitchFamily="34" charset="0"/>
                        </a:rPr>
                        <a:t>Tanggal</a:t>
                      </a:r>
                      <a:endParaRPr lang="en-US" dirty="0"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Eras Demi ITC" panose="020B0805030504020804" pitchFamily="34" charset="0"/>
                        </a:rPr>
                        <a:t>Nama </a:t>
                      </a:r>
                      <a:r>
                        <a:rPr lang="en-US" dirty="0" err="1">
                          <a:latin typeface="Eras Demi ITC" panose="020B0805030504020804" pitchFamily="34" charset="0"/>
                        </a:rPr>
                        <a:t>hari</a:t>
                      </a:r>
                      <a:r>
                        <a:rPr lang="en-US" dirty="0">
                          <a:latin typeface="Eras Demi ITC" panose="020B08050305040208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Eras Demi ITC" panose="020B0805030504020804" pitchFamily="34" charset="0"/>
                        </a:rPr>
                        <a:t>Tanggal</a:t>
                      </a:r>
                      <a:endParaRPr lang="en-US" dirty="0"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r>
                        <a:rPr lang="en-US" dirty="0"/>
                        <a:t>Christmas (natal)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 </a:t>
                      </a:r>
                      <a:r>
                        <a:rPr lang="en-US" dirty="0" err="1"/>
                        <a:t>Desember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Kemerdekaan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 </a:t>
                      </a:r>
                      <a:r>
                        <a:rPr lang="en-US" dirty="0" err="1"/>
                        <a:t>agustus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Idul adha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 juni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Ramadhan / idul fitri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99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30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HousePresentation_Elementary_Win32_JB_v2" id="{76CC1F8F-1616-4FD5-B5D9-5288357CAB76}" vid="{CCFA5B03-57D1-4BF3-98DD-85D1A7F0AA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4EE7CA-01E4-4C36-A155-A254FEC02701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4EED2D-C894-47C4-9CDD-55EC03B2713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0F07EB6-DDE3-49D2-9047-A171C0D29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431A9B-4B87-4F2F-AB9E-CAE6A6729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house presentation</Template>
  <TotalTime>168</TotalTime>
  <Words>760</Words>
  <Application>Microsoft Office PowerPoint</Application>
  <PresentationFormat>Widescreen</PresentationFormat>
  <Paragraphs>164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Adobe Fan Heiti Std B</vt:lpstr>
      <vt:lpstr>Adobe Arabic</vt:lpstr>
      <vt:lpstr>Adobe Garamond Pro Bold</vt:lpstr>
      <vt:lpstr>Arial</vt:lpstr>
      <vt:lpstr>Bebas Neue</vt:lpstr>
      <vt:lpstr>Calibri</vt:lpstr>
      <vt:lpstr>Eras Demi ITC</vt:lpstr>
      <vt:lpstr>Kristen ITC</vt:lpstr>
      <vt:lpstr>Patrick Hand SC</vt:lpstr>
      <vt:lpstr>Quire Sans</vt:lpstr>
      <vt:lpstr>Office Theme</vt:lpstr>
      <vt:lpstr>BIPA Kopenhagen 2025</vt:lpstr>
      <vt:lpstr>Hari dan Tanggal berapa ini?</vt:lpstr>
      <vt:lpstr>Hari dan Tanggal berapa ini?</vt:lpstr>
      <vt:lpstr>Hari dan Tanggal berapa ini?</vt:lpstr>
      <vt:lpstr>PowerPoint Presentation</vt:lpstr>
      <vt:lpstr>PowerPoint Presentation</vt:lpstr>
      <vt:lpstr>Kosakata tentang waktu</vt:lpstr>
      <vt:lpstr>PowerPoint Presentation</vt:lpstr>
      <vt:lpstr>Jadwal mingguanku</vt:lpstr>
      <vt:lpstr>Jawab pertanyaan</vt:lpstr>
      <vt:lpstr>Hari  penting</vt:lpstr>
      <vt:lpstr>Musim dan Cuaca</vt:lpstr>
      <vt:lpstr>Jadwal Mingguan buat sendiri</vt:lpstr>
      <vt:lpstr>Dialog jadwal</vt:lpstr>
      <vt:lpstr>Important Day (Hari penting) / Ceremonial day (upacara)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BIPA Kopenhagen 2025</dc:title>
  <dc:creator>DELL</dc:creator>
  <cp:lastModifiedBy>DELL</cp:lastModifiedBy>
  <cp:revision>3</cp:revision>
  <dcterms:created xsi:type="dcterms:W3CDTF">2025-10-07T03:22:34Z</dcterms:created>
  <dcterms:modified xsi:type="dcterms:W3CDTF">2025-10-07T16:34:59Z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