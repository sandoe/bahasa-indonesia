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2" r:id="rId2"/>
    <p:sldId id="257" r:id="rId3"/>
    <p:sldId id="331" r:id="rId4"/>
    <p:sldId id="256" r:id="rId5"/>
    <p:sldId id="323" r:id="rId6"/>
    <p:sldId id="324" r:id="rId7"/>
    <p:sldId id="283" r:id="rId8"/>
    <p:sldId id="326" r:id="rId9"/>
    <p:sldId id="327" r:id="rId10"/>
    <p:sldId id="328" r:id="rId11"/>
    <p:sldId id="325" r:id="rId12"/>
    <p:sldId id="329" r:id="rId13"/>
    <p:sldId id="33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32" autoAdjust="0"/>
    <p:restoredTop sz="94660"/>
  </p:normalViewPr>
  <p:slideViewPr>
    <p:cSldViewPr snapToGrid="0">
      <p:cViewPr varScale="1">
        <p:scale>
          <a:sx n="81" d="100"/>
          <a:sy n="81" d="100"/>
        </p:scale>
        <p:origin x="4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5E825-E4EE-4541-9D2F-BDD80948CF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1AC684CF-1FD0-426E-ABD1-8C514DFC05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0D8CAB0D-359D-4DF6-8917-4A8DF300AA4E}"/>
              </a:ext>
            </a:extLst>
          </p:cNvPr>
          <p:cNvSpPr>
            <a:spLocks noGrp="1"/>
          </p:cNvSpPr>
          <p:nvPr>
            <p:ph type="dt" sz="half" idx="10"/>
          </p:nvPr>
        </p:nvSpPr>
        <p:spPr/>
        <p:txBody>
          <a:bodyPr/>
          <a:lstStyle/>
          <a:p>
            <a:fld id="{517AE7F0-5D2F-4592-ADD3-4880F08F5923}" type="datetimeFigureOut">
              <a:rPr lang="en-ID" smtClean="0"/>
              <a:t>04/11/2025</a:t>
            </a:fld>
            <a:endParaRPr lang="en-ID"/>
          </a:p>
        </p:txBody>
      </p:sp>
      <p:sp>
        <p:nvSpPr>
          <p:cNvPr id="5" name="Footer Placeholder 4">
            <a:extLst>
              <a:ext uri="{FF2B5EF4-FFF2-40B4-BE49-F238E27FC236}">
                <a16:creationId xmlns:a16="http://schemas.microsoft.com/office/drawing/2014/main" id="{00AEC481-3EF8-454C-BCD7-9DFE3FFACBE3}"/>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D43D8077-14C6-42DC-B961-4FC9A0612F30}"/>
              </a:ext>
            </a:extLst>
          </p:cNvPr>
          <p:cNvSpPr>
            <a:spLocks noGrp="1"/>
          </p:cNvSpPr>
          <p:nvPr>
            <p:ph type="sldNum" sz="quarter" idx="12"/>
          </p:nvPr>
        </p:nvSpPr>
        <p:spPr/>
        <p:txBody>
          <a:bodyPr/>
          <a:lstStyle/>
          <a:p>
            <a:fld id="{29C0DCBB-1E22-4A41-8535-831CF205FAA2}" type="slidenum">
              <a:rPr lang="en-ID" smtClean="0"/>
              <a:t>‹#›</a:t>
            </a:fld>
            <a:endParaRPr lang="en-ID"/>
          </a:p>
        </p:txBody>
      </p:sp>
    </p:spTree>
    <p:extLst>
      <p:ext uri="{BB962C8B-B14F-4D97-AF65-F5344CB8AC3E}">
        <p14:creationId xmlns:p14="http://schemas.microsoft.com/office/powerpoint/2010/main" val="1335864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2C1E0-29A5-459A-9FE3-BBF311012E7A}"/>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D21F47E2-E2E4-4ADB-B25A-C2113F17E0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4E83412E-6589-428D-9E70-DBC5BB6881EE}"/>
              </a:ext>
            </a:extLst>
          </p:cNvPr>
          <p:cNvSpPr>
            <a:spLocks noGrp="1"/>
          </p:cNvSpPr>
          <p:nvPr>
            <p:ph type="dt" sz="half" idx="10"/>
          </p:nvPr>
        </p:nvSpPr>
        <p:spPr/>
        <p:txBody>
          <a:bodyPr/>
          <a:lstStyle/>
          <a:p>
            <a:fld id="{517AE7F0-5D2F-4592-ADD3-4880F08F5923}" type="datetimeFigureOut">
              <a:rPr lang="en-ID" smtClean="0"/>
              <a:t>04/11/2025</a:t>
            </a:fld>
            <a:endParaRPr lang="en-ID"/>
          </a:p>
        </p:txBody>
      </p:sp>
      <p:sp>
        <p:nvSpPr>
          <p:cNvPr id="5" name="Footer Placeholder 4">
            <a:extLst>
              <a:ext uri="{FF2B5EF4-FFF2-40B4-BE49-F238E27FC236}">
                <a16:creationId xmlns:a16="http://schemas.microsoft.com/office/drawing/2014/main" id="{7F5085BF-00FA-4DAD-B3FC-BD03E474AFCC}"/>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883E1B0C-033B-4E07-84F7-47B9905C39C3}"/>
              </a:ext>
            </a:extLst>
          </p:cNvPr>
          <p:cNvSpPr>
            <a:spLocks noGrp="1"/>
          </p:cNvSpPr>
          <p:nvPr>
            <p:ph type="sldNum" sz="quarter" idx="12"/>
          </p:nvPr>
        </p:nvSpPr>
        <p:spPr/>
        <p:txBody>
          <a:bodyPr/>
          <a:lstStyle/>
          <a:p>
            <a:fld id="{29C0DCBB-1E22-4A41-8535-831CF205FAA2}" type="slidenum">
              <a:rPr lang="en-ID" smtClean="0"/>
              <a:t>‹#›</a:t>
            </a:fld>
            <a:endParaRPr lang="en-ID"/>
          </a:p>
        </p:txBody>
      </p:sp>
    </p:spTree>
    <p:extLst>
      <p:ext uri="{BB962C8B-B14F-4D97-AF65-F5344CB8AC3E}">
        <p14:creationId xmlns:p14="http://schemas.microsoft.com/office/powerpoint/2010/main" val="459652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16952-621B-4FF4-A29D-BAFEEAD053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ED4E6268-3B70-45AF-BFFE-AFE952D15C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905196-6779-4D88-AA8D-A83E47E04B08}"/>
              </a:ext>
            </a:extLst>
          </p:cNvPr>
          <p:cNvSpPr>
            <a:spLocks noGrp="1"/>
          </p:cNvSpPr>
          <p:nvPr>
            <p:ph type="dt" sz="half" idx="10"/>
          </p:nvPr>
        </p:nvSpPr>
        <p:spPr/>
        <p:txBody>
          <a:bodyPr/>
          <a:lstStyle/>
          <a:p>
            <a:fld id="{517AE7F0-5D2F-4592-ADD3-4880F08F5923}" type="datetimeFigureOut">
              <a:rPr lang="en-ID" smtClean="0"/>
              <a:t>04/11/2025</a:t>
            </a:fld>
            <a:endParaRPr lang="en-ID"/>
          </a:p>
        </p:txBody>
      </p:sp>
      <p:sp>
        <p:nvSpPr>
          <p:cNvPr id="5" name="Footer Placeholder 4">
            <a:extLst>
              <a:ext uri="{FF2B5EF4-FFF2-40B4-BE49-F238E27FC236}">
                <a16:creationId xmlns:a16="http://schemas.microsoft.com/office/drawing/2014/main" id="{F0FFF2C4-F795-4503-B5B0-F49965824D35}"/>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E8622D23-2B1F-430D-A0D7-DCD78EF77F98}"/>
              </a:ext>
            </a:extLst>
          </p:cNvPr>
          <p:cNvSpPr>
            <a:spLocks noGrp="1"/>
          </p:cNvSpPr>
          <p:nvPr>
            <p:ph type="sldNum" sz="quarter" idx="12"/>
          </p:nvPr>
        </p:nvSpPr>
        <p:spPr/>
        <p:txBody>
          <a:bodyPr/>
          <a:lstStyle/>
          <a:p>
            <a:fld id="{29C0DCBB-1E22-4A41-8535-831CF205FAA2}" type="slidenum">
              <a:rPr lang="en-ID" smtClean="0"/>
              <a:t>‹#›</a:t>
            </a:fld>
            <a:endParaRPr lang="en-ID"/>
          </a:p>
        </p:txBody>
      </p:sp>
    </p:spTree>
    <p:extLst>
      <p:ext uri="{BB962C8B-B14F-4D97-AF65-F5344CB8AC3E}">
        <p14:creationId xmlns:p14="http://schemas.microsoft.com/office/powerpoint/2010/main" val="2997098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755B4-3119-4F48-84F1-D1E55765397A}"/>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B957BE56-7E72-4008-9C90-837408B6D4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42377C4F-3DEB-4702-A494-D74DF39B61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CC6300B0-AD3C-4933-9ED4-62E345D574C8}"/>
              </a:ext>
            </a:extLst>
          </p:cNvPr>
          <p:cNvSpPr>
            <a:spLocks noGrp="1"/>
          </p:cNvSpPr>
          <p:nvPr>
            <p:ph type="dt" sz="half" idx="10"/>
          </p:nvPr>
        </p:nvSpPr>
        <p:spPr/>
        <p:txBody>
          <a:bodyPr/>
          <a:lstStyle/>
          <a:p>
            <a:fld id="{517AE7F0-5D2F-4592-ADD3-4880F08F5923}" type="datetimeFigureOut">
              <a:rPr lang="en-ID" smtClean="0"/>
              <a:t>04/11/2025</a:t>
            </a:fld>
            <a:endParaRPr lang="en-ID"/>
          </a:p>
        </p:txBody>
      </p:sp>
      <p:sp>
        <p:nvSpPr>
          <p:cNvPr id="6" name="Footer Placeholder 5">
            <a:extLst>
              <a:ext uri="{FF2B5EF4-FFF2-40B4-BE49-F238E27FC236}">
                <a16:creationId xmlns:a16="http://schemas.microsoft.com/office/drawing/2014/main" id="{BA03F63B-3345-4843-BC97-405D7CEEF5E2}"/>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78FD0D3E-C82F-4D25-8B40-13A1E2393EB1}"/>
              </a:ext>
            </a:extLst>
          </p:cNvPr>
          <p:cNvSpPr>
            <a:spLocks noGrp="1"/>
          </p:cNvSpPr>
          <p:nvPr>
            <p:ph type="sldNum" sz="quarter" idx="12"/>
          </p:nvPr>
        </p:nvSpPr>
        <p:spPr/>
        <p:txBody>
          <a:bodyPr/>
          <a:lstStyle/>
          <a:p>
            <a:fld id="{29C0DCBB-1E22-4A41-8535-831CF205FAA2}" type="slidenum">
              <a:rPr lang="en-ID" smtClean="0"/>
              <a:t>‹#›</a:t>
            </a:fld>
            <a:endParaRPr lang="en-ID"/>
          </a:p>
        </p:txBody>
      </p:sp>
    </p:spTree>
    <p:extLst>
      <p:ext uri="{BB962C8B-B14F-4D97-AF65-F5344CB8AC3E}">
        <p14:creationId xmlns:p14="http://schemas.microsoft.com/office/powerpoint/2010/main" val="3045760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867B2-E08D-4858-8C01-7C7FBA23F997}"/>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62C8695D-ADB8-44A4-94D8-15D27FC78D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2479B6-4E4F-4D89-9708-63191AE2CE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69C0F35B-463F-4D39-9A0E-7839D57317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29D82F-97CC-4B3B-9C86-2B205A612B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B36B5314-C803-4D77-9A7A-97CA57BDF6C1}"/>
              </a:ext>
            </a:extLst>
          </p:cNvPr>
          <p:cNvSpPr>
            <a:spLocks noGrp="1"/>
          </p:cNvSpPr>
          <p:nvPr>
            <p:ph type="dt" sz="half" idx="10"/>
          </p:nvPr>
        </p:nvSpPr>
        <p:spPr/>
        <p:txBody>
          <a:bodyPr/>
          <a:lstStyle/>
          <a:p>
            <a:fld id="{517AE7F0-5D2F-4592-ADD3-4880F08F5923}" type="datetimeFigureOut">
              <a:rPr lang="en-ID" smtClean="0"/>
              <a:t>04/11/2025</a:t>
            </a:fld>
            <a:endParaRPr lang="en-ID"/>
          </a:p>
        </p:txBody>
      </p:sp>
      <p:sp>
        <p:nvSpPr>
          <p:cNvPr id="8" name="Footer Placeholder 7">
            <a:extLst>
              <a:ext uri="{FF2B5EF4-FFF2-40B4-BE49-F238E27FC236}">
                <a16:creationId xmlns:a16="http://schemas.microsoft.com/office/drawing/2014/main" id="{3C590D08-1E87-4EAD-8D15-8B77FE7B9332}"/>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DF28E267-369C-428F-A667-5A2FED811EC7}"/>
              </a:ext>
            </a:extLst>
          </p:cNvPr>
          <p:cNvSpPr>
            <a:spLocks noGrp="1"/>
          </p:cNvSpPr>
          <p:nvPr>
            <p:ph type="sldNum" sz="quarter" idx="12"/>
          </p:nvPr>
        </p:nvSpPr>
        <p:spPr/>
        <p:txBody>
          <a:bodyPr/>
          <a:lstStyle/>
          <a:p>
            <a:fld id="{29C0DCBB-1E22-4A41-8535-831CF205FAA2}" type="slidenum">
              <a:rPr lang="en-ID" smtClean="0"/>
              <a:t>‹#›</a:t>
            </a:fld>
            <a:endParaRPr lang="en-ID"/>
          </a:p>
        </p:txBody>
      </p:sp>
    </p:spTree>
    <p:extLst>
      <p:ext uri="{BB962C8B-B14F-4D97-AF65-F5344CB8AC3E}">
        <p14:creationId xmlns:p14="http://schemas.microsoft.com/office/powerpoint/2010/main" val="2173708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E96D4-2330-4303-AA99-26DA3C99159D}"/>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1C0856BF-9707-4334-9F66-8E9134D81204}"/>
              </a:ext>
            </a:extLst>
          </p:cNvPr>
          <p:cNvSpPr>
            <a:spLocks noGrp="1"/>
          </p:cNvSpPr>
          <p:nvPr>
            <p:ph type="dt" sz="half" idx="10"/>
          </p:nvPr>
        </p:nvSpPr>
        <p:spPr/>
        <p:txBody>
          <a:bodyPr/>
          <a:lstStyle/>
          <a:p>
            <a:fld id="{517AE7F0-5D2F-4592-ADD3-4880F08F5923}" type="datetimeFigureOut">
              <a:rPr lang="en-ID" smtClean="0"/>
              <a:t>04/11/2025</a:t>
            </a:fld>
            <a:endParaRPr lang="en-ID"/>
          </a:p>
        </p:txBody>
      </p:sp>
      <p:sp>
        <p:nvSpPr>
          <p:cNvPr id="4" name="Footer Placeholder 3">
            <a:extLst>
              <a:ext uri="{FF2B5EF4-FFF2-40B4-BE49-F238E27FC236}">
                <a16:creationId xmlns:a16="http://schemas.microsoft.com/office/drawing/2014/main" id="{6431D43E-D35E-4405-A291-FEB0789F5D7A}"/>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A516E915-B629-477A-AC12-F80187FDDB50}"/>
              </a:ext>
            </a:extLst>
          </p:cNvPr>
          <p:cNvSpPr>
            <a:spLocks noGrp="1"/>
          </p:cNvSpPr>
          <p:nvPr>
            <p:ph type="sldNum" sz="quarter" idx="12"/>
          </p:nvPr>
        </p:nvSpPr>
        <p:spPr/>
        <p:txBody>
          <a:bodyPr/>
          <a:lstStyle/>
          <a:p>
            <a:fld id="{29C0DCBB-1E22-4A41-8535-831CF205FAA2}" type="slidenum">
              <a:rPr lang="en-ID" smtClean="0"/>
              <a:t>‹#›</a:t>
            </a:fld>
            <a:endParaRPr lang="en-ID"/>
          </a:p>
        </p:txBody>
      </p:sp>
    </p:spTree>
    <p:extLst>
      <p:ext uri="{BB962C8B-B14F-4D97-AF65-F5344CB8AC3E}">
        <p14:creationId xmlns:p14="http://schemas.microsoft.com/office/powerpoint/2010/main" val="1590879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718313-15A9-40E4-BDB4-A85F735B6D4C}"/>
              </a:ext>
            </a:extLst>
          </p:cNvPr>
          <p:cNvSpPr>
            <a:spLocks noGrp="1"/>
          </p:cNvSpPr>
          <p:nvPr>
            <p:ph type="dt" sz="half" idx="10"/>
          </p:nvPr>
        </p:nvSpPr>
        <p:spPr/>
        <p:txBody>
          <a:bodyPr/>
          <a:lstStyle/>
          <a:p>
            <a:fld id="{517AE7F0-5D2F-4592-ADD3-4880F08F5923}" type="datetimeFigureOut">
              <a:rPr lang="en-ID" smtClean="0"/>
              <a:t>04/11/2025</a:t>
            </a:fld>
            <a:endParaRPr lang="en-ID"/>
          </a:p>
        </p:txBody>
      </p:sp>
      <p:sp>
        <p:nvSpPr>
          <p:cNvPr id="3" name="Footer Placeholder 2">
            <a:extLst>
              <a:ext uri="{FF2B5EF4-FFF2-40B4-BE49-F238E27FC236}">
                <a16:creationId xmlns:a16="http://schemas.microsoft.com/office/drawing/2014/main" id="{B7D2B74A-F298-4ADB-890D-1264454D0970}"/>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A138A0E3-F894-4309-972D-F455F6A14379}"/>
              </a:ext>
            </a:extLst>
          </p:cNvPr>
          <p:cNvSpPr>
            <a:spLocks noGrp="1"/>
          </p:cNvSpPr>
          <p:nvPr>
            <p:ph type="sldNum" sz="quarter" idx="12"/>
          </p:nvPr>
        </p:nvSpPr>
        <p:spPr/>
        <p:txBody>
          <a:bodyPr/>
          <a:lstStyle/>
          <a:p>
            <a:fld id="{29C0DCBB-1E22-4A41-8535-831CF205FAA2}" type="slidenum">
              <a:rPr lang="en-ID" smtClean="0"/>
              <a:t>‹#›</a:t>
            </a:fld>
            <a:endParaRPr lang="en-ID"/>
          </a:p>
        </p:txBody>
      </p:sp>
    </p:spTree>
    <p:extLst>
      <p:ext uri="{BB962C8B-B14F-4D97-AF65-F5344CB8AC3E}">
        <p14:creationId xmlns:p14="http://schemas.microsoft.com/office/powerpoint/2010/main" val="3246114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0B9D0-57A6-415E-9A81-C54B657198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247F6787-F270-483B-B98B-533FEBA6F1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92EB3F3C-4021-4D0A-9AD8-3ADD78A3D6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7DBC2C-2146-4846-8938-F2BDFA56B59D}"/>
              </a:ext>
            </a:extLst>
          </p:cNvPr>
          <p:cNvSpPr>
            <a:spLocks noGrp="1"/>
          </p:cNvSpPr>
          <p:nvPr>
            <p:ph type="dt" sz="half" idx="10"/>
          </p:nvPr>
        </p:nvSpPr>
        <p:spPr/>
        <p:txBody>
          <a:bodyPr/>
          <a:lstStyle/>
          <a:p>
            <a:fld id="{517AE7F0-5D2F-4592-ADD3-4880F08F5923}" type="datetimeFigureOut">
              <a:rPr lang="en-ID" smtClean="0"/>
              <a:t>04/11/2025</a:t>
            </a:fld>
            <a:endParaRPr lang="en-ID"/>
          </a:p>
        </p:txBody>
      </p:sp>
      <p:sp>
        <p:nvSpPr>
          <p:cNvPr id="6" name="Footer Placeholder 5">
            <a:extLst>
              <a:ext uri="{FF2B5EF4-FFF2-40B4-BE49-F238E27FC236}">
                <a16:creationId xmlns:a16="http://schemas.microsoft.com/office/drawing/2014/main" id="{F3E4679F-38FD-4AB4-B691-6207421E267E}"/>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E1E0E3B0-E112-44CA-A477-7C9FC2E75A2B}"/>
              </a:ext>
            </a:extLst>
          </p:cNvPr>
          <p:cNvSpPr>
            <a:spLocks noGrp="1"/>
          </p:cNvSpPr>
          <p:nvPr>
            <p:ph type="sldNum" sz="quarter" idx="12"/>
          </p:nvPr>
        </p:nvSpPr>
        <p:spPr/>
        <p:txBody>
          <a:bodyPr/>
          <a:lstStyle/>
          <a:p>
            <a:fld id="{29C0DCBB-1E22-4A41-8535-831CF205FAA2}" type="slidenum">
              <a:rPr lang="en-ID" smtClean="0"/>
              <a:t>‹#›</a:t>
            </a:fld>
            <a:endParaRPr lang="en-ID"/>
          </a:p>
        </p:txBody>
      </p:sp>
    </p:spTree>
    <p:extLst>
      <p:ext uri="{BB962C8B-B14F-4D97-AF65-F5344CB8AC3E}">
        <p14:creationId xmlns:p14="http://schemas.microsoft.com/office/powerpoint/2010/main" val="759637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AA7B5-AD86-4805-AA42-300F9E3CD5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0F465318-A980-4849-8D6A-5166360060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2DA0D151-3C30-4527-BE5F-18D65FF12F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7E4FA5-8B5C-487A-9CF9-8A7DB8C72EC3}"/>
              </a:ext>
            </a:extLst>
          </p:cNvPr>
          <p:cNvSpPr>
            <a:spLocks noGrp="1"/>
          </p:cNvSpPr>
          <p:nvPr>
            <p:ph type="dt" sz="half" idx="10"/>
          </p:nvPr>
        </p:nvSpPr>
        <p:spPr/>
        <p:txBody>
          <a:bodyPr/>
          <a:lstStyle/>
          <a:p>
            <a:fld id="{517AE7F0-5D2F-4592-ADD3-4880F08F5923}" type="datetimeFigureOut">
              <a:rPr lang="en-ID" smtClean="0"/>
              <a:t>04/11/2025</a:t>
            </a:fld>
            <a:endParaRPr lang="en-ID"/>
          </a:p>
        </p:txBody>
      </p:sp>
      <p:sp>
        <p:nvSpPr>
          <p:cNvPr id="6" name="Footer Placeholder 5">
            <a:extLst>
              <a:ext uri="{FF2B5EF4-FFF2-40B4-BE49-F238E27FC236}">
                <a16:creationId xmlns:a16="http://schemas.microsoft.com/office/drawing/2014/main" id="{A5FB4907-3E33-4353-8370-473992664002}"/>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205F1B9C-861A-40D2-8BAF-14B94B6DE79B}"/>
              </a:ext>
            </a:extLst>
          </p:cNvPr>
          <p:cNvSpPr>
            <a:spLocks noGrp="1"/>
          </p:cNvSpPr>
          <p:nvPr>
            <p:ph type="sldNum" sz="quarter" idx="12"/>
          </p:nvPr>
        </p:nvSpPr>
        <p:spPr/>
        <p:txBody>
          <a:bodyPr/>
          <a:lstStyle/>
          <a:p>
            <a:fld id="{29C0DCBB-1E22-4A41-8535-831CF205FAA2}" type="slidenum">
              <a:rPr lang="en-ID" smtClean="0"/>
              <a:t>‹#›</a:t>
            </a:fld>
            <a:endParaRPr lang="en-ID"/>
          </a:p>
        </p:txBody>
      </p:sp>
    </p:spTree>
    <p:extLst>
      <p:ext uri="{BB962C8B-B14F-4D97-AF65-F5344CB8AC3E}">
        <p14:creationId xmlns:p14="http://schemas.microsoft.com/office/powerpoint/2010/main" val="3055546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81709-F5C4-46CC-85A5-4A28DDB77E91}"/>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6A42F15A-67A3-4ACD-92BE-77E704459E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4561BFC1-67E3-4278-BABD-00AD005C3F8A}"/>
              </a:ext>
            </a:extLst>
          </p:cNvPr>
          <p:cNvSpPr>
            <a:spLocks noGrp="1"/>
          </p:cNvSpPr>
          <p:nvPr>
            <p:ph type="dt" sz="half" idx="10"/>
          </p:nvPr>
        </p:nvSpPr>
        <p:spPr/>
        <p:txBody>
          <a:bodyPr/>
          <a:lstStyle/>
          <a:p>
            <a:fld id="{517AE7F0-5D2F-4592-ADD3-4880F08F5923}" type="datetimeFigureOut">
              <a:rPr lang="en-ID" smtClean="0"/>
              <a:t>04/11/2025</a:t>
            </a:fld>
            <a:endParaRPr lang="en-ID"/>
          </a:p>
        </p:txBody>
      </p:sp>
      <p:sp>
        <p:nvSpPr>
          <p:cNvPr id="5" name="Footer Placeholder 4">
            <a:extLst>
              <a:ext uri="{FF2B5EF4-FFF2-40B4-BE49-F238E27FC236}">
                <a16:creationId xmlns:a16="http://schemas.microsoft.com/office/drawing/2014/main" id="{3B40FCC9-A20C-460A-B18C-DDEA7304CFA4}"/>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90EB1092-A128-4D11-A783-C954C3DBCBEC}"/>
              </a:ext>
            </a:extLst>
          </p:cNvPr>
          <p:cNvSpPr>
            <a:spLocks noGrp="1"/>
          </p:cNvSpPr>
          <p:nvPr>
            <p:ph type="sldNum" sz="quarter" idx="12"/>
          </p:nvPr>
        </p:nvSpPr>
        <p:spPr/>
        <p:txBody>
          <a:bodyPr/>
          <a:lstStyle/>
          <a:p>
            <a:fld id="{29C0DCBB-1E22-4A41-8535-831CF205FAA2}" type="slidenum">
              <a:rPr lang="en-ID" smtClean="0"/>
              <a:t>‹#›</a:t>
            </a:fld>
            <a:endParaRPr lang="en-ID"/>
          </a:p>
        </p:txBody>
      </p:sp>
    </p:spTree>
    <p:extLst>
      <p:ext uri="{BB962C8B-B14F-4D97-AF65-F5344CB8AC3E}">
        <p14:creationId xmlns:p14="http://schemas.microsoft.com/office/powerpoint/2010/main" val="3796187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146B17-7BAA-4FFA-90E2-443AF7434C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A1D050B7-F7A8-447A-B960-2EA1F15278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4F08FEAA-975C-465B-8A19-A14F93529790}"/>
              </a:ext>
            </a:extLst>
          </p:cNvPr>
          <p:cNvSpPr>
            <a:spLocks noGrp="1"/>
          </p:cNvSpPr>
          <p:nvPr>
            <p:ph type="dt" sz="half" idx="10"/>
          </p:nvPr>
        </p:nvSpPr>
        <p:spPr/>
        <p:txBody>
          <a:bodyPr/>
          <a:lstStyle/>
          <a:p>
            <a:fld id="{517AE7F0-5D2F-4592-ADD3-4880F08F5923}" type="datetimeFigureOut">
              <a:rPr lang="en-ID" smtClean="0"/>
              <a:t>04/11/2025</a:t>
            </a:fld>
            <a:endParaRPr lang="en-ID"/>
          </a:p>
        </p:txBody>
      </p:sp>
      <p:sp>
        <p:nvSpPr>
          <p:cNvPr id="5" name="Footer Placeholder 4">
            <a:extLst>
              <a:ext uri="{FF2B5EF4-FFF2-40B4-BE49-F238E27FC236}">
                <a16:creationId xmlns:a16="http://schemas.microsoft.com/office/drawing/2014/main" id="{B9357C3A-8B8F-4832-A3A2-8EA79764B91B}"/>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3A19B942-385A-4351-81BE-7D51BCFFFF6F}"/>
              </a:ext>
            </a:extLst>
          </p:cNvPr>
          <p:cNvSpPr>
            <a:spLocks noGrp="1"/>
          </p:cNvSpPr>
          <p:nvPr>
            <p:ph type="sldNum" sz="quarter" idx="12"/>
          </p:nvPr>
        </p:nvSpPr>
        <p:spPr/>
        <p:txBody>
          <a:bodyPr/>
          <a:lstStyle/>
          <a:p>
            <a:fld id="{29C0DCBB-1E22-4A41-8535-831CF205FAA2}" type="slidenum">
              <a:rPr lang="en-ID" smtClean="0"/>
              <a:t>‹#›</a:t>
            </a:fld>
            <a:endParaRPr lang="en-ID"/>
          </a:p>
        </p:txBody>
      </p:sp>
    </p:spTree>
    <p:extLst>
      <p:ext uri="{BB962C8B-B14F-4D97-AF65-F5344CB8AC3E}">
        <p14:creationId xmlns:p14="http://schemas.microsoft.com/office/powerpoint/2010/main" val="9273628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dirty="0"/>
              <a:t>Click to add title</a:t>
            </a:r>
          </a:p>
        </p:txBody>
      </p:sp>
    </p:spTree>
    <p:extLst>
      <p:ext uri="{BB962C8B-B14F-4D97-AF65-F5344CB8AC3E}">
        <p14:creationId xmlns:p14="http://schemas.microsoft.com/office/powerpoint/2010/main" val="1775502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388274-BA15-4C15-9605-18A3CE714A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069BF692-8931-4422-AB09-00CB2FC788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3C0CB929-BAE6-485D-8EF0-AD3057B282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7AE7F0-5D2F-4592-ADD3-4880F08F5923}" type="datetimeFigureOut">
              <a:rPr lang="en-ID" smtClean="0"/>
              <a:t>04/11/2025</a:t>
            </a:fld>
            <a:endParaRPr lang="en-ID"/>
          </a:p>
        </p:txBody>
      </p:sp>
      <p:sp>
        <p:nvSpPr>
          <p:cNvPr id="5" name="Footer Placeholder 4">
            <a:extLst>
              <a:ext uri="{FF2B5EF4-FFF2-40B4-BE49-F238E27FC236}">
                <a16:creationId xmlns:a16="http://schemas.microsoft.com/office/drawing/2014/main" id="{C2F205BF-B56A-4BD5-8FF1-56F08F2E4F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1819ECFD-8753-436E-B114-7D4D56FD72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C0DCBB-1E22-4A41-8535-831CF205FAA2}" type="slidenum">
              <a:rPr lang="en-ID" smtClean="0"/>
              <a:t>‹#›</a:t>
            </a:fld>
            <a:endParaRPr lang="en-ID"/>
          </a:p>
        </p:txBody>
      </p:sp>
    </p:spTree>
    <p:extLst>
      <p:ext uri="{BB962C8B-B14F-4D97-AF65-F5344CB8AC3E}">
        <p14:creationId xmlns:p14="http://schemas.microsoft.com/office/powerpoint/2010/main" val="1996865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4C9E-20FB-B999-9303-C71D1334BAD7}"/>
              </a:ext>
            </a:extLst>
          </p:cNvPr>
          <p:cNvSpPr>
            <a:spLocks noGrp="1"/>
          </p:cNvSpPr>
          <p:nvPr>
            <p:ph type="title"/>
          </p:nvPr>
        </p:nvSpPr>
        <p:spPr>
          <a:xfrm>
            <a:off x="1317615" y="690511"/>
            <a:ext cx="5185821" cy="5253089"/>
          </a:xfrm>
        </p:spPr>
        <p:txBody>
          <a:bodyPr/>
          <a:lstStyle/>
          <a:p>
            <a:r>
              <a:rPr lang="en-US" dirty="0" err="1"/>
              <a:t>Transportasi</a:t>
            </a:r>
            <a:br>
              <a:rPr lang="en-US" dirty="0"/>
            </a:br>
            <a:r>
              <a:rPr lang="en-US" sz="2000" dirty="0"/>
              <a:t>BIPA 1</a:t>
            </a:r>
            <a:endParaRPr lang="en-US" dirty="0"/>
          </a:p>
        </p:txBody>
      </p:sp>
      <p:pic>
        <p:nvPicPr>
          <p:cNvPr id="1026" name="Picture 2" descr="Public Transportation Pictures | Download Free Images on Unsplash">
            <a:extLst>
              <a:ext uri="{FF2B5EF4-FFF2-40B4-BE49-F238E27FC236}">
                <a16:creationId xmlns:a16="http://schemas.microsoft.com/office/drawing/2014/main" id="{AA2E21B7-D8A3-4588-B53A-6A2F4FEF8F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1622" y="914400"/>
            <a:ext cx="5920378" cy="3329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4 Rekomendasi Mobil Keluarga yang Cocok Untuk Liburan">
            <a:extLst>
              <a:ext uri="{FF2B5EF4-FFF2-40B4-BE49-F238E27FC236}">
                <a16:creationId xmlns:a16="http://schemas.microsoft.com/office/drawing/2014/main" id="{52A35D57-D547-450C-9275-F228824E26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613" y="450746"/>
            <a:ext cx="3253198" cy="198682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10 Motor Yang Harus Kamu Beli Di Tahun 2025 |">
            <a:extLst>
              <a:ext uri="{FF2B5EF4-FFF2-40B4-BE49-F238E27FC236}">
                <a16:creationId xmlns:a16="http://schemas.microsoft.com/office/drawing/2014/main" id="{90BB1798-1F10-4157-8408-758F1F0A46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3966" y="115159"/>
            <a:ext cx="2466975" cy="250642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epeda TREX MTB 27,5 XT 780 | Trexsporting.com">
            <a:extLst>
              <a:ext uri="{FF2B5EF4-FFF2-40B4-BE49-F238E27FC236}">
                <a16:creationId xmlns:a16="http://schemas.microsoft.com/office/drawing/2014/main" id="{15946F41-A752-4C4C-9EC0-0112E92DCD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23161" y="299173"/>
            <a:ext cx="2854874" cy="213840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Charter Bus - Bluebird Group">
            <a:extLst>
              <a:ext uri="{FF2B5EF4-FFF2-40B4-BE49-F238E27FC236}">
                <a16:creationId xmlns:a16="http://schemas.microsoft.com/office/drawing/2014/main" id="{710CEC74-1401-49BB-951E-2150E086F7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1613" y="3136637"/>
            <a:ext cx="3480573" cy="1986827"/>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Page 2 | High Speed Railway Vector Art, Icons, and Graphics for Free  Download">
            <a:extLst>
              <a:ext uri="{FF2B5EF4-FFF2-40B4-BE49-F238E27FC236}">
                <a16:creationId xmlns:a16="http://schemas.microsoft.com/office/drawing/2014/main" id="{76200FBE-6B3D-475A-A714-C79400B087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8168668" y="3206368"/>
            <a:ext cx="3694728" cy="1847364"/>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How to Draw a Cartoon Airplane - Really Easy Drawing Tutorial">
            <a:extLst>
              <a:ext uri="{FF2B5EF4-FFF2-40B4-BE49-F238E27FC236}">
                <a16:creationId xmlns:a16="http://schemas.microsoft.com/office/drawing/2014/main" id="{BBCA7FB8-3E1C-4DA7-8AEA-A00A18C2543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0340738" flipH="1">
            <a:off x="4715139" y="3354920"/>
            <a:ext cx="2484627" cy="140381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7827EB23-3189-4200-8E53-CB5E61FF4396}"/>
              </a:ext>
            </a:extLst>
          </p:cNvPr>
          <p:cNvSpPr txBox="1"/>
          <p:nvPr/>
        </p:nvSpPr>
        <p:spPr>
          <a:xfrm>
            <a:off x="1440873" y="2437573"/>
            <a:ext cx="1052945" cy="523220"/>
          </a:xfrm>
          <a:prstGeom prst="rect">
            <a:avLst/>
          </a:prstGeom>
          <a:noFill/>
        </p:spPr>
        <p:txBody>
          <a:bodyPr wrap="square" rtlCol="0">
            <a:spAutoFit/>
          </a:bodyPr>
          <a:lstStyle/>
          <a:p>
            <a:r>
              <a:rPr lang="en-US" sz="2800" b="1" dirty="0"/>
              <a:t>Mobil</a:t>
            </a:r>
            <a:endParaRPr lang="en-ID" sz="2800" b="1" dirty="0"/>
          </a:p>
        </p:txBody>
      </p:sp>
      <p:sp>
        <p:nvSpPr>
          <p:cNvPr id="18" name="TextBox 17">
            <a:extLst>
              <a:ext uri="{FF2B5EF4-FFF2-40B4-BE49-F238E27FC236}">
                <a16:creationId xmlns:a16="http://schemas.microsoft.com/office/drawing/2014/main" id="{25D80DC3-D7EB-4932-B6A3-55A5B963011C}"/>
              </a:ext>
            </a:extLst>
          </p:cNvPr>
          <p:cNvSpPr txBox="1"/>
          <p:nvPr/>
        </p:nvSpPr>
        <p:spPr>
          <a:xfrm>
            <a:off x="4927031" y="2437573"/>
            <a:ext cx="2522481" cy="523220"/>
          </a:xfrm>
          <a:prstGeom prst="rect">
            <a:avLst/>
          </a:prstGeom>
          <a:noFill/>
        </p:spPr>
        <p:txBody>
          <a:bodyPr wrap="square" rtlCol="0">
            <a:spAutoFit/>
          </a:bodyPr>
          <a:lstStyle/>
          <a:p>
            <a:r>
              <a:rPr lang="en-US" sz="2800" b="1" dirty="0" err="1"/>
              <a:t>Sepeda</a:t>
            </a:r>
            <a:r>
              <a:rPr lang="en-US" sz="2800" b="1" dirty="0"/>
              <a:t> Motor</a:t>
            </a:r>
            <a:endParaRPr lang="en-ID" sz="2800" b="1" dirty="0"/>
          </a:p>
        </p:txBody>
      </p:sp>
      <p:sp>
        <p:nvSpPr>
          <p:cNvPr id="19" name="TextBox 18">
            <a:extLst>
              <a:ext uri="{FF2B5EF4-FFF2-40B4-BE49-F238E27FC236}">
                <a16:creationId xmlns:a16="http://schemas.microsoft.com/office/drawing/2014/main" id="{D260A1EB-A6B8-4983-9192-EE06919C81F4}"/>
              </a:ext>
            </a:extLst>
          </p:cNvPr>
          <p:cNvSpPr txBox="1"/>
          <p:nvPr/>
        </p:nvSpPr>
        <p:spPr>
          <a:xfrm>
            <a:off x="9333207" y="2437573"/>
            <a:ext cx="1365653" cy="523220"/>
          </a:xfrm>
          <a:prstGeom prst="rect">
            <a:avLst/>
          </a:prstGeom>
          <a:noFill/>
        </p:spPr>
        <p:txBody>
          <a:bodyPr wrap="square" rtlCol="0">
            <a:spAutoFit/>
          </a:bodyPr>
          <a:lstStyle/>
          <a:p>
            <a:r>
              <a:rPr lang="en-US" sz="2800" b="1" dirty="0" err="1"/>
              <a:t>Sepeda</a:t>
            </a:r>
            <a:endParaRPr lang="en-ID" sz="2800" b="1" dirty="0"/>
          </a:p>
        </p:txBody>
      </p:sp>
      <p:sp>
        <p:nvSpPr>
          <p:cNvPr id="20" name="TextBox 19">
            <a:extLst>
              <a:ext uri="{FF2B5EF4-FFF2-40B4-BE49-F238E27FC236}">
                <a16:creationId xmlns:a16="http://schemas.microsoft.com/office/drawing/2014/main" id="{836696B0-8A37-4D00-8D38-ECC47BA60CDC}"/>
              </a:ext>
            </a:extLst>
          </p:cNvPr>
          <p:cNvSpPr txBox="1"/>
          <p:nvPr/>
        </p:nvSpPr>
        <p:spPr>
          <a:xfrm>
            <a:off x="997506" y="5157124"/>
            <a:ext cx="2522481" cy="523220"/>
          </a:xfrm>
          <a:prstGeom prst="rect">
            <a:avLst/>
          </a:prstGeom>
          <a:noFill/>
        </p:spPr>
        <p:txBody>
          <a:bodyPr wrap="square" rtlCol="0">
            <a:spAutoFit/>
          </a:bodyPr>
          <a:lstStyle/>
          <a:p>
            <a:r>
              <a:rPr lang="en-US" sz="2800" b="1" dirty="0"/>
              <a:t>Bis	</a:t>
            </a:r>
            <a:endParaRPr lang="en-ID" sz="2800" b="1" dirty="0"/>
          </a:p>
        </p:txBody>
      </p:sp>
      <p:sp>
        <p:nvSpPr>
          <p:cNvPr id="21" name="TextBox 20">
            <a:extLst>
              <a:ext uri="{FF2B5EF4-FFF2-40B4-BE49-F238E27FC236}">
                <a16:creationId xmlns:a16="http://schemas.microsoft.com/office/drawing/2014/main" id="{63704D5F-E9DA-4C9B-8A62-B30FF2DEED09}"/>
              </a:ext>
            </a:extLst>
          </p:cNvPr>
          <p:cNvSpPr txBox="1"/>
          <p:nvPr/>
        </p:nvSpPr>
        <p:spPr>
          <a:xfrm>
            <a:off x="5170679" y="5157124"/>
            <a:ext cx="1573546" cy="523220"/>
          </a:xfrm>
          <a:prstGeom prst="rect">
            <a:avLst/>
          </a:prstGeom>
          <a:noFill/>
        </p:spPr>
        <p:txBody>
          <a:bodyPr wrap="square" rtlCol="0">
            <a:spAutoFit/>
          </a:bodyPr>
          <a:lstStyle/>
          <a:p>
            <a:r>
              <a:rPr lang="en-US" sz="2800" b="1" dirty="0" err="1"/>
              <a:t>Pesawat</a:t>
            </a:r>
            <a:endParaRPr lang="en-ID" sz="2800" b="1" dirty="0"/>
          </a:p>
        </p:txBody>
      </p:sp>
      <p:sp>
        <p:nvSpPr>
          <p:cNvPr id="22" name="TextBox 21">
            <a:extLst>
              <a:ext uri="{FF2B5EF4-FFF2-40B4-BE49-F238E27FC236}">
                <a16:creationId xmlns:a16="http://schemas.microsoft.com/office/drawing/2014/main" id="{B8A61E78-AEB3-4744-A954-88633A9F8DBB}"/>
              </a:ext>
            </a:extLst>
          </p:cNvPr>
          <p:cNvSpPr txBox="1"/>
          <p:nvPr/>
        </p:nvSpPr>
        <p:spPr>
          <a:xfrm>
            <a:off x="8991644" y="5127120"/>
            <a:ext cx="2048775" cy="523220"/>
          </a:xfrm>
          <a:prstGeom prst="rect">
            <a:avLst/>
          </a:prstGeom>
          <a:noFill/>
        </p:spPr>
        <p:txBody>
          <a:bodyPr wrap="square" rtlCol="0">
            <a:spAutoFit/>
          </a:bodyPr>
          <a:lstStyle/>
          <a:p>
            <a:r>
              <a:rPr lang="en-US" sz="2800" b="1" dirty="0" err="1"/>
              <a:t>Kereta</a:t>
            </a:r>
            <a:r>
              <a:rPr lang="en-US" sz="2800" b="1" dirty="0"/>
              <a:t> </a:t>
            </a:r>
            <a:r>
              <a:rPr lang="en-US" sz="2800" b="1" dirty="0" err="1"/>
              <a:t>Api</a:t>
            </a:r>
            <a:endParaRPr lang="en-ID" sz="2800" b="1" dirty="0"/>
          </a:p>
        </p:txBody>
      </p:sp>
      <p:sp>
        <p:nvSpPr>
          <p:cNvPr id="14" name="TextBox 13">
            <a:extLst>
              <a:ext uri="{FF2B5EF4-FFF2-40B4-BE49-F238E27FC236}">
                <a16:creationId xmlns:a16="http://schemas.microsoft.com/office/drawing/2014/main" id="{DCE6E80D-1449-4DE0-874B-B096A7A0F810}"/>
              </a:ext>
            </a:extLst>
          </p:cNvPr>
          <p:cNvSpPr txBox="1"/>
          <p:nvPr/>
        </p:nvSpPr>
        <p:spPr>
          <a:xfrm>
            <a:off x="724399" y="5856188"/>
            <a:ext cx="6725113" cy="584775"/>
          </a:xfrm>
          <a:prstGeom prst="rect">
            <a:avLst/>
          </a:prstGeom>
          <a:noFill/>
        </p:spPr>
        <p:txBody>
          <a:bodyPr wrap="square" rtlCol="0">
            <a:spAutoFit/>
          </a:bodyPr>
          <a:lstStyle/>
          <a:p>
            <a:r>
              <a:rPr lang="en-US" sz="3200" b="1" dirty="0">
                <a:latin typeface="Adobe Gothic Std B" panose="020B0800000000000000" pitchFamily="34" charset="-128"/>
                <a:ea typeface="Adobe Gothic Std B" panose="020B0800000000000000" pitchFamily="34" charset="-128"/>
              </a:rPr>
              <a:t>Ship : </a:t>
            </a:r>
            <a:r>
              <a:rPr lang="en-US" sz="3200" dirty="0" err="1">
                <a:latin typeface="Adobe Gothic Std B" panose="020B0800000000000000" pitchFamily="34" charset="-128"/>
                <a:ea typeface="Adobe Gothic Std B" panose="020B0800000000000000" pitchFamily="34" charset="-128"/>
              </a:rPr>
              <a:t>kapal</a:t>
            </a:r>
            <a:r>
              <a:rPr lang="en-US" sz="3200" b="1" dirty="0">
                <a:latin typeface="Adobe Gothic Std B" panose="020B0800000000000000" pitchFamily="34" charset="-128"/>
                <a:ea typeface="Adobe Gothic Std B" panose="020B0800000000000000" pitchFamily="34" charset="-128"/>
              </a:rPr>
              <a:t>, boat : </a:t>
            </a:r>
            <a:r>
              <a:rPr lang="en-US" sz="3200" dirty="0" err="1">
                <a:latin typeface="Adobe Gothic Std B" panose="020B0800000000000000" pitchFamily="34" charset="-128"/>
                <a:ea typeface="Adobe Gothic Std B" panose="020B0800000000000000" pitchFamily="34" charset="-128"/>
              </a:rPr>
              <a:t>perahu</a:t>
            </a:r>
            <a:endParaRPr lang="en-ID" sz="3200" dirty="0">
              <a:latin typeface="Adobe Gothic Std B" panose="020B0800000000000000" pitchFamily="34" charset="-128"/>
              <a:ea typeface="Adobe Gothic Std B" panose="020B0800000000000000" pitchFamily="34" charset="-128"/>
            </a:endParaRPr>
          </a:p>
        </p:txBody>
      </p:sp>
    </p:spTree>
    <p:extLst>
      <p:ext uri="{BB962C8B-B14F-4D97-AF65-F5344CB8AC3E}">
        <p14:creationId xmlns:p14="http://schemas.microsoft.com/office/powerpoint/2010/main" val="937330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AFDAD3-4903-47E3-8333-6706A3F72FB1}"/>
              </a:ext>
            </a:extLst>
          </p:cNvPr>
          <p:cNvSpPr>
            <a:spLocks noGrp="1"/>
          </p:cNvSpPr>
          <p:nvPr>
            <p:ph idx="1"/>
          </p:nvPr>
        </p:nvSpPr>
        <p:spPr>
          <a:xfrm>
            <a:off x="838200" y="381000"/>
            <a:ext cx="10515600" cy="6079177"/>
          </a:xfrm>
        </p:spPr>
        <p:txBody>
          <a:bodyPr>
            <a:normAutofit fontScale="77500" lnSpcReduction="20000"/>
          </a:bodyPr>
          <a:lstStyle/>
          <a:p>
            <a:pPr marL="0" indent="0">
              <a:buNone/>
            </a:pPr>
            <a:r>
              <a:rPr lang="en-US" sz="4000" dirty="0"/>
              <a:t>Mobil</a:t>
            </a:r>
          </a:p>
          <a:p>
            <a:pPr marL="0" indent="0">
              <a:buNone/>
            </a:pPr>
            <a:r>
              <a:rPr lang="en-US" sz="4000" dirty="0" err="1"/>
              <a:t>Sepeda</a:t>
            </a:r>
            <a:endParaRPr lang="en-US" sz="4000" dirty="0"/>
          </a:p>
          <a:p>
            <a:pPr marL="0" indent="0">
              <a:buNone/>
            </a:pPr>
            <a:r>
              <a:rPr lang="en-US" sz="4000" dirty="0" err="1"/>
              <a:t>Sepeda</a:t>
            </a:r>
            <a:r>
              <a:rPr lang="en-US" sz="4000" dirty="0"/>
              <a:t> motor</a:t>
            </a:r>
          </a:p>
          <a:p>
            <a:pPr marL="0" indent="0">
              <a:buNone/>
            </a:pPr>
            <a:r>
              <a:rPr lang="en-US" sz="4000" dirty="0" err="1"/>
              <a:t>kapal</a:t>
            </a:r>
            <a:r>
              <a:rPr lang="en-US" sz="4000" dirty="0"/>
              <a:t> : Ship </a:t>
            </a:r>
          </a:p>
          <a:p>
            <a:pPr marL="0" indent="0">
              <a:buNone/>
            </a:pPr>
            <a:r>
              <a:rPr lang="en-US" sz="4000" dirty="0" err="1"/>
              <a:t>perahu</a:t>
            </a:r>
            <a:r>
              <a:rPr lang="en-US" sz="4000" dirty="0"/>
              <a:t> : Boat </a:t>
            </a:r>
          </a:p>
          <a:p>
            <a:pPr marL="0" indent="0">
              <a:buNone/>
            </a:pPr>
            <a:r>
              <a:rPr lang="en-US" sz="4000" dirty="0" err="1"/>
              <a:t>Helikopter</a:t>
            </a:r>
            <a:r>
              <a:rPr lang="en-US" sz="4000" dirty="0"/>
              <a:t> : helicopter</a:t>
            </a:r>
          </a:p>
          <a:p>
            <a:pPr marL="0" indent="0">
              <a:buNone/>
            </a:pPr>
            <a:r>
              <a:rPr lang="en-US" sz="4000" dirty="0" err="1"/>
              <a:t>Taksi</a:t>
            </a:r>
            <a:r>
              <a:rPr lang="en-US" sz="4000" dirty="0"/>
              <a:t> : taxi </a:t>
            </a:r>
          </a:p>
          <a:p>
            <a:pPr marL="0" indent="0">
              <a:buNone/>
            </a:pPr>
            <a:r>
              <a:rPr lang="en-US" sz="4000" dirty="0" err="1"/>
              <a:t>Gojek</a:t>
            </a:r>
            <a:r>
              <a:rPr lang="en-US" sz="4000" dirty="0"/>
              <a:t> / grab : online taxi</a:t>
            </a:r>
          </a:p>
          <a:p>
            <a:pPr marL="0" indent="0">
              <a:buNone/>
            </a:pPr>
            <a:r>
              <a:rPr lang="en-ID" sz="4000" dirty="0" err="1"/>
              <a:t>Angkot</a:t>
            </a:r>
            <a:r>
              <a:rPr lang="en-ID" sz="4000" dirty="0"/>
              <a:t> : taxi but van</a:t>
            </a:r>
          </a:p>
          <a:p>
            <a:pPr marL="0" indent="0">
              <a:buNone/>
            </a:pPr>
            <a:r>
              <a:rPr lang="en-ID" sz="4000" dirty="0" err="1"/>
              <a:t>Kereta</a:t>
            </a:r>
            <a:r>
              <a:rPr lang="en-ID" sz="4000" dirty="0"/>
              <a:t> </a:t>
            </a:r>
            <a:r>
              <a:rPr lang="en-ID" sz="4000" dirty="0" err="1"/>
              <a:t>api</a:t>
            </a:r>
            <a:r>
              <a:rPr lang="en-ID" sz="4000" dirty="0"/>
              <a:t> : train</a:t>
            </a:r>
          </a:p>
          <a:p>
            <a:pPr marL="0" indent="0">
              <a:buNone/>
            </a:pPr>
            <a:r>
              <a:rPr lang="en-ID" sz="4000" dirty="0" err="1"/>
              <a:t>Becak</a:t>
            </a:r>
            <a:r>
              <a:rPr lang="en-ID" sz="4000" dirty="0"/>
              <a:t> : pedicab</a:t>
            </a:r>
          </a:p>
          <a:p>
            <a:pPr marL="0" indent="0">
              <a:buNone/>
            </a:pPr>
            <a:r>
              <a:rPr lang="en-ID" sz="4000" dirty="0" err="1"/>
              <a:t>Pesawat</a:t>
            </a:r>
            <a:endParaRPr lang="en-ID" sz="4000" dirty="0"/>
          </a:p>
          <a:p>
            <a:pPr marL="0" indent="0">
              <a:buNone/>
            </a:pPr>
            <a:r>
              <a:rPr lang="en-ID" sz="4000" dirty="0"/>
              <a:t>Kayak : kano</a:t>
            </a:r>
          </a:p>
        </p:txBody>
      </p:sp>
    </p:spTree>
    <p:extLst>
      <p:ext uri="{BB962C8B-B14F-4D97-AF65-F5344CB8AC3E}">
        <p14:creationId xmlns:p14="http://schemas.microsoft.com/office/powerpoint/2010/main" val="821404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E975D-6DC4-448A-912A-D6DADA78AB53}"/>
              </a:ext>
            </a:extLst>
          </p:cNvPr>
          <p:cNvSpPr>
            <a:spLocks noGrp="1"/>
          </p:cNvSpPr>
          <p:nvPr>
            <p:ph type="ctrTitle"/>
          </p:nvPr>
        </p:nvSpPr>
        <p:spPr>
          <a:xfrm>
            <a:off x="401782" y="332509"/>
            <a:ext cx="11333018" cy="6206836"/>
          </a:xfrm>
        </p:spPr>
        <p:txBody>
          <a:bodyPr anchor="ctr">
            <a:normAutofit/>
          </a:bodyPr>
          <a:lstStyle/>
          <a:p>
            <a:pPr algn="l"/>
            <a:r>
              <a:rPr lang="en-US" sz="4400" dirty="0">
                <a:latin typeface="Adobe Arabic" panose="02040503050201020203" pitchFamily="18" charset="-78"/>
                <a:cs typeface="Adobe Arabic" panose="02040503050201020203" pitchFamily="18" charset="-78"/>
              </a:rPr>
              <a:t>Saya </a:t>
            </a:r>
            <a:r>
              <a:rPr lang="en-US" sz="4400" dirty="0" err="1">
                <a:latin typeface="Adobe Arabic" panose="02040503050201020203" pitchFamily="18" charset="-78"/>
                <a:cs typeface="Adobe Arabic" panose="02040503050201020203" pitchFamily="18" charset="-78"/>
              </a:rPr>
              <a:t>pergi</a:t>
            </a:r>
            <a:r>
              <a:rPr lang="en-US" sz="4400" dirty="0">
                <a:latin typeface="Adobe Arabic" panose="02040503050201020203" pitchFamily="18" charset="-78"/>
                <a:cs typeface="Adobe Arabic" panose="02040503050201020203" pitchFamily="18" charset="-78"/>
              </a:rPr>
              <a:t> </a:t>
            </a:r>
            <a:r>
              <a:rPr lang="en-US" sz="4400" dirty="0" err="1">
                <a:latin typeface="Adobe Arabic" panose="02040503050201020203" pitchFamily="18" charset="-78"/>
                <a:cs typeface="Adobe Arabic" panose="02040503050201020203" pitchFamily="18" charset="-78"/>
              </a:rPr>
              <a:t>ke</a:t>
            </a:r>
            <a:r>
              <a:rPr lang="en-US" sz="4400" dirty="0">
                <a:latin typeface="Adobe Arabic" panose="02040503050201020203" pitchFamily="18" charset="-78"/>
                <a:cs typeface="Adobe Arabic" panose="02040503050201020203" pitchFamily="18" charset="-78"/>
              </a:rPr>
              <a:t> Bandung naik </a:t>
            </a:r>
            <a:r>
              <a:rPr lang="en-US" sz="4400" b="1" dirty="0">
                <a:latin typeface="Adobe Arabic" panose="02040503050201020203" pitchFamily="18" charset="-78"/>
                <a:cs typeface="Adobe Arabic" panose="02040503050201020203" pitchFamily="18" charset="-78"/>
              </a:rPr>
              <a:t>bus</a:t>
            </a:r>
            <a:br>
              <a:rPr lang="en-US" sz="4400" dirty="0">
                <a:latin typeface="Adobe Arabic" panose="02040503050201020203" pitchFamily="18" charset="-78"/>
                <a:cs typeface="Adobe Arabic" panose="02040503050201020203" pitchFamily="18" charset="-78"/>
              </a:rPr>
            </a:br>
            <a:r>
              <a:rPr lang="en-US" sz="4400" dirty="0" err="1">
                <a:latin typeface="Adobe Arabic" panose="02040503050201020203" pitchFamily="18" charset="-78"/>
                <a:cs typeface="Adobe Arabic" panose="02040503050201020203" pitchFamily="18" charset="-78"/>
              </a:rPr>
              <a:t>Adila</a:t>
            </a:r>
            <a:r>
              <a:rPr lang="en-US" sz="4400" dirty="0">
                <a:latin typeface="Adobe Arabic" panose="02040503050201020203" pitchFamily="18" charset="-78"/>
                <a:cs typeface="Adobe Arabic" panose="02040503050201020203" pitchFamily="18" charset="-78"/>
              </a:rPr>
              <a:t> </a:t>
            </a:r>
            <a:r>
              <a:rPr lang="en-US" sz="4400" dirty="0" err="1">
                <a:latin typeface="Adobe Arabic" panose="02040503050201020203" pitchFamily="18" charset="-78"/>
                <a:cs typeface="Adobe Arabic" panose="02040503050201020203" pitchFamily="18" charset="-78"/>
              </a:rPr>
              <a:t>pergi</a:t>
            </a:r>
            <a:r>
              <a:rPr lang="en-US" sz="4400" dirty="0">
                <a:latin typeface="Adobe Arabic" panose="02040503050201020203" pitchFamily="18" charset="-78"/>
                <a:cs typeface="Adobe Arabic" panose="02040503050201020203" pitchFamily="18" charset="-78"/>
              </a:rPr>
              <a:t> </a:t>
            </a:r>
            <a:r>
              <a:rPr lang="en-US" sz="4400" dirty="0" err="1">
                <a:latin typeface="Adobe Arabic" panose="02040503050201020203" pitchFamily="18" charset="-78"/>
                <a:cs typeface="Adobe Arabic" panose="02040503050201020203" pitchFamily="18" charset="-78"/>
              </a:rPr>
              <a:t>ke</a:t>
            </a:r>
            <a:r>
              <a:rPr lang="en-US" sz="4400" dirty="0">
                <a:latin typeface="Adobe Arabic" panose="02040503050201020203" pitchFamily="18" charset="-78"/>
                <a:cs typeface="Adobe Arabic" panose="02040503050201020203" pitchFamily="18" charset="-78"/>
              </a:rPr>
              <a:t> Italia naik </a:t>
            </a:r>
            <a:r>
              <a:rPr lang="en-US" sz="4400" b="1" dirty="0" err="1">
                <a:latin typeface="Adobe Arabic" panose="02040503050201020203" pitchFamily="18" charset="-78"/>
                <a:cs typeface="Adobe Arabic" panose="02040503050201020203" pitchFamily="18" charset="-78"/>
              </a:rPr>
              <a:t>pesawat</a:t>
            </a:r>
            <a:br>
              <a:rPr lang="en-US" sz="4400" dirty="0">
                <a:latin typeface="Adobe Arabic" panose="02040503050201020203" pitchFamily="18" charset="-78"/>
                <a:cs typeface="Adobe Arabic" panose="02040503050201020203" pitchFamily="18" charset="-78"/>
              </a:rPr>
            </a:br>
            <a:r>
              <a:rPr lang="en-US" sz="4400" dirty="0" err="1">
                <a:latin typeface="Adobe Arabic" panose="02040503050201020203" pitchFamily="18" charset="-78"/>
                <a:cs typeface="Adobe Arabic" panose="02040503050201020203" pitchFamily="18" charset="-78"/>
              </a:rPr>
              <a:t>Zaw</a:t>
            </a:r>
            <a:r>
              <a:rPr lang="en-US" sz="4400" dirty="0">
                <a:latin typeface="Adobe Arabic" panose="02040503050201020203" pitchFamily="18" charset="-78"/>
                <a:cs typeface="Adobe Arabic" panose="02040503050201020203" pitchFamily="18" charset="-78"/>
              </a:rPr>
              <a:t> </a:t>
            </a:r>
            <a:r>
              <a:rPr lang="en-US" sz="4400" dirty="0" err="1">
                <a:latin typeface="Adobe Arabic" panose="02040503050201020203" pitchFamily="18" charset="-78"/>
                <a:cs typeface="Adobe Arabic" panose="02040503050201020203" pitchFamily="18" charset="-78"/>
              </a:rPr>
              <a:t>pergi</a:t>
            </a:r>
            <a:r>
              <a:rPr lang="en-US" sz="4400" dirty="0">
                <a:latin typeface="Adobe Arabic" panose="02040503050201020203" pitchFamily="18" charset="-78"/>
                <a:cs typeface="Adobe Arabic" panose="02040503050201020203" pitchFamily="18" charset="-78"/>
              </a:rPr>
              <a:t> naik </a:t>
            </a:r>
            <a:r>
              <a:rPr lang="en-US" sz="4400" b="1" dirty="0" err="1">
                <a:latin typeface="Adobe Arabic" panose="02040503050201020203" pitchFamily="18" charset="-78"/>
                <a:cs typeface="Adobe Arabic" panose="02040503050201020203" pitchFamily="18" charset="-78"/>
              </a:rPr>
              <a:t>mobil</a:t>
            </a:r>
            <a:r>
              <a:rPr lang="en-US" sz="4400" dirty="0">
                <a:latin typeface="Adobe Arabic" panose="02040503050201020203" pitchFamily="18" charset="-78"/>
                <a:cs typeface="Adobe Arabic" panose="02040503050201020203" pitchFamily="18" charset="-78"/>
              </a:rPr>
              <a:t> </a:t>
            </a:r>
            <a:r>
              <a:rPr lang="en-US" sz="4400" dirty="0" err="1">
                <a:latin typeface="Adobe Arabic" panose="02040503050201020203" pitchFamily="18" charset="-78"/>
                <a:cs typeface="Adobe Arabic" panose="02040503050201020203" pitchFamily="18" charset="-78"/>
              </a:rPr>
              <a:t>selama</a:t>
            </a:r>
            <a:r>
              <a:rPr lang="en-US" sz="4400" dirty="0">
                <a:latin typeface="Adobe Arabic" panose="02040503050201020203" pitchFamily="18" charset="-78"/>
                <a:cs typeface="Adobe Arabic" panose="02040503050201020203" pitchFamily="18" charset="-78"/>
              </a:rPr>
              <a:t> 3 jam</a:t>
            </a:r>
            <a:br>
              <a:rPr lang="en-US" sz="4400" dirty="0">
                <a:latin typeface="Adobe Arabic" panose="02040503050201020203" pitchFamily="18" charset="-78"/>
                <a:cs typeface="Adobe Arabic" panose="02040503050201020203" pitchFamily="18" charset="-78"/>
              </a:rPr>
            </a:br>
            <a:r>
              <a:rPr lang="en-US" sz="4400" dirty="0" err="1">
                <a:latin typeface="Adobe Arabic" panose="02040503050201020203" pitchFamily="18" charset="-78"/>
                <a:cs typeface="Adobe Arabic" panose="02040503050201020203" pitchFamily="18" charset="-78"/>
              </a:rPr>
              <a:t>Harga</a:t>
            </a:r>
            <a:r>
              <a:rPr lang="en-US" sz="4400" dirty="0">
                <a:latin typeface="Adobe Arabic" panose="02040503050201020203" pitchFamily="18" charset="-78"/>
                <a:cs typeface="Adobe Arabic" panose="02040503050201020203" pitchFamily="18" charset="-78"/>
              </a:rPr>
              <a:t> </a:t>
            </a:r>
            <a:r>
              <a:rPr lang="en-US" sz="4400" dirty="0" err="1">
                <a:latin typeface="Adobe Arabic" panose="02040503050201020203" pitchFamily="18" charset="-78"/>
                <a:cs typeface="Adobe Arabic" panose="02040503050201020203" pitchFamily="18" charset="-78"/>
              </a:rPr>
              <a:t>tiket</a:t>
            </a:r>
            <a:r>
              <a:rPr lang="en-US" sz="4400" dirty="0">
                <a:latin typeface="Adobe Arabic" panose="02040503050201020203" pitchFamily="18" charset="-78"/>
                <a:cs typeface="Adobe Arabic" panose="02040503050201020203" pitchFamily="18" charset="-78"/>
              </a:rPr>
              <a:t> </a:t>
            </a:r>
            <a:r>
              <a:rPr lang="en-US" sz="4400" b="1" dirty="0" err="1">
                <a:latin typeface="Adobe Arabic" panose="02040503050201020203" pitchFamily="18" charset="-78"/>
                <a:cs typeface="Adobe Arabic" panose="02040503050201020203" pitchFamily="18" charset="-78"/>
              </a:rPr>
              <a:t>kereta</a:t>
            </a:r>
            <a:r>
              <a:rPr lang="en-US" sz="4400" b="1" dirty="0">
                <a:latin typeface="Adobe Arabic" panose="02040503050201020203" pitchFamily="18" charset="-78"/>
                <a:cs typeface="Adobe Arabic" panose="02040503050201020203" pitchFamily="18" charset="-78"/>
              </a:rPr>
              <a:t> </a:t>
            </a:r>
            <a:r>
              <a:rPr lang="en-US" sz="4400" b="1" dirty="0" err="1">
                <a:latin typeface="Adobe Arabic" panose="02040503050201020203" pitchFamily="18" charset="-78"/>
                <a:cs typeface="Adobe Arabic" panose="02040503050201020203" pitchFamily="18" charset="-78"/>
              </a:rPr>
              <a:t>api</a:t>
            </a:r>
            <a:r>
              <a:rPr lang="en-US" sz="4400" b="1" dirty="0">
                <a:latin typeface="Adobe Arabic" panose="02040503050201020203" pitchFamily="18" charset="-78"/>
                <a:cs typeface="Adobe Arabic" panose="02040503050201020203" pitchFamily="18" charset="-78"/>
              </a:rPr>
              <a:t> </a:t>
            </a:r>
            <a:r>
              <a:rPr lang="en-US" sz="4400" dirty="0">
                <a:latin typeface="Adobe Arabic" panose="02040503050201020203" pitchFamily="18" charset="-78"/>
                <a:cs typeface="Adobe Arabic" panose="02040503050201020203" pitchFamily="18" charset="-78"/>
              </a:rPr>
              <a:t>400 </a:t>
            </a:r>
            <a:r>
              <a:rPr lang="en-US" sz="4400" dirty="0" err="1">
                <a:latin typeface="Adobe Arabic" panose="02040503050201020203" pitchFamily="18" charset="-78"/>
                <a:cs typeface="Adobe Arabic" panose="02040503050201020203" pitchFamily="18" charset="-78"/>
              </a:rPr>
              <a:t>usd</a:t>
            </a:r>
            <a:br>
              <a:rPr lang="en-US" sz="4400" dirty="0">
                <a:latin typeface="Adobe Arabic" panose="02040503050201020203" pitchFamily="18" charset="-78"/>
                <a:cs typeface="Adobe Arabic" panose="02040503050201020203" pitchFamily="18" charset="-78"/>
              </a:rPr>
            </a:br>
            <a:r>
              <a:rPr lang="en-US" sz="4400" dirty="0">
                <a:latin typeface="Adobe Arabic" panose="02040503050201020203" pitchFamily="18" charset="-78"/>
                <a:cs typeface="Adobe Arabic" panose="02040503050201020203" pitchFamily="18" charset="-78"/>
              </a:rPr>
              <a:t>Mamadou naik </a:t>
            </a:r>
            <a:r>
              <a:rPr lang="en-US" sz="4400" b="1" dirty="0" err="1">
                <a:latin typeface="Adobe Arabic" panose="02040503050201020203" pitchFamily="18" charset="-78"/>
                <a:cs typeface="Adobe Arabic" panose="02040503050201020203" pitchFamily="18" charset="-78"/>
              </a:rPr>
              <a:t>sepeda</a:t>
            </a:r>
            <a:r>
              <a:rPr lang="en-US" sz="4400" b="1" dirty="0">
                <a:latin typeface="Adobe Arabic" panose="02040503050201020203" pitchFamily="18" charset="-78"/>
                <a:cs typeface="Adobe Arabic" panose="02040503050201020203" pitchFamily="18" charset="-78"/>
              </a:rPr>
              <a:t> motor </a:t>
            </a:r>
            <a:r>
              <a:rPr lang="en-US" sz="4400" dirty="0" err="1">
                <a:latin typeface="Adobe Arabic" panose="02040503050201020203" pitchFamily="18" charset="-78"/>
                <a:cs typeface="Adobe Arabic" panose="02040503050201020203" pitchFamily="18" charset="-78"/>
              </a:rPr>
              <a:t>dari</a:t>
            </a:r>
            <a:r>
              <a:rPr lang="en-US" sz="4400" dirty="0">
                <a:latin typeface="Adobe Arabic" panose="02040503050201020203" pitchFamily="18" charset="-78"/>
                <a:cs typeface="Adobe Arabic" panose="02040503050201020203" pitchFamily="18" charset="-78"/>
              </a:rPr>
              <a:t> Jakarta </a:t>
            </a:r>
            <a:r>
              <a:rPr lang="en-US" sz="4400" dirty="0" err="1">
                <a:latin typeface="Adobe Arabic" panose="02040503050201020203" pitchFamily="18" charset="-78"/>
                <a:cs typeface="Adobe Arabic" panose="02040503050201020203" pitchFamily="18" charset="-78"/>
              </a:rPr>
              <a:t>ke</a:t>
            </a:r>
            <a:r>
              <a:rPr lang="en-US" sz="4400" dirty="0">
                <a:latin typeface="Adobe Arabic" panose="02040503050201020203" pitchFamily="18" charset="-78"/>
                <a:cs typeface="Adobe Arabic" panose="02040503050201020203" pitchFamily="18" charset="-78"/>
              </a:rPr>
              <a:t> Bandung</a:t>
            </a:r>
            <a:br>
              <a:rPr lang="en-US" sz="4400" dirty="0">
                <a:latin typeface="Adobe Arabic" panose="02040503050201020203" pitchFamily="18" charset="-78"/>
                <a:cs typeface="Adobe Arabic" panose="02040503050201020203" pitchFamily="18" charset="-78"/>
              </a:rPr>
            </a:br>
            <a:r>
              <a:rPr lang="en-US" sz="4400" dirty="0">
                <a:latin typeface="Adobe Arabic" panose="02040503050201020203" pitchFamily="18" charset="-78"/>
                <a:cs typeface="Adobe Arabic" panose="02040503050201020203" pitchFamily="18" charset="-78"/>
              </a:rPr>
              <a:t>Laure </a:t>
            </a:r>
            <a:r>
              <a:rPr lang="en-US" sz="4400" dirty="0" err="1">
                <a:latin typeface="Adobe Arabic" panose="02040503050201020203" pitchFamily="18" charset="-78"/>
                <a:cs typeface="Adobe Arabic" panose="02040503050201020203" pitchFamily="18" charset="-78"/>
              </a:rPr>
              <a:t>pergi</a:t>
            </a:r>
            <a:r>
              <a:rPr lang="en-US" sz="4400" dirty="0">
                <a:latin typeface="Adobe Arabic" panose="02040503050201020203" pitchFamily="18" charset="-78"/>
                <a:cs typeface="Adobe Arabic" panose="02040503050201020203" pitchFamily="18" charset="-78"/>
              </a:rPr>
              <a:t> naik </a:t>
            </a:r>
            <a:r>
              <a:rPr lang="en-US" sz="4400" b="1" dirty="0" err="1">
                <a:latin typeface="Adobe Arabic" panose="02040503050201020203" pitchFamily="18" charset="-78"/>
                <a:cs typeface="Adobe Arabic" panose="02040503050201020203" pitchFamily="18" charset="-78"/>
              </a:rPr>
              <a:t>pesawat</a:t>
            </a:r>
            <a:r>
              <a:rPr lang="en-US" sz="4400" dirty="0">
                <a:latin typeface="Adobe Arabic" panose="02040503050201020203" pitchFamily="18" charset="-78"/>
                <a:cs typeface="Adobe Arabic" panose="02040503050201020203" pitchFamily="18" charset="-78"/>
              </a:rPr>
              <a:t> </a:t>
            </a:r>
            <a:r>
              <a:rPr lang="en-US" sz="4400" dirty="0" err="1">
                <a:latin typeface="Adobe Arabic" panose="02040503050201020203" pitchFamily="18" charset="-78"/>
                <a:cs typeface="Adobe Arabic" panose="02040503050201020203" pitchFamily="18" charset="-78"/>
              </a:rPr>
              <a:t>dari</a:t>
            </a:r>
            <a:r>
              <a:rPr lang="en-US" sz="4400" dirty="0">
                <a:latin typeface="Adobe Arabic" panose="02040503050201020203" pitchFamily="18" charset="-78"/>
                <a:cs typeface="Adobe Arabic" panose="02040503050201020203" pitchFamily="18" charset="-78"/>
              </a:rPr>
              <a:t> </a:t>
            </a:r>
            <a:r>
              <a:rPr lang="en-US" sz="4400" dirty="0" err="1">
                <a:latin typeface="Adobe Arabic" panose="02040503050201020203" pitchFamily="18" charset="-78"/>
                <a:cs typeface="Adobe Arabic" panose="02040503050201020203" pitchFamily="18" charset="-78"/>
              </a:rPr>
              <a:t>pukul</a:t>
            </a:r>
            <a:r>
              <a:rPr lang="en-US" sz="4400" dirty="0">
                <a:latin typeface="Adobe Arabic" panose="02040503050201020203" pitchFamily="18" charset="-78"/>
                <a:cs typeface="Adobe Arabic" panose="02040503050201020203" pitchFamily="18" charset="-78"/>
              </a:rPr>
              <a:t> 08.00 </a:t>
            </a:r>
            <a:r>
              <a:rPr lang="en-US" sz="4400" dirty="0" err="1">
                <a:latin typeface="Adobe Arabic" panose="02040503050201020203" pitchFamily="18" charset="-78"/>
                <a:cs typeface="Adobe Arabic" panose="02040503050201020203" pitchFamily="18" charset="-78"/>
              </a:rPr>
              <a:t>pagi</a:t>
            </a:r>
            <a:br>
              <a:rPr lang="en-US" sz="4400" dirty="0">
                <a:latin typeface="Adobe Arabic" panose="02040503050201020203" pitchFamily="18" charset="-78"/>
                <a:cs typeface="Adobe Arabic" panose="02040503050201020203" pitchFamily="18" charset="-78"/>
              </a:rPr>
            </a:br>
            <a:br>
              <a:rPr lang="en-US" sz="4400" dirty="0">
                <a:latin typeface="Adobe Arabic" panose="02040503050201020203" pitchFamily="18" charset="-78"/>
                <a:cs typeface="Adobe Arabic" panose="02040503050201020203" pitchFamily="18" charset="-78"/>
              </a:rPr>
            </a:br>
            <a:r>
              <a:rPr lang="en-US" sz="4400" dirty="0" err="1">
                <a:latin typeface="Adobe Arabic" panose="02040503050201020203" pitchFamily="18" charset="-78"/>
                <a:cs typeface="Adobe Arabic" panose="02040503050201020203" pitchFamily="18" charset="-78"/>
              </a:rPr>
              <a:t>buat</a:t>
            </a:r>
            <a:r>
              <a:rPr lang="en-US" sz="4400" dirty="0">
                <a:latin typeface="Adobe Arabic" panose="02040503050201020203" pitchFamily="18" charset="-78"/>
                <a:cs typeface="Adobe Arabic" panose="02040503050201020203" pitchFamily="18" charset="-78"/>
              </a:rPr>
              <a:t> 3 </a:t>
            </a:r>
            <a:r>
              <a:rPr lang="en-US" sz="4400" dirty="0" err="1">
                <a:latin typeface="Adobe Arabic" panose="02040503050201020203" pitchFamily="18" charset="-78"/>
                <a:cs typeface="Adobe Arabic" panose="02040503050201020203" pitchFamily="18" charset="-78"/>
              </a:rPr>
              <a:t>kalimat</a:t>
            </a:r>
            <a:r>
              <a:rPr lang="en-US" sz="4400" dirty="0">
                <a:latin typeface="Adobe Arabic" panose="02040503050201020203" pitchFamily="18" charset="-78"/>
                <a:cs typeface="Adobe Arabic" panose="02040503050201020203" pitchFamily="18" charset="-78"/>
              </a:rPr>
              <a:t> </a:t>
            </a:r>
            <a:r>
              <a:rPr lang="en-US" sz="4400" dirty="0" err="1">
                <a:latin typeface="Adobe Arabic" panose="02040503050201020203" pitchFamily="18" charset="-78"/>
                <a:cs typeface="Adobe Arabic" panose="02040503050201020203" pitchFamily="18" charset="-78"/>
              </a:rPr>
              <a:t>tentang</a:t>
            </a:r>
            <a:r>
              <a:rPr lang="en-US" sz="4400" dirty="0">
                <a:latin typeface="Adobe Arabic" panose="02040503050201020203" pitchFamily="18" charset="-78"/>
                <a:cs typeface="Adobe Arabic" panose="02040503050201020203" pitchFamily="18" charset="-78"/>
              </a:rPr>
              <a:t> </a:t>
            </a:r>
            <a:r>
              <a:rPr lang="en-US" sz="4400" dirty="0" err="1">
                <a:latin typeface="Adobe Arabic" panose="02040503050201020203" pitchFamily="18" charset="-78"/>
                <a:cs typeface="Adobe Arabic" panose="02040503050201020203" pitchFamily="18" charset="-78"/>
              </a:rPr>
              <a:t>transportasi</a:t>
            </a:r>
            <a:r>
              <a:rPr lang="en-US" sz="4400" dirty="0">
                <a:latin typeface="Adobe Arabic" panose="02040503050201020203" pitchFamily="18" charset="-78"/>
                <a:cs typeface="Adobe Arabic" panose="02040503050201020203" pitchFamily="18" charset="-78"/>
              </a:rPr>
              <a:t>!</a:t>
            </a:r>
            <a:endParaRPr lang="en-ID" sz="4400" dirty="0">
              <a:latin typeface="Adobe Arabic" panose="02040503050201020203" pitchFamily="18" charset="-78"/>
              <a:cs typeface="Adobe Arabic" panose="02040503050201020203" pitchFamily="18" charset="-78"/>
            </a:endParaRPr>
          </a:p>
        </p:txBody>
      </p:sp>
      <p:pic>
        <p:nvPicPr>
          <p:cNvPr id="4" name="Picture 22" descr="How to Draw a Cartoon Airplane - Really Easy Drawing Tutorial">
            <a:extLst>
              <a:ext uri="{FF2B5EF4-FFF2-40B4-BE49-F238E27FC236}">
                <a16:creationId xmlns:a16="http://schemas.microsoft.com/office/drawing/2014/main" id="{0ACC15FD-F0A0-4D50-B534-9ABD41FB70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340738" flipH="1">
            <a:off x="9538391" y="398389"/>
            <a:ext cx="2484627" cy="14038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0" descr="Page 2 | High Speed Railway Vector Art, Icons, and Graphics for Free  Download">
            <a:extLst>
              <a:ext uri="{FF2B5EF4-FFF2-40B4-BE49-F238E27FC236}">
                <a16:creationId xmlns:a16="http://schemas.microsoft.com/office/drawing/2014/main" id="{DB29B39F-1335-41D9-8E76-183500EED5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8497272" y="5010636"/>
            <a:ext cx="3694728" cy="18473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486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3DB4F-6FF9-4A5E-B502-B8C00A8D496A}"/>
              </a:ext>
            </a:extLst>
          </p:cNvPr>
          <p:cNvSpPr>
            <a:spLocks noGrp="1"/>
          </p:cNvSpPr>
          <p:nvPr>
            <p:ph type="title"/>
          </p:nvPr>
        </p:nvSpPr>
        <p:spPr>
          <a:xfrm>
            <a:off x="838200" y="365125"/>
            <a:ext cx="10515600" cy="743239"/>
          </a:xfrm>
        </p:spPr>
        <p:txBody>
          <a:bodyPr/>
          <a:lstStyle/>
          <a:p>
            <a:pPr algn="ctr"/>
            <a:r>
              <a:rPr lang="en-US" dirty="0" err="1"/>
              <a:t>Kosakata</a:t>
            </a:r>
            <a:r>
              <a:rPr lang="en-US" dirty="0"/>
              <a:t> </a:t>
            </a:r>
            <a:r>
              <a:rPr lang="en-US" dirty="0" err="1"/>
              <a:t>tentang</a:t>
            </a:r>
            <a:r>
              <a:rPr lang="en-US" dirty="0"/>
              <a:t> </a:t>
            </a:r>
            <a:r>
              <a:rPr lang="en-US" dirty="0" err="1"/>
              <a:t>transportasi</a:t>
            </a:r>
            <a:endParaRPr lang="en-ID" dirty="0"/>
          </a:p>
        </p:txBody>
      </p:sp>
      <p:graphicFrame>
        <p:nvGraphicFramePr>
          <p:cNvPr id="4" name="Table 4">
            <a:extLst>
              <a:ext uri="{FF2B5EF4-FFF2-40B4-BE49-F238E27FC236}">
                <a16:creationId xmlns:a16="http://schemas.microsoft.com/office/drawing/2014/main" id="{24C9A585-B5C7-427D-8D00-EBA39D795EE1}"/>
              </a:ext>
            </a:extLst>
          </p:cNvPr>
          <p:cNvGraphicFramePr>
            <a:graphicFrameLocks noGrp="1"/>
          </p:cNvGraphicFramePr>
          <p:nvPr>
            <p:ph idx="1"/>
            <p:extLst>
              <p:ext uri="{D42A27DB-BD31-4B8C-83A1-F6EECF244321}">
                <p14:modId xmlns:p14="http://schemas.microsoft.com/office/powerpoint/2010/main" val="1461279001"/>
              </p:ext>
            </p:extLst>
          </p:nvPr>
        </p:nvGraphicFramePr>
        <p:xfrm>
          <a:off x="838200" y="1216025"/>
          <a:ext cx="10515600" cy="4667248"/>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654228343"/>
                    </a:ext>
                  </a:extLst>
                </a:gridCol>
                <a:gridCol w="2628900">
                  <a:extLst>
                    <a:ext uri="{9D8B030D-6E8A-4147-A177-3AD203B41FA5}">
                      <a16:colId xmlns:a16="http://schemas.microsoft.com/office/drawing/2014/main" val="1395078219"/>
                    </a:ext>
                  </a:extLst>
                </a:gridCol>
                <a:gridCol w="2628900">
                  <a:extLst>
                    <a:ext uri="{9D8B030D-6E8A-4147-A177-3AD203B41FA5}">
                      <a16:colId xmlns:a16="http://schemas.microsoft.com/office/drawing/2014/main" val="1255522457"/>
                    </a:ext>
                  </a:extLst>
                </a:gridCol>
                <a:gridCol w="2628900">
                  <a:extLst>
                    <a:ext uri="{9D8B030D-6E8A-4147-A177-3AD203B41FA5}">
                      <a16:colId xmlns:a16="http://schemas.microsoft.com/office/drawing/2014/main" val="2299901091"/>
                    </a:ext>
                  </a:extLst>
                </a:gridCol>
              </a:tblGrid>
              <a:tr h="583406">
                <a:tc>
                  <a:txBody>
                    <a:bodyPr/>
                    <a:lstStyle/>
                    <a:p>
                      <a:endParaRPr lang="en-ID" sz="2800" dirty="0"/>
                    </a:p>
                  </a:txBody>
                  <a:tcPr/>
                </a:tc>
                <a:tc>
                  <a:txBody>
                    <a:bodyPr/>
                    <a:lstStyle/>
                    <a:p>
                      <a:endParaRPr lang="en-ID" sz="2800" dirty="0"/>
                    </a:p>
                  </a:txBody>
                  <a:tcPr/>
                </a:tc>
                <a:tc>
                  <a:txBody>
                    <a:bodyPr/>
                    <a:lstStyle/>
                    <a:p>
                      <a:endParaRPr lang="en-ID" sz="2800" dirty="0"/>
                    </a:p>
                  </a:txBody>
                  <a:tcPr/>
                </a:tc>
                <a:tc>
                  <a:txBody>
                    <a:bodyPr/>
                    <a:lstStyle/>
                    <a:p>
                      <a:endParaRPr lang="en-ID" sz="2800" dirty="0"/>
                    </a:p>
                  </a:txBody>
                  <a:tcPr/>
                </a:tc>
                <a:extLst>
                  <a:ext uri="{0D108BD9-81ED-4DB2-BD59-A6C34878D82A}">
                    <a16:rowId xmlns:a16="http://schemas.microsoft.com/office/drawing/2014/main" val="45385481"/>
                  </a:ext>
                </a:extLst>
              </a:tr>
              <a:tr h="583406">
                <a:tc>
                  <a:txBody>
                    <a:bodyPr/>
                    <a:lstStyle/>
                    <a:p>
                      <a:r>
                        <a:rPr lang="en-US" sz="2800" dirty="0" err="1"/>
                        <a:t>Jarak</a:t>
                      </a:r>
                      <a:r>
                        <a:rPr lang="en-US" sz="2800" dirty="0"/>
                        <a:t> </a:t>
                      </a:r>
                      <a:endParaRPr lang="en-ID" sz="2800" dirty="0"/>
                    </a:p>
                  </a:txBody>
                  <a:tcPr/>
                </a:tc>
                <a:tc>
                  <a:txBody>
                    <a:bodyPr/>
                    <a:lstStyle/>
                    <a:p>
                      <a:r>
                        <a:rPr lang="en-US" sz="2800" dirty="0"/>
                        <a:t>Distance </a:t>
                      </a:r>
                      <a:endParaRPr lang="en-ID" sz="2800" dirty="0"/>
                    </a:p>
                  </a:txBody>
                  <a:tcPr/>
                </a:tc>
                <a:tc>
                  <a:txBody>
                    <a:bodyPr/>
                    <a:lstStyle/>
                    <a:p>
                      <a:r>
                        <a:rPr lang="en-US" sz="2800" dirty="0" err="1"/>
                        <a:t>Lambat</a:t>
                      </a:r>
                      <a:endParaRPr lang="en-ID" sz="2800" dirty="0"/>
                    </a:p>
                  </a:txBody>
                  <a:tcPr/>
                </a:tc>
                <a:tc>
                  <a:txBody>
                    <a:bodyPr/>
                    <a:lstStyle/>
                    <a:p>
                      <a:r>
                        <a:rPr lang="en-US" sz="2800" dirty="0"/>
                        <a:t>Slow </a:t>
                      </a:r>
                      <a:endParaRPr lang="en-ID" sz="2800" dirty="0"/>
                    </a:p>
                  </a:txBody>
                  <a:tcPr/>
                </a:tc>
                <a:extLst>
                  <a:ext uri="{0D108BD9-81ED-4DB2-BD59-A6C34878D82A}">
                    <a16:rowId xmlns:a16="http://schemas.microsoft.com/office/drawing/2014/main" val="2009881730"/>
                  </a:ext>
                </a:extLst>
              </a:tr>
              <a:tr h="583406">
                <a:tc>
                  <a:txBody>
                    <a:bodyPr/>
                    <a:lstStyle/>
                    <a:p>
                      <a:r>
                        <a:rPr lang="en-US" sz="2800" dirty="0" err="1"/>
                        <a:t>Kedatangan</a:t>
                      </a:r>
                      <a:endParaRPr lang="en-ID" sz="2800" dirty="0"/>
                    </a:p>
                  </a:txBody>
                  <a:tcPr/>
                </a:tc>
                <a:tc>
                  <a:txBody>
                    <a:bodyPr/>
                    <a:lstStyle/>
                    <a:p>
                      <a:r>
                        <a:rPr lang="en-US" sz="2800" dirty="0"/>
                        <a:t>Arrival</a:t>
                      </a:r>
                      <a:endParaRPr lang="en-ID" sz="2800" dirty="0"/>
                    </a:p>
                  </a:txBody>
                  <a:tcPr/>
                </a:tc>
                <a:tc>
                  <a:txBody>
                    <a:bodyPr/>
                    <a:lstStyle/>
                    <a:p>
                      <a:r>
                        <a:rPr lang="en-US" sz="2800" dirty="0" err="1"/>
                        <a:t>Cepat</a:t>
                      </a:r>
                      <a:endParaRPr lang="en-ID" sz="2800" dirty="0"/>
                    </a:p>
                  </a:txBody>
                  <a:tcPr/>
                </a:tc>
                <a:tc>
                  <a:txBody>
                    <a:bodyPr/>
                    <a:lstStyle/>
                    <a:p>
                      <a:r>
                        <a:rPr lang="en-US" sz="2800" dirty="0"/>
                        <a:t>Fast</a:t>
                      </a:r>
                      <a:endParaRPr lang="en-ID" sz="2800" dirty="0"/>
                    </a:p>
                  </a:txBody>
                  <a:tcPr/>
                </a:tc>
                <a:extLst>
                  <a:ext uri="{0D108BD9-81ED-4DB2-BD59-A6C34878D82A}">
                    <a16:rowId xmlns:a16="http://schemas.microsoft.com/office/drawing/2014/main" val="568950343"/>
                  </a:ext>
                </a:extLst>
              </a:tr>
              <a:tr h="583406">
                <a:tc>
                  <a:txBody>
                    <a:bodyPr/>
                    <a:lstStyle/>
                    <a:p>
                      <a:r>
                        <a:rPr lang="en-US" sz="2800" dirty="0" err="1"/>
                        <a:t>Tepat</a:t>
                      </a:r>
                      <a:r>
                        <a:rPr lang="en-US" sz="2800" dirty="0"/>
                        <a:t> </a:t>
                      </a:r>
                      <a:r>
                        <a:rPr lang="en-US" sz="2800" dirty="0" err="1"/>
                        <a:t>waktu</a:t>
                      </a:r>
                      <a:endParaRPr lang="en-ID" sz="2800" dirty="0"/>
                    </a:p>
                  </a:txBody>
                  <a:tcPr/>
                </a:tc>
                <a:tc>
                  <a:txBody>
                    <a:bodyPr/>
                    <a:lstStyle/>
                    <a:p>
                      <a:r>
                        <a:rPr lang="en-US" sz="2800" dirty="0"/>
                        <a:t>On time</a:t>
                      </a:r>
                      <a:endParaRPr lang="en-ID" sz="2800" dirty="0"/>
                    </a:p>
                  </a:txBody>
                  <a:tcPr/>
                </a:tc>
                <a:tc>
                  <a:txBody>
                    <a:bodyPr/>
                    <a:lstStyle/>
                    <a:p>
                      <a:r>
                        <a:rPr lang="en-US" sz="2800" dirty="0" err="1"/>
                        <a:t>Keberangkatan</a:t>
                      </a:r>
                      <a:endParaRPr lang="en-ID" sz="2800" dirty="0"/>
                    </a:p>
                  </a:txBody>
                  <a:tcPr/>
                </a:tc>
                <a:tc>
                  <a:txBody>
                    <a:bodyPr/>
                    <a:lstStyle/>
                    <a:p>
                      <a:r>
                        <a:rPr lang="en-US" sz="2800" dirty="0"/>
                        <a:t>Departure</a:t>
                      </a:r>
                      <a:endParaRPr lang="en-ID" sz="2800" dirty="0"/>
                    </a:p>
                  </a:txBody>
                  <a:tcPr/>
                </a:tc>
                <a:extLst>
                  <a:ext uri="{0D108BD9-81ED-4DB2-BD59-A6C34878D82A}">
                    <a16:rowId xmlns:a16="http://schemas.microsoft.com/office/drawing/2014/main" val="1054860862"/>
                  </a:ext>
                </a:extLst>
              </a:tr>
              <a:tr h="583406">
                <a:tc>
                  <a:txBody>
                    <a:bodyPr/>
                    <a:lstStyle/>
                    <a:p>
                      <a:r>
                        <a:rPr lang="en-US" sz="2800" dirty="0" err="1"/>
                        <a:t>Terlambat</a:t>
                      </a:r>
                      <a:r>
                        <a:rPr lang="en-US" sz="2800" dirty="0"/>
                        <a:t>/ </a:t>
                      </a:r>
                      <a:r>
                        <a:rPr lang="en-US" sz="2800" dirty="0" err="1"/>
                        <a:t>telat</a:t>
                      </a:r>
                      <a:r>
                        <a:rPr lang="en-US" sz="2800" dirty="0"/>
                        <a:t> </a:t>
                      </a:r>
                      <a:endParaRPr lang="en-ID" sz="2800" dirty="0"/>
                    </a:p>
                  </a:txBody>
                  <a:tcPr/>
                </a:tc>
                <a:tc>
                  <a:txBody>
                    <a:bodyPr/>
                    <a:lstStyle/>
                    <a:p>
                      <a:r>
                        <a:rPr lang="en-US" sz="2800" dirty="0"/>
                        <a:t>Late </a:t>
                      </a:r>
                      <a:endParaRPr lang="en-ID" sz="2800" dirty="0"/>
                    </a:p>
                  </a:txBody>
                  <a:tcPr/>
                </a:tc>
                <a:tc>
                  <a:txBody>
                    <a:bodyPr/>
                    <a:lstStyle/>
                    <a:p>
                      <a:r>
                        <a:rPr lang="en-US" sz="2800" dirty="0" err="1"/>
                        <a:t>Berhenti</a:t>
                      </a:r>
                      <a:endParaRPr lang="en-ID" sz="2800" dirty="0"/>
                    </a:p>
                  </a:txBody>
                  <a:tcPr/>
                </a:tc>
                <a:tc>
                  <a:txBody>
                    <a:bodyPr/>
                    <a:lstStyle/>
                    <a:p>
                      <a:r>
                        <a:rPr lang="en-US" sz="2800" dirty="0"/>
                        <a:t>Stop</a:t>
                      </a:r>
                      <a:endParaRPr lang="en-ID" sz="2800" dirty="0"/>
                    </a:p>
                  </a:txBody>
                  <a:tcPr/>
                </a:tc>
                <a:extLst>
                  <a:ext uri="{0D108BD9-81ED-4DB2-BD59-A6C34878D82A}">
                    <a16:rowId xmlns:a16="http://schemas.microsoft.com/office/drawing/2014/main" val="4033015213"/>
                  </a:ext>
                </a:extLst>
              </a:tr>
              <a:tr h="583406">
                <a:tc>
                  <a:txBody>
                    <a:bodyPr/>
                    <a:lstStyle/>
                    <a:p>
                      <a:r>
                        <a:rPr lang="en-US" sz="2800" dirty="0" err="1"/>
                        <a:t>Tunda</a:t>
                      </a:r>
                      <a:r>
                        <a:rPr lang="en-US" sz="2800" dirty="0"/>
                        <a:t> </a:t>
                      </a:r>
                      <a:endParaRPr lang="en-ID" sz="2800" dirty="0"/>
                    </a:p>
                  </a:txBody>
                  <a:tcPr/>
                </a:tc>
                <a:tc>
                  <a:txBody>
                    <a:bodyPr/>
                    <a:lstStyle/>
                    <a:p>
                      <a:r>
                        <a:rPr lang="en-US" sz="2800" dirty="0"/>
                        <a:t>Delay </a:t>
                      </a:r>
                      <a:endParaRPr lang="en-ID" sz="2800" dirty="0"/>
                    </a:p>
                  </a:txBody>
                  <a:tcPr/>
                </a:tc>
                <a:tc>
                  <a:txBody>
                    <a:bodyPr/>
                    <a:lstStyle/>
                    <a:p>
                      <a:r>
                        <a:rPr lang="en-US" sz="2800" dirty="0" err="1"/>
                        <a:t>Dekat</a:t>
                      </a:r>
                      <a:endParaRPr lang="en-ID" sz="2800" dirty="0"/>
                    </a:p>
                  </a:txBody>
                  <a:tcPr/>
                </a:tc>
                <a:tc>
                  <a:txBody>
                    <a:bodyPr/>
                    <a:lstStyle/>
                    <a:p>
                      <a:r>
                        <a:rPr lang="en-US" sz="2800" dirty="0"/>
                        <a:t>Close </a:t>
                      </a:r>
                      <a:endParaRPr lang="en-ID" sz="2800" dirty="0"/>
                    </a:p>
                  </a:txBody>
                  <a:tcPr/>
                </a:tc>
                <a:extLst>
                  <a:ext uri="{0D108BD9-81ED-4DB2-BD59-A6C34878D82A}">
                    <a16:rowId xmlns:a16="http://schemas.microsoft.com/office/drawing/2014/main" val="2518753683"/>
                  </a:ext>
                </a:extLst>
              </a:tr>
              <a:tr h="583406">
                <a:tc>
                  <a:txBody>
                    <a:bodyPr/>
                    <a:lstStyle/>
                    <a:p>
                      <a:r>
                        <a:rPr lang="en-US" sz="2800" dirty="0" err="1"/>
                        <a:t>Batal</a:t>
                      </a:r>
                      <a:r>
                        <a:rPr lang="en-US" sz="2800" dirty="0"/>
                        <a:t> </a:t>
                      </a:r>
                      <a:endParaRPr lang="en-ID" sz="2800" dirty="0"/>
                    </a:p>
                  </a:txBody>
                  <a:tcPr/>
                </a:tc>
                <a:tc>
                  <a:txBody>
                    <a:bodyPr/>
                    <a:lstStyle/>
                    <a:p>
                      <a:r>
                        <a:rPr lang="en-US" sz="2800" dirty="0"/>
                        <a:t>Cancel </a:t>
                      </a:r>
                      <a:endParaRPr lang="en-ID" sz="2800" dirty="0"/>
                    </a:p>
                  </a:txBody>
                  <a:tcPr/>
                </a:tc>
                <a:tc>
                  <a:txBody>
                    <a:bodyPr/>
                    <a:lstStyle/>
                    <a:p>
                      <a:r>
                        <a:rPr lang="en-US" sz="2800" dirty="0" err="1"/>
                        <a:t>Loket</a:t>
                      </a:r>
                      <a:endParaRPr lang="en-ID" sz="2800" dirty="0"/>
                    </a:p>
                  </a:txBody>
                  <a:tcPr/>
                </a:tc>
                <a:tc>
                  <a:txBody>
                    <a:bodyPr/>
                    <a:lstStyle/>
                    <a:p>
                      <a:r>
                        <a:rPr lang="en-US" sz="2800" dirty="0" err="1"/>
                        <a:t>Tiket</a:t>
                      </a:r>
                      <a:r>
                        <a:rPr lang="en-US" sz="2800" dirty="0"/>
                        <a:t> counter</a:t>
                      </a:r>
                      <a:endParaRPr lang="en-ID" sz="2800" dirty="0"/>
                    </a:p>
                  </a:txBody>
                  <a:tcPr/>
                </a:tc>
                <a:extLst>
                  <a:ext uri="{0D108BD9-81ED-4DB2-BD59-A6C34878D82A}">
                    <a16:rowId xmlns:a16="http://schemas.microsoft.com/office/drawing/2014/main" val="3159822691"/>
                  </a:ext>
                </a:extLst>
              </a:tr>
              <a:tr h="583406">
                <a:tc>
                  <a:txBody>
                    <a:bodyPr/>
                    <a:lstStyle/>
                    <a:p>
                      <a:r>
                        <a:rPr lang="en-US" sz="2800" dirty="0" err="1"/>
                        <a:t>Bandara</a:t>
                      </a:r>
                      <a:endParaRPr lang="en-ID" sz="2800" dirty="0"/>
                    </a:p>
                  </a:txBody>
                  <a:tcPr/>
                </a:tc>
                <a:tc>
                  <a:txBody>
                    <a:bodyPr/>
                    <a:lstStyle/>
                    <a:p>
                      <a:r>
                        <a:rPr lang="en-US" sz="2800" dirty="0"/>
                        <a:t>Airport </a:t>
                      </a:r>
                      <a:endParaRPr lang="en-ID" sz="2800" dirty="0"/>
                    </a:p>
                  </a:txBody>
                  <a:tcPr/>
                </a:tc>
                <a:tc>
                  <a:txBody>
                    <a:bodyPr/>
                    <a:lstStyle/>
                    <a:p>
                      <a:r>
                        <a:rPr lang="en-US" sz="2800" dirty="0" err="1"/>
                        <a:t>Jemput</a:t>
                      </a:r>
                      <a:r>
                        <a:rPr lang="en-US" sz="2800" dirty="0"/>
                        <a:t> </a:t>
                      </a:r>
                      <a:endParaRPr lang="en-ID" sz="2800" dirty="0"/>
                    </a:p>
                  </a:txBody>
                  <a:tcPr/>
                </a:tc>
                <a:tc>
                  <a:txBody>
                    <a:bodyPr/>
                    <a:lstStyle/>
                    <a:p>
                      <a:r>
                        <a:rPr lang="en-US" sz="2800" dirty="0"/>
                        <a:t>Pick up </a:t>
                      </a:r>
                      <a:endParaRPr lang="en-ID" sz="2800" dirty="0"/>
                    </a:p>
                  </a:txBody>
                  <a:tcPr/>
                </a:tc>
                <a:extLst>
                  <a:ext uri="{0D108BD9-81ED-4DB2-BD59-A6C34878D82A}">
                    <a16:rowId xmlns:a16="http://schemas.microsoft.com/office/drawing/2014/main" val="4041455357"/>
                  </a:ext>
                </a:extLst>
              </a:tr>
            </a:tbl>
          </a:graphicData>
        </a:graphic>
      </p:graphicFrame>
    </p:spTree>
    <p:extLst>
      <p:ext uri="{BB962C8B-B14F-4D97-AF65-F5344CB8AC3E}">
        <p14:creationId xmlns:p14="http://schemas.microsoft.com/office/powerpoint/2010/main" val="664133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1EAF9-A8A7-4A33-9B3F-ACBE1A7FFCA3}"/>
              </a:ext>
            </a:extLst>
          </p:cNvPr>
          <p:cNvSpPr>
            <a:spLocks noGrp="1"/>
          </p:cNvSpPr>
          <p:nvPr>
            <p:ph type="title"/>
          </p:nvPr>
        </p:nvSpPr>
        <p:spPr>
          <a:xfrm>
            <a:off x="838200" y="4391890"/>
            <a:ext cx="10515600" cy="1981199"/>
          </a:xfrm>
        </p:spPr>
        <p:txBody>
          <a:bodyPr>
            <a:noAutofit/>
          </a:bodyPr>
          <a:lstStyle/>
          <a:p>
            <a:r>
              <a:rPr lang="en-US" sz="3200" dirty="0"/>
              <a:t>1. </a:t>
            </a:r>
            <a:r>
              <a:rPr lang="it-IT" sz="3200" dirty="0">
                <a:effectLst/>
              </a:rPr>
              <a:t>Ke mana Adila pergi kerja setiap hari?</a:t>
            </a:r>
            <a:br>
              <a:rPr lang="it-IT" sz="3200" dirty="0">
                <a:effectLst/>
              </a:rPr>
            </a:br>
            <a:r>
              <a:rPr lang="it-IT" sz="3200" dirty="0">
                <a:effectLst/>
              </a:rPr>
              <a:t>2. </a:t>
            </a:r>
            <a:r>
              <a:rPr lang="en-ID" sz="3200" dirty="0" err="1">
                <a:effectLst/>
              </a:rPr>
              <a:t>Apa</a:t>
            </a:r>
            <a:r>
              <a:rPr lang="en-ID" sz="3200" dirty="0">
                <a:effectLst/>
              </a:rPr>
              <a:t> </a:t>
            </a:r>
            <a:r>
              <a:rPr lang="en-ID" sz="3200" dirty="0" err="1">
                <a:effectLst/>
              </a:rPr>
              <a:t>kendaraan</a:t>
            </a:r>
            <a:r>
              <a:rPr lang="en-ID" sz="3200" dirty="0">
                <a:effectLst/>
              </a:rPr>
              <a:t> yang </a:t>
            </a:r>
            <a:r>
              <a:rPr lang="en-ID" sz="3200" dirty="0" err="1">
                <a:effectLst/>
              </a:rPr>
              <a:t>Adila</a:t>
            </a:r>
            <a:r>
              <a:rPr lang="en-ID" sz="3200" dirty="0">
                <a:effectLst/>
              </a:rPr>
              <a:t> naik </a:t>
            </a:r>
            <a:r>
              <a:rPr lang="en-ID" sz="3200" dirty="0" err="1">
                <a:effectLst/>
              </a:rPr>
              <a:t>setiap</a:t>
            </a:r>
            <a:r>
              <a:rPr lang="en-ID" sz="3200" dirty="0">
                <a:effectLst/>
              </a:rPr>
              <a:t> </a:t>
            </a:r>
            <a:r>
              <a:rPr lang="en-ID" sz="3200" dirty="0" err="1">
                <a:effectLst/>
              </a:rPr>
              <a:t>hari</a:t>
            </a:r>
            <a:r>
              <a:rPr lang="en-ID" sz="3200" dirty="0">
                <a:effectLst/>
              </a:rPr>
              <a:t> </a:t>
            </a:r>
            <a:r>
              <a:rPr lang="en-ID" sz="3200" dirty="0" err="1">
                <a:effectLst/>
              </a:rPr>
              <a:t>untuk</a:t>
            </a:r>
            <a:r>
              <a:rPr lang="en-ID" sz="3200" dirty="0">
                <a:effectLst/>
              </a:rPr>
              <a:t> </a:t>
            </a:r>
            <a:r>
              <a:rPr lang="en-ID" sz="3200" dirty="0" err="1">
                <a:effectLst/>
              </a:rPr>
              <a:t>ke</a:t>
            </a:r>
            <a:r>
              <a:rPr lang="en-ID" sz="3200" dirty="0">
                <a:effectLst/>
              </a:rPr>
              <a:t> </a:t>
            </a:r>
            <a:r>
              <a:rPr lang="en-ID" sz="3200" dirty="0" err="1">
                <a:effectLst/>
              </a:rPr>
              <a:t>kerja</a:t>
            </a:r>
            <a:r>
              <a:rPr lang="en-ID" sz="3200" dirty="0">
                <a:effectLst/>
              </a:rPr>
              <a:t>?</a:t>
            </a:r>
            <a:br>
              <a:rPr lang="en-ID" sz="3200" dirty="0">
                <a:effectLst/>
              </a:rPr>
            </a:br>
            <a:r>
              <a:rPr lang="en-ID" sz="3200" dirty="0">
                <a:effectLst/>
              </a:rPr>
              <a:t>3. </a:t>
            </a:r>
            <a:r>
              <a:rPr lang="fi-FI" sz="3200" dirty="0">
                <a:effectLst/>
              </a:rPr>
              <a:t>Berapa lama perjalanan Adila dari Jakarta ke Bogor?</a:t>
            </a:r>
            <a:br>
              <a:rPr lang="fi-FI" sz="3200" dirty="0">
                <a:effectLst/>
              </a:rPr>
            </a:br>
            <a:r>
              <a:rPr lang="fi-FI" sz="3200" dirty="0">
                <a:effectLst/>
              </a:rPr>
              <a:t>4. </a:t>
            </a:r>
            <a:r>
              <a:rPr lang="it-IT" sz="3200" dirty="0">
                <a:effectLst/>
              </a:rPr>
              <a:t>Mengapa Adila suka naik bus?</a:t>
            </a:r>
            <a:br>
              <a:rPr lang="it-IT" sz="3200" dirty="0">
                <a:effectLst/>
              </a:rPr>
            </a:br>
            <a:r>
              <a:rPr lang="it-IT" sz="3200" dirty="0">
                <a:effectLst/>
              </a:rPr>
              <a:t>5. </a:t>
            </a:r>
            <a:r>
              <a:rPr lang="fi-FI" sz="3200" dirty="0">
                <a:effectLst/>
              </a:rPr>
              <a:t>Apa yang Adila lakukan saat akhir pekan?</a:t>
            </a:r>
            <a:br>
              <a:rPr lang="en-ID" sz="3200" dirty="0">
                <a:effectLst/>
              </a:rPr>
            </a:br>
            <a:endParaRPr lang="en-ID" sz="3200" dirty="0"/>
          </a:p>
        </p:txBody>
      </p:sp>
      <p:sp>
        <p:nvSpPr>
          <p:cNvPr id="3" name="Content Placeholder 2">
            <a:extLst>
              <a:ext uri="{FF2B5EF4-FFF2-40B4-BE49-F238E27FC236}">
                <a16:creationId xmlns:a16="http://schemas.microsoft.com/office/drawing/2014/main" id="{3E52E4BE-84E0-4035-B4B6-B4FE190CBC90}"/>
              </a:ext>
            </a:extLst>
          </p:cNvPr>
          <p:cNvSpPr>
            <a:spLocks noGrp="1"/>
          </p:cNvSpPr>
          <p:nvPr>
            <p:ph idx="1"/>
          </p:nvPr>
        </p:nvSpPr>
        <p:spPr>
          <a:xfrm>
            <a:off x="838200" y="615372"/>
            <a:ext cx="10515600" cy="2585027"/>
          </a:xfrm>
        </p:spPr>
        <p:txBody>
          <a:bodyPr>
            <a:normAutofit fontScale="92500"/>
          </a:bodyPr>
          <a:lstStyle/>
          <a:p>
            <a:pPr marL="0" indent="0" algn="just">
              <a:buNone/>
            </a:pPr>
            <a:r>
              <a:rPr lang="en-ID" sz="3200" dirty="0" err="1"/>
              <a:t>Adila</a:t>
            </a:r>
            <a:r>
              <a:rPr lang="en-ID" sz="3200" dirty="0"/>
              <a:t> </a:t>
            </a:r>
            <a:r>
              <a:rPr lang="en-ID" sz="3200" dirty="0" err="1"/>
              <a:t>pergi</a:t>
            </a:r>
            <a:r>
              <a:rPr lang="en-ID" sz="3200" dirty="0"/>
              <a:t> </a:t>
            </a:r>
            <a:r>
              <a:rPr lang="en-ID" sz="3200" dirty="0" err="1"/>
              <a:t>kerja</a:t>
            </a:r>
            <a:r>
              <a:rPr lang="en-ID" sz="3200" dirty="0"/>
              <a:t> </a:t>
            </a:r>
            <a:r>
              <a:rPr lang="en-ID" sz="3200" dirty="0" err="1"/>
              <a:t>dari</a:t>
            </a:r>
            <a:r>
              <a:rPr lang="en-ID" sz="3200" dirty="0"/>
              <a:t> Jakarta </a:t>
            </a:r>
            <a:r>
              <a:rPr lang="en-ID" sz="3200" dirty="0" err="1"/>
              <a:t>ke</a:t>
            </a:r>
            <a:r>
              <a:rPr lang="en-ID" sz="3200" dirty="0"/>
              <a:t> Bogor. </a:t>
            </a:r>
            <a:r>
              <a:rPr lang="en-ID" sz="3200" dirty="0" err="1"/>
              <a:t>Dia</a:t>
            </a:r>
            <a:r>
              <a:rPr lang="en-ID" sz="3200" dirty="0"/>
              <a:t> naik bus </a:t>
            </a:r>
            <a:r>
              <a:rPr lang="en-ID" sz="3200" dirty="0" err="1"/>
              <a:t>setiap</a:t>
            </a:r>
            <a:r>
              <a:rPr lang="en-ID" sz="3200" dirty="0"/>
              <a:t> </a:t>
            </a:r>
            <a:r>
              <a:rPr lang="en-ID" sz="3200" dirty="0" err="1"/>
              <a:t>hari</a:t>
            </a:r>
            <a:r>
              <a:rPr lang="en-ID" sz="3200" dirty="0"/>
              <a:t>. Lama </a:t>
            </a:r>
            <a:r>
              <a:rPr lang="en-ID" sz="3200" dirty="0" err="1"/>
              <a:t>perjalanan</a:t>
            </a:r>
            <a:r>
              <a:rPr lang="en-ID" sz="3200" dirty="0"/>
              <a:t> </a:t>
            </a:r>
            <a:r>
              <a:rPr lang="en-ID" sz="3200" dirty="0" err="1"/>
              <a:t>sekitar</a:t>
            </a:r>
            <a:r>
              <a:rPr lang="en-ID" sz="3200" dirty="0"/>
              <a:t> 45 </a:t>
            </a:r>
            <a:r>
              <a:rPr lang="en-ID" sz="3200" dirty="0" err="1"/>
              <a:t>menit</a:t>
            </a:r>
            <a:r>
              <a:rPr lang="en-ID" sz="3200" dirty="0"/>
              <a:t>.  </a:t>
            </a:r>
            <a:r>
              <a:rPr lang="en-ID" sz="3200" dirty="0" err="1"/>
              <a:t>Harga</a:t>
            </a:r>
            <a:r>
              <a:rPr lang="en-ID" sz="3200" dirty="0"/>
              <a:t> </a:t>
            </a:r>
            <a:r>
              <a:rPr lang="en-ID" sz="3200" dirty="0" err="1"/>
              <a:t>tiket</a:t>
            </a:r>
            <a:r>
              <a:rPr lang="en-ID" sz="3200" dirty="0"/>
              <a:t> bus 15.000 rupiah. </a:t>
            </a:r>
            <a:r>
              <a:rPr lang="en-ID" sz="3200" dirty="0" err="1"/>
              <a:t>Harga</a:t>
            </a:r>
            <a:r>
              <a:rPr lang="en-ID" sz="3200" dirty="0"/>
              <a:t> </a:t>
            </a:r>
            <a:r>
              <a:rPr lang="en-ID" sz="3200" dirty="0" err="1"/>
              <a:t>tiket</a:t>
            </a:r>
            <a:r>
              <a:rPr lang="en-ID" sz="3200" dirty="0"/>
              <a:t> </a:t>
            </a:r>
            <a:r>
              <a:rPr lang="en-ID" sz="3200" dirty="0" err="1"/>
              <a:t>ini</a:t>
            </a:r>
            <a:r>
              <a:rPr lang="en-ID" sz="3200" dirty="0"/>
              <a:t> </a:t>
            </a:r>
            <a:r>
              <a:rPr lang="en-ID" sz="3200" dirty="0" err="1"/>
              <a:t>cukup</a:t>
            </a:r>
            <a:r>
              <a:rPr lang="en-ID" sz="3200" dirty="0"/>
              <a:t> </a:t>
            </a:r>
            <a:r>
              <a:rPr lang="en-ID" sz="3200" dirty="0" err="1"/>
              <a:t>murah</a:t>
            </a:r>
            <a:r>
              <a:rPr lang="en-ID" sz="3200" dirty="0"/>
              <a:t>. </a:t>
            </a:r>
            <a:r>
              <a:rPr lang="fi-FI" sz="3200" dirty="0">
                <a:effectLst/>
              </a:rPr>
              <a:t>Dia lebih suka naik bus karena bisa santai. </a:t>
            </a:r>
            <a:r>
              <a:rPr lang="en-ID" sz="3200" dirty="0" err="1"/>
              <a:t>Dengan</a:t>
            </a:r>
            <a:r>
              <a:rPr lang="en-ID" sz="3200" dirty="0"/>
              <a:t> naik bus, </a:t>
            </a:r>
            <a:r>
              <a:rPr lang="en-ID" sz="3200" dirty="0" err="1"/>
              <a:t>dia</a:t>
            </a:r>
            <a:r>
              <a:rPr lang="en-ID" sz="3200" dirty="0"/>
              <a:t> </a:t>
            </a:r>
            <a:r>
              <a:rPr lang="en-ID" sz="3200" dirty="0" err="1"/>
              <a:t>tidak</a:t>
            </a:r>
            <a:r>
              <a:rPr lang="en-ID" sz="3200" dirty="0"/>
              <a:t> </a:t>
            </a:r>
            <a:r>
              <a:rPr lang="en-ID" sz="3200" dirty="0" err="1"/>
              <a:t>perlu</a:t>
            </a:r>
            <a:r>
              <a:rPr lang="en-ID" sz="3200" dirty="0"/>
              <a:t> </a:t>
            </a:r>
            <a:r>
              <a:rPr lang="en-ID" sz="3200" dirty="0" err="1"/>
              <a:t>menyetir</a:t>
            </a:r>
            <a:r>
              <a:rPr lang="en-ID" sz="3200" dirty="0"/>
              <a:t> dan </a:t>
            </a:r>
            <a:r>
              <a:rPr lang="en-ID" sz="3200" dirty="0" err="1"/>
              <a:t>bisa</a:t>
            </a:r>
            <a:r>
              <a:rPr lang="en-ID" sz="3200" dirty="0"/>
              <a:t> </a:t>
            </a:r>
            <a:r>
              <a:rPr lang="en-ID" sz="3200" dirty="0" err="1"/>
              <a:t>istirahat</a:t>
            </a:r>
            <a:r>
              <a:rPr lang="en-ID" sz="3200" dirty="0"/>
              <a:t> di </a:t>
            </a:r>
            <a:r>
              <a:rPr lang="en-ID" sz="3200" dirty="0" err="1"/>
              <a:t>dalam</a:t>
            </a:r>
            <a:r>
              <a:rPr lang="en-ID" sz="3200" dirty="0"/>
              <a:t> bus. </a:t>
            </a:r>
            <a:r>
              <a:rPr lang="en-ID" sz="3200" dirty="0" err="1"/>
              <a:t>Dia</a:t>
            </a:r>
            <a:r>
              <a:rPr lang="en-ID" sz="3200" dirty="0"/>
              <a:t> juga </a:t>
            </a:r>
            <a:r>
              <a:rPr lang="en-ID" sz="3200" dirty="0" err="1"/>
              <a:t>bisa</a:t>
            </a:r>
            <a:r>
              <a:rPr lang="en-ID" sz="3200" dirty="0"/>
              <a:t> </a:t>
            </a:r>
            <a:r>
              <a:rPr lang="en-ID" sz="3200" dirty="0" err="1"/>
              <a:t>baca</a:t>
            </a:r>
            <a:r>
              <a:rPr lang="en-ID" sz="3200" dirty="0"/>
              <a:t> </a:t>
            </a:r>
            <a:r>
              <a:rPr lang="en-ID" sz="3200" dirty="0" err="1"/>
              <a:t>buku</a:t>
            </a:r>
            <a:r>
              <a:rPr lang="en-ID" sz="3200" dirty="0"/>
              <a:t> di </a:t>
            </a:r>
            <a:r>
              <a:rPr lang="en-ID" sz="3200" dirty="0" err="1"/>
              <a:t>perjalanan</a:t>
            </a:r>
            <a:r>
              <a:rPr lang="en-ID" sz="3200" dirty="0"/>
              <a:t>. </a:t>
            </a:r>
            <a:r>
              <a:rPr lang="en-ID" sz="3200" dirty="0" err="1"/>
              <a:t>Saat</a:t>
            </a:r>
            <a:r>
              <a:rPr lang="en-ID" sz="3200" dirty="0"/>
              <a:t> </a:t>
            </a:r>
            <a:r>
              <a:rPr lang="en-ID" sz="3200" dirty="0" err="1"/>
              <a:t>akhir</a:t>
            </a:r>
            <a:r>
              <a:rPr lang="en-ID" sz="3200" dirty="0"/>
              <a:t> </a:t>
            </a:r>
            <a:r>
              <a:rPr lang="en-ID" sz="3200" dirty="0" err="1"/>
              <a:t>pekan</a:t>
            </a:r>
            <a:r>
              <a:rPr lang="en-ID" sz="3200" dirty="0"/>
              <a:t>, </a:t>
            </a:r>
            <a:r>
              <a:rPr lang="en-ID" sz="3200" dirty="0" err="1"/>
              <a:t>dia</a:t>
            </a:r>
            <a:r>
              <a:rPr lang="en-ID" sz="3200" dirty="0"/>
              <a:t> </a:t>
            </a:r>
            <a:r>
              <a:rPr lang="en-ID" sz="3200" dirty="0" err="1"/>
              <a:t>tidak</a:t>
            </a:r>
            <a:r>
              <a:rPr lang="en-ID" sz="3200" dirty="0"/>
              <a:t> naik bus dan </a:t>
            </a:r>
            <a:r>
              <a:rPr lang="en-ID" sz="3200" dirty="0" err="1"/>
              <a:t>menyetir</a:t>
            </a:r>
            <a:r>
              <a:rPr lang="en-ID" sz="3200" dirty="0"/>
              <a:t> </a:t>
            </a:r>
            <a:r>
              <a:rPr lang="en-ID" sz="3200" dirty="0" err="1"/>
              <a:t>mobil</a:t>
            </a:r>
            <a:r>
              <a:rPr lang="en-ID" sz="3200" dirty="0"/>
              <a:t> </a:t>
            </a:r>
            <a:r>
              <a:rPr lang="en-ID" sz="3200" dirty="0" err="1"/>
              <a:t>sendiri</a:t>
            </a:r>
            <a:r>
              <a:rPr lang="en-ID" sz="3200" dirty="0"/>
              <a:t>.</a:t>
            </a:r>
          </a:p>
        </p:txBody>
      </p:sp>
    </p:spTree>
    <p:extLst>
      <p:ext uri="{BB962C8B-B14F-4D97-AF65-F5344CB8AC3E}">
        <p14:creationId xmlns:p14="http://schemas.microsoft.com/office/powerpoint/2010/main" val="311187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F97BB7D0-2FE3-4B54-8ED5-D91262AEB69B}"/>
              </a:ext>
            </a:extLst>
          </p:cNvPr>
          <p:cNvSpPr>
            <a:spLocks noGrp="1" noChangeArrowheads="1"/>
          </p:cNvSpPr>
          <p:nvPr>
            <p:ph type="title"/>
          </p:nvPr>
        </p:nvSpPr>
        <p:spPr>
          <a:xfrm>
            <a:off x="838200" y="260495"/>
            <a:ext cx="10515600" cy="620712"/>
          </a:xfrm>
        </p:spPr>
        <p:txBody>
          <a:bodyPr>
            <a:normAutofit fontScale="90000"/>
          </a:bodyPr>
          <a:lstStyle/>
          <a:p>
            <a:pPr algn="ctr"/>
            <a:r>
              <a:rPr lang="en-ID" altLang="en-US" b="1" dirty="0" err="1"/>
              <a:t>Menaiki</a:t>
            </a:r>
            <a:r>
              <a:rPr lang="en-ID" altLang="en-US" b="1" dirty="0"/>
              <a:t>, </a:t>
            </a:r>
            <a:r>
              <a:rPr lang="en-ID" altLang="en-US" b="1" dirty="0" err="1"/>
              <a:t>mengendarai</a:t>
            </a:r>
            <a:r>
              <a:rPr lang="en-ID" altLang="en-US" b="1" dirty="0"/>
              <a:t> dan </a:t>
            </a:r>
            <a:r>
              <a:rPr lang="en-ID" altLang="en-US" b="1" dirty="0" err="1"/>
              <a:t>menyetir</a:t>
            </a:r>
            <a:endParaRPr lang="en-ID" altLang="en-US" b="1" dirty="0"/>
          </a:p>
        </p:txBody>
      </p:sp>
      <p:sp>
        <p:nvSpPr>
          <p:cNvPr id="3075" name="Content Placeholder 2">
            <a:extLst>
              <a:ext uri="{FF2B5EF4-FFF2-40B4-BE49-F238E27FC236}">
                <a16:creationId xmlns:a16="http://schemas.microsoft.com/office/drawing/2014/main" id="{43200817-1161-433E-BFC6-79C3F43D0C88}"/>
              </a:ext>
            </a:extLst>
          </p:cNvPr>
          <p:cNvSpPr>
            <a:spLocks noGrp="1" noChangeArrowheads="1"/>
          </p:cNvSpPr>
          <p:nvPr>
            <p:ph idx="1"/>
          </p:nvPr>
        </p:nvSpPr>
        <p:spPr>
          <a:xfrm>
            <a:off x="838200" y="1156566"/>
            <a:ext cx="10515600" cy="5297488"/>
          </a:xfrm>
        </p:spPr>
        <p:txBody>
          <a:bodyPr/>
          <a:lstStyle/>
          <a:p>
            <a:pPr marL="0" indent="0">
              <a:buFont typeface="Arial" panose="020B0604020202020204" pitchFamily="34" charset="0"/>
              <a:buNone/>
            </a:pPr>
            <a:r>
              <a:rPr lang="en-US" altLang="en-US" sz="2400" b="1" dirty="0" err="1"/>
              <a:t>Menaiki</a:t>
            </a:r>
            <a:r>
              <a:rPr lang="en-US" altLang="en-US" sz="2400" b="1" dirty="0"/>
              <a:t> : Means to get on, climb, or board a vehicle, transport, or object (like stairs, hill). Focuses on the act of getting on or entering.</a:t>
            </a:r>
          </a:p>
          <a:p>
            <a:pPr marL="0" indent="0">
              <a:lnSpc>
                <a:spcPct val="100000"/>
              </a:lnSpc>
              <a:spcBef>
                <a:spcPct val="0"/>
              </a:spcBef>
              <a:buFont typeface="Arial" panose="020B0604020202020204" pitchFamily="34" charset="0"/>
              <a:buNone/>
            </a:pPr>
            <a:r>
              <a:rPr lang="en-US" altLang="en-US" sz="2400" dirty="0"/>
              <a:t>Saya </a:t>
            </a:r>
            <a:r>
              <a:rPr lang="en-US" altLang="en-US" sz="2400" dirty="0" err="1"/>
              <a:t>menaiki</a:t>
            </a:r>
            <a:r>
              <a:rPr lang="en-US" altLang="en-US" sz="2400" dirty="0"/>
              <a:t> bus </a:t>
            </a:r>
            <a:r>
              <a:rPr lang="en-US" altLang="en-US" sz="2400" dirty="0" err="1"/>
              <a:t>pukul</a:t>
            </a:r>
            <a:r>
              <a:rPr lang="en-US" altLang="en-US" sz="2400" dirty="0"/>
              <a:t> </a:t>
            </a:r>
            <a:r>
              <a:rPr lang="en-US" altLang="en-US" sz="2400" dirty="0" err="1"/>
              <a:t>tujuh</a:t>
            </a:r>
            <a:r>
              <a:rPr lang="en-US" altLang="en-US" sz="2400" dirty="0"/>
              <a:t> </a:t>
            </a:r>
            <a:r>
              <a:rPr lang="en-US" altLang="en-US" sz="2400" dirty="0" err="1"/>
              <a:t>pagi</a:t>
            </a:r>
            <a:r>
              <a:rPr lang="en-US" altLang="en-US" sz="2400" dirty="0"/>
              <a:t>. </a:t>
            </a:r>
          </a:p>
          <a:p>
            <a:pPr marL="0" indent="0">
              <a:lnSpc>
                <a:spcPct val="100000"/>
              </a:lnSpc>
              <a:spcBef>
                <a:spcPct val="0"/>
              </a:spcBef>
              <a:buFont typeface="Arial" panose="020B0604020202020204" pitchFamily="34" charset="0"/>
              <a:buNone/>
            </a:pPr>
            <a:r>
              <a:rPr lang="en-US" altLang="en-US" sz="2400" i="1" dirty="0"/>
              <a:t>I boarded the bus at seven in the morning. </a:t>
            </a:r>
          </a:p>
          <a:p>
            <a:pPr marL="0" indent="0">
              <a:lnSpc>
                <a:spcPct val="100000"/>
              </a:lnSpc>
              <a:spcBef>
                <a:spcPct val="0"/>
              </a:spcBef>
              <a:buFont typeface="Arial" panose="020B0604020202020204" pitchFamily="34" charset="0"/>
              <a:buNone/>
            </a:pPr>
            <a:endParaRPr lang="en-US" altLang="en-US" sz="2400" i="1" dirty="0"/>
          </a:p>
          <a:p>
            <a:pPr marL="0" indent="0">
              <a:lnSpc>
                <a:spcPct val="100000"/>
              </a:lnSpc>
              <a:spcBef>
                <a:spcPct val="0"/>
              </a:spcBef>
              <a:buFont typeface="Arial" panose="020B0604020202020204" pitchFamily="34" charset="0"/>
              <a:buNone/>
            </a:pPr>
            <a:r>
              <a:rPr lang="en-US" altLang="en-US" sz="2400" b="1" dirty="0" err="1"/>
              <a:t>Mengendarai</a:t>
            </a:r>
            <a:r>
              <a:rPr lang="en-US" altLang="en-US" sz="2400" b="1" dirty="0"/>
              <a:t> : Means to operate or ride a vehicle (like a bike, motorcycle, car) with full control, not limited to steering. Used for various vehicles.</a:t>
            </a:r>
          </a:p>
          <a:p>
            <a:pPr marL="0" indent="0">
              <a:lnSpc>
                <a:spcPct val="100000"/>
              </a:lnSpc>
              <a:spcBef>
                <a:spcPct val="0"/>
              </a:spcBef>
              <a:buFont typeface="Arial" panose="020B0604020202020204" pitchFamily="34" charset="0"/>
              <a:buNone/>
            </a:pPr>
            <a:r>
              <a:rPr lang="en-ID" altLang="en-US" sz="2400" dirty="0"/>
              <a:t>Budi </a:t>
            </a:r>
            <a:r>
              <a:rPr lang="en-ID" altLang="en-US" sz="2400" dirty="0" err="1"/>
              <a:t>mengendarai</a:t>
            </a:r>
            <a:r>
              <a:rPr lang="en-ID" altLang="en-US" sz="2400" dirty="0"/>
              <a:t> </a:t>
            </a:r>
            <a:r>
              <a:rPr lang="en-ID" altLang="en-US" sz="2400" dirty="0" err="1"/>
              <a:t>sepeda</a:t>
            </a:r>
            <a:r>
              <a:rPr lang="en-ID" altLang="en-US" sz="2400" dirty="0"/>
              <a:t> </a:t>
            </a:r>
            <a:r>
              <a:rPr lang="en-ID" altLang="en-US" sz="2400" dirty="0" err="1"/>
              <a:t>ke</a:t>
            </a:r>
            <a:r>
              <a:rPr lang="en-ID" altLang="en-US" sz="2400" dirty="0"/>
              <a:t> pasar.</a:t>
            </a:r>
          </a:p>
          <a:p>
            <a:pPr marL="0" indent="0">
              <a:lnSpc>
                <a:spcPct val="100000"/>
              </a:lnSpc>
              <a:spcBef>
                <a:spcPct val="0"/>
              </a:spcBef>
              <a:buFont typeface="Arial" panose="020B0604020202020204" pitchFamily="34" charset="0"/>
              <a:buNone/>
            </a:pPr>
            <a:r>
              <a:rPr lang="en-US" altLang="en-US" sz="2400" i="1" dirty="0"/>
              <a:t>Budi rode a bicycle to the market.</a:t>
            </a:r>
          </a:p>
          <a:p>
            <a:pPr marL="0" indent="0">
              <a:lnSpc>
                <a:spcPct val="100000"/>
              </a:lnSpc>
              <a:spcBef>
                <a:spcPct val="0"/>
              </a:spcBef>
              <a:buFont typeface="Arial" panose="020B0604020202020204" pitchFamily="34" charset="0"/>
              <a:buNone/>
            </a:pPr>
            <a:endParaRPr lang="en-US" altLang="en-US" sz="2400" i="1" dirty="0"/>
          </a:p>
          <a:p>
            <a:pPr marL="0" indent="0">
              <a:lnSpc>
                <a:spcPct val="100000"/>
              </a:lnSpc>
              <a:spcBef>
                <a:spcPct val="0"/>
              </a:spcBef>
              <a:buFont typeface="Arial" panose="020B0604020202020204" pitchFamily="34" charset="0"/>
              <a:buNone/>
            </a:pPr>
            <a:r>
              <a:rPr lang="en-US" altLang="en-US" sz="2400" b="1" dirty="0" err="1"/>
              <a:t>Menyetir</a:t>
            </a:r>
            <a:r>
              <a:rPr lang="en-US" altLang="en-US" sz="2400" b="1" dirty="0"/>
              <a:t> : Means to drive a motorized vehicle (especially a car), focusing on using the steering wheel. More specific than </a:t>
            </a:r>
            <a:r>
              <a:rPr lang="en-US" altLang="en-US" sz="2400" b="1" dirty="0" err="1"/>
              <a:t>mengendarai</a:t>
            </a:r>
            <a:r>
              <a:rPr lang="en-US" altLang="en-US" sz="2400" b="1" dirty="0"/>
              <a:t>.</a:t>
            </a:r>
          </a:p>
          <a:p>
            <a:pPr marL="0" indent="0">
              <a:lnSpc>
                <a:spcPct val="100000"/>
              </a:lnSpc>
              <a:spcBef>
                <a:spcPct val="0"/>
              </a:spcBef>
              <a:buFont typeface="Arial" panose="020B0604020202020204" pitchFamily="34" charset="0"/>
              <a:buNone/>
            </a:pPr>
            <a:r>
              <a:rPr lang="nb-NO" altLang="en-US" sz="2400" dirty="0"/>
              <a:t>Ayah menyetir mobil ke kantor setiap hari</a:t>
            </a:r>
          </a:p>
          <a:p>
            <a:pPr marL="0" indent="0">
              <a:lnSpc>
                <a:spcPct val="100000"/>
              </a:lnSpc>
              <a:spcBef>
                <a:spcPct val="0"/>
              </a:spcBef>
              <a:buFont typeface="Arial" panose="020B0604020202020204" pitchFamily="34" charset="0"/>
              <a:buNone/>
            </a:pPr>
            <a:r>
              <a:rPr lang="en-US" altLang="en-US" sz="2400" i="1" dirty="0"/>
              <a:t>Father drives the car to the office every day.</a:t>
            </a:r>
          </a:p>
          <a:p>
            <a:pPr marL="0" indent="0">
              <a:lnSpc>
                <a:spcPct val="100000"/>
              </a:lnSpc>
              <a:spcBef>
                <a:spcPct val="0"/>
              </a:spcBef>
              <a:buFont typeface="Arial" panose="020B0604020202020204" pitchFamily="34" charset="0"/>
              <a:buNone/>
            </a:pPr>
            <a:endParaRPr lang="en-US" altLang="en-US" dirty="0"/>
          </a:p>
          <a:p>
            <a:pPr marL="0" indent="0">
              <a:buFont typeface="Arial" panose="020B0604020202020204" pitchFamily="34" charset="0"/>
              <a:buNone/>
            </a:pPr>
            <a:endParaRPr lang="en-ID"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C2B79-84E5-45B9-811B-1502CAB95D54}"/>
              </a:ext>
            </a:extLst>
          </p:cNvPr>
          <p:cNvSpPr>
            <a:spLocks noGrp="1"/>
          </p:cNvSpPr>
          <p:nvPr>
            <p:ph type="title"/>
          </p:nvPr>
        </p:nvSpPr>
        <p:spPr>
          <a:xfrm>
            <a:off x="838200" y="274781"/>
            <a:ext cx="10515600" cy="812511"/>
          </a:xfrm>
        </p:spPr>
        <p:txBody>
          <a:bodyPr/>
          <a:lstStyle/>
          <a:p>
            <a:r>
              <a:rPr lang="en-US" dirty="0" err="1"/>
              <a:t>Konsep</a:t>
            </a:r>
            <a:r>
              <a:rPr lang="en-US" dirty="0"/>
              <a:t> “masa </a:t>
            </a:r>
            <a:r>
              <a:rPr lang="en-US" dirty="0" err="1"/>
              <a:t>depan</a:t>
            </a:r>
            <a:r>
              <a:rPr lang="en-US" dirty="0"/>
              <a:t>” (future tense)</a:t>
            </a:r>
            <a:endParaRPr lang="en-ID" dirty="0"/>
          </a:p>
        </p:txBody>
      </p:sp>
      <p:sp>
        <p:nvSpPr>
          <p:cNvPr id="3" name="Content Placeholder 2">
            <a:extLst>
              <a:ext uri="{FF2B5EF4-FFF2-40B4-BE49-F238E27FC236}">
                <a16:creationId xmlns:a16="http://schemas.microsoft.com/office/drawing/2014/main" id="{103E684C-F55E-4E26-8927-F3E47BFBCFBE}"/>
              </a:ext>
            </a:extLst>
          </p:cNvPr>
          <p:cNvSpPr>
            <a:spLocks noGrp="1"/>
          </p:cNvSpPr>
          <p:nvPr>
            <p:ph idx="1"/>
          </p:nvPr>
        </p:nvSpPr>
        <p:spPr>
          <a:xfrm>
            <a:off x="838200" y="1177636"/>
            <a:ext cx="10515600" cy="4999327"/>
          </a:xfrm>
        </p:spPr>
        <p:txBody>
          <a:bodyPr>
            <a:normAutofit fontScale="92500" lnSpcReduction="10000"/>
          </a:bodyPr>
          <a:lstStyle/>
          <a:p>
            <a:pPr marL="0" indent="0">
              <a:buNone/>
            </a:pPr>
            <a:r>
              <a:rPr lang="en-US" b="1" dirty="0"/>
              <a:t>Akan</a:t>
            </a:r>
            <a:r>
              <a:rPr lang="en-US" dirty="0"/>
              <a:t> </a:t>
            </a:r>
            <a:r>
              <a:rPr lang="en-ID" dirty="0"/>
              <a:t>: Indicates that an event is certain or planned to happen in the future.</a:t>
            </a:r>
            <a:endParaRPr lang="en-ID" dirty="0">
              <a:effectLst/>
            </a:endParaRPr>
          </a:p>
          <a:p>
            <a:pPr lvl="1"/>
            <a:r>
              <a:rPr lang="en-ID" sz="2800" i="1" dirty="0"/>
              <a:t>Saya </a:t>
            </a:r>
            <a:r>
              <a:rPr lang="en-ID" sz="2800" i="1" dirty="0" err="1"/>
              <a:t>akan</a:t>
            </a:r>
            <a:r>
              <a:rPr lang="en-ID" sz="2800" i="1" dirty="0"/>
              <a:t> </a:t>
            </a:r>
            <a:r>
              <a:rPr lang="en-ID" sz="2800" i="1" dirty="0" err="1"/>
              <a:t>pergi</a:t>
            </a:r>
            <a:r>
              <a:rPr lang="en-ID" sz="2800" i="1" dirty="0"/>
              <a:t> </a:t>
            </a:r>
            <a:r>
              <a:rPr lang="en-ID" sz="2800" i="1" dirty="0" err="1"/>
              <a:t>ke</a:t>
            </a:r>
            <a:r>
              <a:rPr lang="en-ID" sz="2800" i="1" dirty="0"/>
              <a:t> pasar </a:t>
            </a:r>
            <a:r>
              <a:rPr lang="en-ID" sz="2800" i="1" dirty="0" err="1"/>
              <a:t>besok</a:t>
            </a:r>
            <a:r>
              <a:rPr lang="en-ID" sz="2800" i="1" dirty="0"/>
              <a:t>.</a:t>
            </a:r>
            <a:r>
              <a:rPr lang="en-ID" sz="2800" dirty="0"/>
              <a:t> (I will go to the market tomorrow.) – Expresses a definite plan.</a:t>
            </a:r>
            <a:endParaRPr lang="en-ID" dirty="0"/>
          </a:p>
          <a:p>
            <a:pPr lvl="1"/>
            <a:r>
              <a:rPr lang="en-ID" sz="2800" i="1" dirty="0" err="1"/>
              <a:t>Dia</a:t>
            </a:r>
            <a:r>
              <a:rPr lang="en-ID" sz="2800" i="1" dirty="0"/>
              <a:t> </a:t>
            </a:r>
            <a:r>
              <a:rPr lang="en-ID" sz="2800" i="1" dirty="0" err="1"/>
              <a:t>akan</a:t>
            </a:r>
            <a:r>
              <a:rPr lang="en-ID" sz="2800" i="1" dirty="0"/>
              <a:t> </a:t>
            </a:r>
            <a:r>
              <a:rPr lang="en-ID" sz="2800" i="1" dirty="0" err="1"/>
              <a:t>belajar</a:t>
            </a:r>
            <a:r>
              <a:rPr lang="en-ID" sz="2800" i="1" dirty="0"/>
              <a:t> di </a:t>
            </a:r>
            <a:r>
              <a:rPr lang="en-ID" sz="2800" i="1" dirty="0" err="1"/>
              <a:t>universitas</a:t>
            </a:r>
            <a:r>
              <a:rPr lang="en-ID" sz="2800" i="1" dirty="0"/>
              <a:t> </a:t>
            </a:r>
            <a:r>
              <a:rPr lang="en-ID" sz="2800" i="1" dirty="0" err="1"/>
              <a:t>tahun</a:t>
            </a:r>
            <a:r>
              <a:rPr lang="en-ID" sz="2800" i="1" dirty="0"/>
              <a:t> </a:t>
            </a:r>
            <a:r>
              <a:rPr lang="en-ID" sz="2800" i="1" dirty="0" err="1"/>
              <a:t>depan</a:t>
            </a:r>
            <a:r>
              <a:rPr lang="en-ID" sz="2800" i="1" dirty="0"/>
              <a:t>.</a:t>
            </a:r>
            <a:r>
              <a:rPr lang="en-ID" sz="2800" dirty="0"/>
              <a:t> (She will study at university next year.) – States a future fact.</a:t>
            </a:r>
            <a:endParaRPr lang="en-ID" dirty="0"/>
          </a:p>
          <a:p>
            <a:pPr marL="0" indent="0">
              <a:buNone/>
            </a:pPr>
            <a:endParaRPr lang="en-US" sz="1700" dirty="0"/>
          </a:p>
          <a:p>
            <a:pPr marL="0" indent="0">
              <a:buNone/>
            </a:pPr>
            <a:r>
              <a:rPr lang="en-US" b="1" dirty="0"/>
              <a:t>Mau </a:t>
            </a:r>
            <a:r>
              <a:rPr lang="en-US" dirty="0"/>
              <a:t>: </a:t>
            </a:r>
            <a:r>
              <a:rPr lang="en-ID" dirty="0"/>
              <a:t>Expresses a desire or intention to do something in the future, often with a subjective or informal tone.</a:t>
            </a:r>
          </a:p>
          <a:p>
            <a:endParaRPr lang="en-ID" dirty="0">
              <a:effectLst/>
            </a:endParaRPr>
          </a:p>
          <a:p>
            <a:pPr lvl="1"/>
            <a:r>
              <a:rPr lang="en-ID" sz="3000" i="1" dirty="0"/>
              <a:t>Saya </a:t>
            </a:r>
            <a:r>
              <a:rPr lang="en-ID" sz="3000" i="1" dirty="0" err="1"/>
              <a:t>mau</a:t>
            </a:r>
            <a:r>
              <a:rPr lang="en-ID" sz="3000" i="1" dirty="0"/>
              <a:t> </a:t>
            </a:r>
            <a:r>
              <a:rPr lang="en-ID" sz="3000" i="1" dirty="0" err="1"/>
              <a:t>makan</a:t>
            </a:r>
            <a:r>
              <a:rPr lang="en-ID" sz="3000" i="1" dirty="0"/>
              <a:t> pizza </a:t>
            </a:r>
            <a:r>
              <a:rPr lang="en-ID" sz="3000" i="1" dirty="0" err="1"/>
              <a:t>malam</a:t>
            </a:r>
            <a:r>
              <a:rPr lang="en-ID" sz="3000" i="1" dirty="0"/>
              <a:t> </a:t>
            </a:r>
            <a:r>
              <a:rPr lang="en-ID" sz="3000" i="1" dirty="0" err="1"/>
              <a:t>ini</a:t>
            </a:r>
            <a:r>
              <a:rPr lang="en-ID" sz="3000" i="1" dirty="0"/>
              <a:t>.</a:t>
            </a:r>
            <a:r>
              <a:rPr lang="en-ID" sz="3000" dirty="0"/>
              <a:t> (I want to eat pizza tonight.) – Shows personal desire.</a:t>
            </a:r>
            <a:endParaRPr lang="en-ID" sz="2600" dirty="0"/>
          </a:p>
          <a:p>
            <a:pPr lvl="1"/>
            <a:r>
              <a:rPr lang="en-ID" sz="3000" i="1" dirty="0" err="1"/>
              <a:t>Kamu</a:t>
            </a:r>
            <a:r>
              <a:rPr lang="en-ID" sz="3000" i="1" dirty="0"/>
              <a:t> </a:t>
            </a:r>
            <a:r>
              <a:rPr lang="en-ID" sz="3000" i="1" dirty="0" err="1"/>
              <a:t>mau</a:t>
            </a:r>
            <a:r>
              <a:rPr lang="en-ID" sz="3000" i="1" dirty="0"/>
              <a:t> </a:t>
            </a:r>
            <a:r>
              <a:rPr lang="en-ID" sz="3000" i="1" dirty="0" err="1"/>
              <a:t>ikut</a:t>
            </a:r>
            <a:r>
              <a:rPr lang="en-ID" sz="3000" i="1" dirty="0"/>
              <a:t> </a:t>
            </a:r>
            <a:r>
              <a:rPr lang="en-ID" sz="3000" i="1" dirty="0" err="1"/>
              <a:t>ke</a:t>
            </a:r>
            <a:r>
              <a:rPr lang="en-ID" sz="3000" i="1" dirty="0"/>
              <a:t> </a:t>
            </a:r>
            <a:r>
              <a:rPr lang="en-ID" sz="3000" i="1" dirty="0" err="1"/>
              <a:t>bioskop</a:t>
            </a:r>
            <a:r>
              <a:rPr lang="en-ID" sz="3000" i="1" dirty="0"/>
              <a:t>?</a:t>
            </a:r>
            <a:r>
              <a:rPr lang="en-ID" sz="3000" dirty="0"/>
              <a:t> (Do you want to go to the cinema?) – Asks about someone’s desire.</a:t>
            </a:r>
            <a:endParaRPr lang="en-ID" sz="2600" dirty="0"/>
          </a:p>
          <a:p>
            <a:pPr marL="0" indent="0">
              <a:buNone/>
            </a:pPr>
            <a:endParaRPr lang="en-ID" dirty="0"/>
          </a:p>
          <a:p>
            <a:pPr marL="0" indent="0">
              <a:buNone/>
            </a:pPr>
            <a:endParaRPr lang="en-US" dirty="0"/>
          </a:p>
          <a:p>
            <a:pPr marL="0" indent="0">
              <a:buNone/>
            </a:pPr>
            <a:endParaRPr lang="en-ID" dirty="0"/>
          </a:p>
        </p:txBody>
      </p:sp>
    </p:spTree>
    <p:extLst>
      <p:ext uri="{BB962C8B-B14F-4D97-AF65-F5344CB8AC3E}">
        <p14:creationId xmlns:p14="http://schemas.microsoft.com/office/powerpoint/2010/main" val="650393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C2B79-84E5-45B9-811B-1502CAB95D54}"/>
              </a:ext>
            </a:extLst>
          </p:cNvPr>
          <p:cNvSpPr>
            <a:spLocks noGrp="1"/>
          </p:cNvSpPr>
          <p:nvPr>
            <p:ph type="title"/>
          </p:nvPr>
        </p:nvSpPr>
        <p:spPr>
          <a:xfrm>
            <a:off x="838200" y="129598"/>
            <a:ext cx="10515600" cy="812511"/>
          </a:xfrm>
        </p:spPr>
        <p:txBody>
          <a:bodyPr/>
          <a:lstStyle/>
          <a:p>
            <a:r>
              <a:rPr lang="en-US" dirty="0" err="1"/>
              <a:t>Konsep</a:t>
            </a:r>
            <a:r>
              <a:rPr lang="en-US" dirty="0"/>
              <a:t> “masa </a:t>
            </a:r>
            <a:r>
              <a:rPr lang="en-US" dirty="0" err="1"/>
              <a:t>depan</a:t>
            </a:r>
            <a:r>
              <a:rPr lang="en-US" dirty="0"/>
              <a:t>” (future tense)</a:t>
            </a:r>
            <a:endParaRPr lang="en-ID" dirty="0"/>
          </a:p>
        </p:txBody>
      </p:sp>
      <p:sp>
        <p:nvSpPr>
          <p:cNvPr id="3" name="Content Placeholder 2">
            <a:extLst>
              <a:ext uri="{FF2B5EF4-FFF2-40B4-BE49-F238E27FC236}">
                <a16:creationId xmlns:a16="http://schemas.microsoft.com/office/drawing/2014/main" id="{103E684C-F55E-4E26-8927-F3E47BFBCFBE}"/>
              </a:ext>
            </a:extLst>
          </p:cNvPr>
          <p:cNvSpPr>
            <a:spLocks noGrp="1"/>
          </p:cNvSpPr>
          <p:nvPr>
            <p:ph idx="1"/>
          </p:nvPr>
        </p:nvSpPr>
        <p:spPr>
          <a:xfrm>
            <a:off x="838200" y="929336"/>
            <a:ext cx="10515600" cy="5651573"/>
          </a:xfrm>
        </p:spPr>
        <p:txBody>
          <a:bodyPr>
            <a:normAutofit/>
          </a:bodyPr>
          <a:lstStyle/>
          <a:p>
            <a:pPr marL="0" indent="0">
              <a:buNone/>
            </a:pPr>
            <a:r>
              <a:rPr lang="en-US" b="1" dirty="0" err="1"/>
              <a:t>Ingin</a:t>
            </a:r>
            <a:r>
              <a:rPr lang="en-US" b="1" dirty="0"/>
              <a:t> </a:t>
            </a:r>
            <a:r>
              <a:rPr lang="en-US" dirty="0"/>
              <a:t>: </a:t>
            </a:r>
            <a:r>
              <a:rPr lang="en-ID" dirty="0"/>
              <a:t>Expresses a desire or hope for something in the future, with a more formal or emotional tone than "</a:t>
            </a:r>
            <a:r>
              <a:rPr lang="en-ID" dirty="0" err="1"/>
              <a:t>mau</a:t>
            </a:r>
            <a:r>
              <a:rPr lang="en-ID" dirty="0"/>
              <a:t>."</a:t>
            </a:r>
            <a:endParaRPr lang="en-ID" dirty="0">
              <a:effectLst/>
            </a:endParaRPr>
          </a:p>
          <a:p>
            <a:pPr lvl="1"/>
            <a:r>
              <a:rPr lang="en-ID" i="1" dirty="0"/>
              <a:t>Saya </a:t>
            </a:r>
            <a:r>
              <a:rPr lang="en-ID" i="1" dirty="0" err="1"/>
              <a:t>ingin</a:t>
            </a:r>
            <a:r>
              <a:rPr lang="en-ID" i="1" dirty="0"/>
              <a:t> </a:t>
            </a:r>
            <a:r>
              <a:rPr lang="en-ID" i="1" dirty="0" err="1"/>
              <a:t>jadi</a:t>
            </a:r>
            <a:r>
              <a:rPr lang="en-ID" i="1" dirty="0"/>
              <a:t> </a:t>
            </a:r>
            <a:r>
              <a:rPr lang="en-ID" i="1" dirty="0" err="1"/>
              <a:t>dokter</a:t>
            </a:r>
            <a:r>
              <a:rPr lang="en-ID" i="1" dirty="0"/>
              <a:t>.</a:t>
            </a:r>
            <a:r>
              <a:rPr lang="en-ID" dirty="0"/>
              <a:t> (I want to become a doctor.) – Expresses an ambition.</a:t>
            </a:r>
            <a:endParaRPr lang="en-ID" sz="2000" dirty="0"/>
          </a:p>
          <a:p>
            <a:pPr lvl="1"/>
            <a:r>
              <a:rPr lang="en-ID" i="1" dirty="0" err="1"/>
              <a:t>Dia</a:t>
            </a:r>
            <a:r>
              <a:rPr lang="en-ID" i="1" dirty="0"/>
              <a:t> </a:t>
            </a:r>
            <a:r>
              <a:rPr lang="en-ID" i="1" dirty="0" err="1"/>
              <a:t>ingin</a:t>
            </a:r>
            <a:r>
              <a:rPr lang="en-ID" i="1" dirty="0"/>
              <a:t> </a:t>
            </a:r>
            <a:r>
              <a:rPr lang="en-ID" i="1" dirty="0" err="1"/>
              <a:t>pergi</a:t>
            </a:r>
            <a:r>
              <a:rPr lang="en-ID" i="1" dirty="0"/>
              <a:t> </a:t>
            </a:r>
            <a:r>
              <a:rPr lang="en-ID" i="1" dirty="0" err="1"/>
              <a:t>ke</a:t>
            </a:r>
            <a:r>
              <a:rPr lang="en-ID" i="1" dirty="0"/>
              <a:t> Bali </a:t>
            </a:r>
            <a:r>
              <a:rPr lang="en-ID" i="1" dirty="0" err="1"/>
              <a:t>tahun</a:t>
            </a:r>
            <a:r>
              <a:rPr lang="en-ID" i="1" dirty="0"/>
              <a:t> </a:t>
            </a:r>
            <a:r>
              <a:rPr lang="en-ID" i="1" dirty="0" err="1"/>
              <a:t>ini</a:t>
            </a:r>
            <a:r>
              <a:rPr lang="en-ID" i="1" dirty="0"/>
              <a:t>.</a:t>
            </a:r>
            <a:r>
              <a:rPr lang="en-ID" dirty="0"/>
              <a:t> (He wants to travel to Bali this year.) – States a hope.</a:t>
            </a:r>
            <a:endParaRPr lang="en-US" sz="1200" dirty="0"/>
          </a:p>
          <a:p>
            <a:pPr marL="0" indent="0">
              <a:buNone/>
            </a:pPr>
            <a:r>
              <a:rPr lang="en-US" b="1" dirty="0" err="1"/>
              <a:t>Bakal</a:t>
            </a:r>
            <a:r>
              <a:rPr lang="en-US" b="1" dirty="0"/>
              <a:t>: </a:t>
            </a:r>
            <a:r>
              <a:rPr lang="en-ID" dirty="0"/>
              <a:t>Similar to "</a:t>
            </a:r>
            <a:r>
              <a:rPr lang="en-ID" dirty="0" err="1"/>
              <a:t>akan</a:t>
            </a:r>
            <a:r>
              <a:rPr lang="en-ID" dirty="0"/>
              <a:t>" but more informal, often implying confidence or prediction.</a:t>
            </a:r>
          </a:p>
          <a:p>
            <a:pPr marL="0" indent="0">
              <a:buNone/>
            </a:pPr>
            <a:r>
              <a:rPr lang="en-ID" sz="2400" i="1" dirty="0"/>
              <a:t>Saya </a:t>
            </a:r>
            <a:r>
              <a:rPr lang="en-ID" sz="2400" i="1" dirty="0" err="1"/>
              <a:t>bakal</a:t>
            </a:r>
            <a:r>
              <a:rPr lang="en-ID" sz="2400" i="1" dirty="0"/>
              <a:t> lulus </a:t>
            </a:r>
            <a:r>
              <a:rPr lang="en-ID" sz="2400" i="1" dirty="0" err="1"/>
              <a:t>ujian</a:t>
            </a:r>
            <a:r>
              <a:rPr lang="en-ID" sz="2400" i="1" dirty="0"/>
              <a:t> </a:t>
            </a:r>
            <a:r>
              <a:rPr lang="en-ID" sz="2400" i="1" dirty="0" err="1"/>
              <a:t>kalau</a:t>
            </a:r>
            <a:r>
              <a:rPr lang="en-ID" sz="2400" i="1" dirty="0"/>
              <a:t> </a:t>
            </a:r>
            <a:r>
              <a:rPr lang="en-ID" sz="2400" i="1" dirty="0" err="1"/>
              <a:t>belajar</a:t>
            </a:r>
            <a:r>
              <a:rPr lang="en-ID" sz="2400" i="1" dirty="0"/>
              <a:t> </a:t>
            </a:r>
            <a:r>
              <a:rPr lang="en-ID" sz="2400" i="1" dirty="0" err="1"/>
              <a:t>keras</a:t>
            </a:r>
            <a:r>
              <a:rPr lang="en-ID" sz="2400" i="1" dirty="0"/>
              <a:t>.</a:t>
            </a:r>
            <a:r>
              <a:rPr lang="en-ID" sz="2400" dirty="0"/>
              <a:t> (I’ll pass the exam if I study hard.) – Expresses a prediction.</a:t>
            </a:r>
          </a:p>
          <a:p>
            <a:pPr marL="0" indent="0">
              <a:buNone/>
            </a:pPr>
            <a:endParaRPr lang="en-US" sz="2000" b="1" dirty="0"/>
          </a:p>
          <a:p>
            <a:r>
              <a:rPr lang="en-US" b="1" dirty="0" err="1"/>
              <a:t>Nanti</a:t>
            </a:r>
            <a:r>
              <a:rPr lang="en-US" b="1" dirty="0"/>
              <a:t>: </a:t>
            </a:r>
            <a:r>
              <a:rPr lang="en-ID" dirty="0"/>
              <a:t>Suggests something will happen in the future, usually soon, with a casual tone.</a:t>
            </a:r>
            <a:endParaRPr lang="en-ID" sz="2000" dirty="0"/>
          </a:p>
          <a:p>
            <a:pPr lvl="1"/>
            <a:r>
              <a:rPr lang="en-ID" i="1" dirty="0" err="1"/>
              <a:t>Nanti</a:t>
            </a:r>
            <a:r>
              <a:rPr lang="en-ID" i="1" dirty="0"/>
              <a:t> </a:t>
            </a:r>
            <a:r>
              <a:rPr lang="en-ID" i="1" dirty="0" err="1"/>
              <a:t>saya</a:t>
            </a:r>
            <a:r>
              <a:rPr lang="en-ID" i="1" dirty="0"/>
              <a:t> </a:t>
            </a:r>
            <a:r>
              <a:rPr lang="en-ID" i="1" dirty="0" err="1"/>
              <a:t>telepon</a:t>
            </a:r>
            <a:r>
              <a:rPr lang="en-ID" i="1" dirty="0"/>
              <a:t> </a:t>
            </a:r>
            <a:r>
              <a:rPr lang="en-ID" i="1" dirty="0" err="1"/>
              <a:t>kamu</a:t>
            </a:r>
            <a:r>
              <a:rPr lang="en-ID" i="1" dirty="0"/>
              <a:t>.</a:t>
            </a:r>
            <a:r>
              <a:rPr lang="en-ID" dirty="0"/>
              <a:t> (I’ll call you later.) – Indicates a near-future plan.</a:t>
            </a:r>
            <a:endParaRPr lang="en-ID" sz="2000" dirty="0"/>
          </a:p>
          <a:p>
            <a:pPr marL="0" indent="0">
              <a:buNone/>
            </a:pPr>
            <a:endParaRPr lang="en-US" b="1" dirty="0"/>
          </a:p>
          <a:p>
            <a:pPr marL="0" indent="0">
              <a:buNone/>
            </a:pPr>
            <a:endParaRPr lang="en-US" dirty="0"/>
          </a:p>
          <a:p>
            <a:pPr marL="0" indent="0">
              <a:buNone/>
            </a:pPr>
            <a:endParaRPr lang="en-ID" dirty="0"/>
          </a:p>
        </p:txBody>
      </p:sp>
    </p:spTree>
    <p:extLst>
      <p:ext uri="{BB962C8B-B14F-4D97-AF65-F5344CB8AC3E}">
        <p14:creationId xmlns:p14="http://schemas.microsoft.com/office/powerpoint/2010/main" val="415816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3DB4F-6FF9-4A5E-B502-B8C00A8D496A}"/>
              </a:ext>
            </a:extLst>
          </p:cNvPr>
          <p:cNvSpPr>
            <a:spLocks noGrp="1"/>
          </p:cNvSpPr>
          <p:nvPr>
            <p:ph type="title"/>
          </p:nvPr>
        </p:nvSpPr>
        <p:spPr>
          <a:xfrm>
            <a:off x="838200" y="365125"/>
            <a:ext cx="10515600" cy="743239"/>
          </a:xfrm>
        </p:spPr>
        <p:txBody>
          <a:bodyPr/>
          <a:lstStyle/>
          <a:p>
            <a:pPr algn="ctr"/>
            <a:r>
              <a:rPr lang="en-US" dirty="0" err="1"/>
              <a:t>Kosakata</a:t>
            </a:r>
            <a:r>
              <a:rPr lang="en-US" dirty="0"/>
              <a:t> </a:t>
            </a:r>
            <a:r>
              <a:rPr lang="en-US" dirty="0" err="1"/>
              <a:t>tentang</a:t>
            </a:r>
            <a:r>
              <a:rPr lang="en-US" dirty="0"/>
              <a:t> </a:t>
            </a:r>
            <a:r>
              <a:rPr lang="en-US" dirty="0" err="1"/>
              <a:t>tempat</a:t>
            </a:r>
            <a:r>
              <a:rPr lang="en-US" dirty="0"/>
              <a:t> </a:t>
            </a:r>
            <a:r>
              <a:rPr lang="en-US" dirty="0" err="1"/>
              <a:t>publik</a:t>
            </a:r>
            <a:endParaRPr lang="en-ID" dirty="0"/>
          </a:p>
        </p:txBody>
      </p:sp>
      <p:graphicFrame>
        <p:nvGraphicFramePr>
          <p:cNvPr id="4" name="Table 4">
            <a:extLst>
              <a:ext uri="{FF2B5EF4-FFF2-40B4-BE49-F238E27FC236}">
                <a16:creationId xmlns:a16="http://schemas.microsoft.com/office/drawing/2014/main" id="{24C9A585-B5C7-427D-8D00-EBA39D795EE1}"/>
              </a:ext>
            </a:extLst>
          </p:cNvPr>
          <p:cNvGraphicFramePr>
            <a:graphicFrameLocks noGrp="1"/>
          </p:cNvGraphicFramePr>
          <p:nvPr>
            <p:ph idx="1"/>
            <p:extLst>
              <p:ext uri="{D42A27DB-BD31-4B8C-83A1-F6EECF244321}">
                <p14:modId xmlns:p14="http://schemas.microsoft.com/office/powerpoint/2010/main" val="1559693038"/>
              </p:ext>
            </p:extLst>
          </p:nvPr>
        </p:nvGraphicFramePr>
        <p:xfrm>
          <a:off x="838200" y="1216025"/>
          <a:ext cx="10515600" cy="4667248"/>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654228343"/>
                    </a:ext>
                  </a:extLst>
                </a:gridCol>
                <a:gridCol w="2628900">
                  <a:extLst>
                    <a:ext uri="{9D8B030D-6E8A-4147-A177-3AD203B41FA5}">
                      <a16:colId xmlns:a16="http://schemas.microsoft.com/office/drawing/2014/main" val="1395078219"/>
                    </a:ext>
                  </a:extLst>
                </a:gridCol>
                <a:gridCol w="2628900">
                  <a:extLst>
                    <a:ext uri="{9D8B030D-6E8A-4147-A177-3AD203B41FA5}">
                      <a16:colId xmlns:a16="http://schemas.microsoft.com/office/drawing/2014/main" val="1255522457"/>
                    </a:ext>
                  </a:extLst>
                </a:gridCol>
                <a:gridCol w="2628900">
                  <a:extLst>
                    <a:ext uri="{9D8B030D-6E8A-4147-A177-3AD203B41FA5}">
                      <a16:colId xmlns:a16="http://schemas.microsoft.com/office/drawing/2014/main" val="2299901091"/>
                    </a:ext>
                  </a:extLst>
                </a:gridCol>
              </a:tblGrid>
              <a:tr h="583406">
                <a:tc>
                  <a:txBody>
                    <a:bodyPr/>
                    <a:lstStyle/>
                    <a:p>
                      <a:endParaRPr lang="en-ID" sz="2800" dirty="0"/>
                    </a:p>
                  </a:txBody>
                  <a:tcPr/>
                </a:tc>
                <a:tc>
                  <a:txBody>
                    <a:bodyPr/>
                    <a:lstStyle/>
                    <a:p>
                      <a:endParaRPr lang="en-ID" sz="2800" dirty="0"/>
                    </a:p>
                  </a:txBody>
                  <a:tcPr/>
                </a:tc>
                <a:tc>
                  <a:txBody>
                    <a:bodyPr/>
                    <a:lstStyle/>
                    <a:p>
                      <a:endParaRPr lang="en-ID" sz="2800" dirty="0"/>
                    </a:p>
                  </a:txBody>
                  <a:tcPr/>
                </a:tc>
                <a:tc>
                  <a:txBody>
                    <a:bodyPr/>
                    <a:lstStyle/>
                    <a:p>
                      <a:endParaRPr lang="en-ID" sz="2800" dirty="0"/>
                    </a:p>
                  </a:txBody>
                  <a:tcPr/>
                </a:tc>
                <a:extLst>
                  <a:ext uri="{0D108BD9-81ED-4DB2-BD59-A6C34878D82A}">
                    <a16:rowId xmlns:a16="http://schemas.microsoft.com/office/drawing/2014/main" val="45385481"/>
                  </a:ext>
                </a:extLst>
              </a:tr>
              <a:tr h="583406">
                <a:tc>
                  <a:txBody>
                    <a:bodyPr/>
                    <a:lstStyle/>
                    <a:p>
                      <a:r>
                        <a:rPr lang="en-US" sz="2800" dirty="0" err="1"/>
                        <a:t>Restoran</a:t>
                      </a:r>
                      <a:endParaRPr lang="en-ID" sz="2800" dirty="0"/>
                    </a:p>
                  </a:txBody>
                  <a:tcPr/>
                </a:tc>
                <a:tc>
                  <a:txBody>
                    <a:bodyPr/>
                    <a:lstStyle/>
                    <a:p>
                      <a:r>
                        <a:rPr lang="en-US" sz="2800" dirty="0"/>
                        <a:t>Restaurant</a:t>
                      </a:r>
                      <a:endParaRPr lang="en-ID" sz="2800" dirty="0"/>
                    </a:p>
                  </a:txBody>
                  <a:tcPr/>
                </a:tc>
                <a:tc>
                  <a:txBody>
                    <a:bodyPr/>
                    <a:lstStyle/>
                    <a:p>
                      <a:r>
                        <a:rPr lang="en-US" sz="2800" dirty="0" err="1"/>
                        <a:t>Balai</a:t>
                      </a:r>
                      <a:r>
                        <a:rPr lang="en-US" sz="2800" dirty="0"/>
                        <a:t> </a:t>
                      </a:r>
                      <a:r>
                        <a:rPr lang="en-US" sz="2800" dirty="0" err="1"/>
                        <a:t>kota</a:t>
                      </a:r>
                      <a:endParaRPr lang="en-ID" sz="2800" dirty="0"/>
                    </a:p>
                  </a:txBody>
                  <a:tcPr/>
                </a:tc>
                <a:tc>
                  <a:txBody>
                    <a:bodyPr/>
                    <a:lstStyle/>
                    <a:p>
                      <a:r>
                        <a:rPr lang="en-US" sz="2800" dirty="0"/>
                        <a:t>City hall</a:t>
                      </a:r>
                      <a:endParaRPr lang="en-ID" sz="2800" dirty="0"/>
                    </a:p>
                  </a:txBody>
                  <a:tcPr/>
                </a:tc>
                <a:extLst>
                  <a:ext uri="{0D108BD9-81ED-4DB2-BD59-A6C34878D82A}">
                    <a16:rowId xmlns:a16="http://schemas.microsoft.com/office/drawing/2014/main" val="2009881730"/>
                  </a:ext>
                </a:extLst>
              </a:tr>
              <a:tr h="583406">
                <a:tc>
                  <a:txBody>
                    <a:bodyPr/>
                    <a:lstStyle/>
                    <a:p>
                      <a:r>
                        <a:rPr lang="en-US" sz="2800" dirty="0" err="1"/>
                        <a:t>Toko</a:t>
                      </a:r>
                      <a:r>
                        <a:rPr lang="en-US" sz="2800" dirty="0"/>
                        <a:t> </a:t>
                      </a:r>
                      <a:r>
                        <a:rPr lang="en-US" sz="2800" dirty="0" err="1"/>
                        <a:t>hewan</a:t>
                      </a:r>
                      <a:endParaRPr lang="en-ID" sz="2800" dirty="0"/>
                    </a:p>
                  </a:txBody>
                  <a:tcPr/>
                </a:tc>
                <a:tc>
                  <a:txBody>
                    <a:bodyPr/>
                    <a:lstStyle/>
                    <a:p>
                      <a:r>
                        <a:rPr lang="en-US" sz="2800" dirty="0" err="1"/>
                        <a:t>Petshop</a:t>
                      </a:r>
                      <a:endParaRPr lang="en-ID" sz="2800" dirty="0"/>
                    </a:p>
                  </a:txBody>
                  <a:tcPr/>
                </a:tc>
                <a:tc>
                  <a:txBody>
                    <a:bodyPr/>
                    <a:lstStyle/>
                    <a:p>
                      <a:r>
                        <a:rPr lang="en-US" sz="2800" dirty="0"/>
                        <a:t>Taman </a:t>
                      </a:r>
                      <a:r>
                        <a:rPr lang="en-US" sz="2800" dirty="0" err="1"/>
                        <a:t>wisata</a:t>
                      </a:r>
                      <a:endParaRPr lang="en-ID" sz="2800" dirty="0"/>
                    </a:p>
                  </a:txBody>
                  <a:tcPr/>
                </a:tc>
                <a:tc>
                  <a:txBody>
                    <a:bodyPr/>
                    <a:lstStyle/>
                    <a:p>
                      <a:r>
                        <a:rPr lang="en-US" sz="2400" dirty="0"/>
                        <a:t>Amusement park</a:t>
                      </a:r>
                      <a:endParaRPr lang="en-ID" sz="2400" dirty="0"/>
                    </a:p>
                  </a:txBody>
                  <a:tcPr/>
                </a:tc>
                <a:extLst>
                  <a:ext uri="{0D108BD9-81ED-4DB2-BD59-A6C34878D82A}">
                    <a16:rowId xmlns:a16="http://schemas.microsoft.com/office/drawing/2014/main" val="568950343"/>
                  </a:ext>
                </a:extLst>
              </a:tr>
              <a:tr h="583406">
                <a:tc>
                  <a:txBody>
                    <a:bodyPr/>
                    <a:lstStyle/>
                    <a:p>
                      <a:r>
                        <a:rPr lang="en-US" sz="2800" dirty="0" err="1"/>
                        <a:t>Rumah</a:t>
                      </a:r>
                      <a:r>
                        <a:rPr lang="en-US" sz="2800" dirty="0"/>
                        <a:t> </a:t>
                      </a:r>
                      <a:r>
                        <a:rPr lang="en-US" sz="2800" dirty="0" err="1"/>
                        <a:t>sakit</a:t>
                      </a:r>
                      <a:endParaRPr lang="en-ID" sz="2800" dirty="0"/>
                    </a:p>
                  </a:txBody>
                  <a:tcPr/>
                </a:tc>
                <a:tc>
                  <a:txBody>
                    <a:bodyPr/>
                    <a:lstStyle/>
                    <a:p>
                      <a:r>
                        <a:rPr lang="en-US" sz="2800" dirty="0"/>
                        <a:t>hospital</a:t>
                      </a:r>
                      <a:endParaRPr lang="en-ID" sz="2800" dirty="0"/>
                    </a:p>
                  </a:txBody>
                  <a:tcPr/>
                </a:tc>
                <a:tc>
                  <a:txBody>
                    <a:bodyPr/>
                    <a:lstStyle/>
                    <a:p>
                      <a:r>
                        <a:rPr lang="en-US" sz="2800" dirty="0"/>
                        <a:t>Kolam </a:t>
                      </a:r>
                      <a:r>
                        <a:rPr lang="en-US" sz="2800" dirty="0" err="1"/>
                        <a:t>renang</a:t>
                      </a:r>
                      <a:endParaRPr lang="en-ID" sz="2800" dirty="0"/>
                    </a:p>
                  </a:txBody>
                  <a:tcPr/>
                </a:tc>
                <a:tc>
                  <a:txBody>
                    <a:bodyPr/>
                    <a:lstStyle/>
                    <a:p>
                      <a:r>
                        <a:rPr lang="en-US" sz="2800" dirty="0"/>
                        <a:t>Swimming Pool </a:t>
                      </a:r>
                      <a:endParaRPr lang="en-ID" sz="2800" dirty="0"/>
                    </a:p>
                  </a:txBody>
                  <a:tcPr/>
                </a:tc>
                <a:extLst>
                  <a:ext uri="{0D108BD9-81ED-4DB2-BD59-A6C34878D82A}">
                    <a16:rowId xmlns:a16="http://schemas.microsoft.com/office/drawing/2014/main" val="1054860862"/>
                  </a:ext>
                </a:extLst>
              </a:tr>
              <a:tr h="583406">
                <a:tc>
                  <a:txBody>
                    <a:bodyPr/>
                    <a:lstStyle/>
                    <a:p>
                      <a:r>
                        <a:rPr lang="en-US" sz="2800" dirty="0"/>
                        <a:t>Taman </a:t>
                      </a:r>
                      <a:endParaRPr lang="en-ID" sz="2800" dirty="0"/>
                    </a:p>
                  </a:txBody>
                  <a:tcPr/>
                </a:tc>
                <a:tc>
                  <a:txBody>
                    <a:bodyPr/>
                    <a:lstStyle/>
                    <a:p>
                      <a:r>
                        <a:rPr lang="en-US" sz="2800" dirty="0"/>
                        <a:t>Park </a:t>
                      </a:r>
                      <a:endParaRPr lang="en-ID" sz="2800" dirty="0"/>
                    </a:p>
                  </a:txBody>
                  <a:tcPr/>
                </a:tc>
                <a:tc>
                  <a:txBody>
                    <a:bodyPr/>
                    <a:lstStyle/>
                    <a:p>
                      <a:r>
                        <a:rPr lang="en-US" sz="2800" dirty="0"/>
                        <a:t>Sungai</a:t>
                      </a:r>
                      <a:endParaRPr lang="en-ID" sz="2800" dirty="0"/>
                    </a:p>
                  </a:txBody>
                  <a:tcPr/>
                </a:tc>
                <a:tc>
                  <a:txBody>
                    <a:bodyPr/>
                    <a:lstStyle/>
                    <a:p>
                      <a:r>
                        <a:rPr lang="en-US" sz="2800" dirty="0"/>
                        <a:t>River </a:t>
                      </a:r>
                      <a:endParaRPr lang="en-ID" sz="2800" dirty="0"/>
                    </a:p>
                  </a:txBody>
                  <a:tcPr/>
                </a:tc>
                <a:extLst>
                  <a:ext uri="{0D108BD9-81ED-4DB2-BD59-A6C34878D82A}">
                    <a16:rowId xmlns:a16="http://schemas.microsoft.com/office/drawing/2014/main" val="4033015213"/>
                  </a:ext>
                </a:extLst>
              </a:tr>
              <a:tr h="583406">
                <a:tc>
                  <a:txBody>
                    <a:bodyPr/>
                    <a:lstStyle/>
                    <a:p>
                      <a:r>
                        <a:rPr lang="en-US" sz="2800" dirty="0" err="1"/>
                        <a:t>Gereja</a:t>
                      </a:r>
                      <a:endParaRPr lang="en-ID" sz="2800" dirty="0"/>
                    </a:p>
                  </a:txBody>
                  <a:tcPr/>
                </a:tc>
                <a:tc>
                  <a:txBody>
                    <a:bodyPr/>
                    <a:lstStyle/>
                    <a:p>
                      <a:r>
                        <a:rPr lang="en-US" sz="2800" dirty="0"/>
                        <a:t>Church</a:t>
                      </a:r>
                      <a:endParaRPr lang="en-ID" sz="2800" dirty="0"/>
                    </a:p>
                  </a:txBody>
                  <a:tcPr/>
                </a:tc>
                <a:tc>
                  <a:txBody>
                    <a:bodyPr/>
                    <a:lstStyle/>
                    <a:p>
                      <a:r>
                        <a:rPr lang="en-US" sz="2800" dirty="0" err="1"/>
                        <a:t>Kanal</a:t>
                      </a:r>
                      <a:endParaRPr lang="en-ID" sz="2800" dirty="0"/>
                    </a:p>
                  </a:txBody>
                  <a:tcPr/>
                </a:tc>
                <a:tc>
                  <a:txBody>
                    <a:bodyPr/>
                    <a:lstStyle/>
                    <a:p>
                      <a:r>
                        <a:rPr lang="en-US" sz="2800" dirty="0"/>
                        <a:t>Water tunnel</a:t>
                      </a:r>
                      <a:endParaRPr lang="en-ID" sz="2800" dirty="0"/>
                    </a:p>
                  </a:txBody>
                  <a:tcPr/>
                </a:tc>
                <a:extLst>
                  <a:ext uri="{0D108BD9-81ED-4DB2-BD59-A6C34878D82A}">
                    <a16:rowId xmlns:a16="http://schemas.microsoft.com/office/drawing/2014/main" val="2518753683"/>
                  </a:ext>
                </a:extLst>
              </a:tr>
              <a:tr h="583406">
                <a:tc>
                  <a:txBody>
                    <a:bodyPr/>
                    <a:lstStyle/>
                    <a:p>
                      <a:r>
                        <a:rPr lang="en-US" sz="2800" dirty="0"/>
                        <a:t>Air </a:t>
                      </a:r>
                      <a:r>
                        <a:rPr lang="en-US" sz="2800" dirty="0" err="1"/>
                        <a:t>mancur</a:t>
                      </a:r>
                      <a:endParaRPr lang="en-ID" sz="2800" dirty="0"/>
                    </a:p>
                  </a:txBody>
                  <a:tcPr/>
                </a:tc>
                <a:tc>
                  <a:txBody>
                    <a:bodyPr/>
                    <a:lstStyle/>
                    <a:p>
                      <a:r>
                        <a:rPr lang="en-US" sz="2800" dirty="0"/>
                        <a:t>fountain</a:t>
                      </a:r>
                      <a:endParaRPr lang="en-ID" sz="2800" dirty="0"/>
                    </a:p>
                  </a:txBody>
                  <a:tcPr/>
                </a:tc>
                <a:tc>
                  <a:txBody>
                    <a:bodyPr/>
                    <a:lstStyle/>
                    <a:p>
                      <a:r>
                        <a:rPr lang="en-US" sz="2800" dirty="0" err="1"/>
                        <a:t>Danau</a:t>
                      </a:r>
                      <a:endParaRPr lang="en-ID" sz="2800" dirty="0"/>
                    </a:p>
                  </a:txBody>
                  <a:tcPr/>
                </a:tc>
                <a:tc>
                  <a:txBody>
                    <a:bodyPr/>
                    <a:lstStyle/>
                    <a:p>
                      <a:r>
                        <a:rPr lang="en-US" sz="2800" dirty="0"/>
                        <a:t>Lake</a:t>
                      </a:r>
                      <a:endParaRPr lang="en-ID" sz="2800" dirty="0"/>
                    </a:p>
                  </a:txBody>
                  <a:tcPr/>
                </a:tc>
                <a:extLst>
                  <a:ext uri="{0D108BD9-81ED-4DB2-BD59-A6C34878D82A}">
                    <a16:rowId xmlns:a16="http://schemas.microsoft.com/office/drawing/2014/main" val="3159822691"/>
                  </a:ext>
                </a:extLst>
              </a:tr>
              <a:tr h="583406">
                <a:tc>
                  <a:txBody>
                    <a:bodyPr/>
                    <a:lstStyle/>
                    <a:p>
                      <a:r>
                        <a:rPr lang="en-US" sz="2800" dirty="0" err="1"/>
                        <a:t>gunung</a:t>
                      </a:r>
                      <a:endParaRPr lang="en-ID" sz="2800" dirty="0"/>
                    </a:p>
                  </a:txBody>
                  <a:tcPr/>
                </a:tc>
                <a:tc>
                  <a:txBody>
                    <a:bodyPr/>
                    <a:lstStyle/>
                    <a:p>
                      <a:r>
                        <a:rPr lang="en-US" sz="2800" dirty="0"/>
                        <a:t>mountain</a:t>
                      </a:r>
                      <a:endParaRPr lang="en-ID" sz="2800" dirty="0"/>
                    </a:p>
                  </a:txBody>
                  <a:tcPr/>
                </a:tc>
                <a:tc>
                  <a:txBody>
                    <a:bodyPr/>
                    <a:lstStyle/>
                    <a:p>
                      <a:endParaRPr lang="en-ID" sz="2800" dirty="0"/>
                    </a:p>
                  </a:txBody>
                  <a:tcPr/>
                </a:tc>
                <a:tc>
                  <a:txBody>
                    <a:bodyPr/>
                    <a:lstStyle/>
                    <a:p>
                      <a:endParaRPr lang="en-ID" sz="2800" dirty="0"/>
                    </a:p>
                  </a:txBody>
                  <a:tcPr/>
                </a:tc>
                <a:extLst>
                  <a:ext uri="{0D108BD9-81ED-4DB2-BD59-A6C34878D82A}">
                    <a16:rowId xmlns:a16="http://schemas.microsoft.com/office/drawing/2014/main" val="4041455357"/>
                  </a:ext>
                </a:extLst>
              </a:tr>
            </a:tbl>
          </a:graphicData>
        </a:graphic>
      </p:graphicFrame>
    </p:spTree>
    <p:extLst>
      <p:ext uri="{BB962C8B-B14F-4D97-AF65-F5344CB8AC3E}">
        <p14:creationId xmlns:p14="http://schemas.microsoft.com/office/powerpoint/2010/main" val="541381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80A1C-468E-444E-9D88-C0027F4D6CFF}"/>
              </a:ext>
            </a:extLst>
          </p:cNvPr>
          <p:cNvSpPr>
            <a:spLocks noGrp="1"/>
          </p:cNvSpPr>
          <p:nvPr>
            <p:ph type="title"/>
          </p:nvPr>
        </p:nvSpPr>
        <p:spPr>
          <a:xfrm>
            <a:off x="838200" y="365126"/>
            <a:ext cx="10515600" cy="729384"/>
          </a:xfrm>
        </p:spPr>
        <p:txBody>
          <a:bodyPr/>
          <a:lstStyle/>
          <a:p>
            <a:r>
              <a:rPr lang="en-US" dirty="0" err="1"/>
              <a:t>Praktik</a:t>
            </a:r>
            <a:r>
              <a:rPr lang="en-US" dirty="0"/>
              <a:t> </a:t>
            </a:r>
            <a:r>
              <a:rPr lang="en-US" dirty="0" err="1"/>
              <a:t>menulis</a:t>
            </a:r>
            <a:r>
              <a:rPr lang="en-US" dirty="0"/>
              <a:t> dan </a:t>
            </a:r>
            <a:r>
              <a:rPr lang="en-US" dirty="0" err="1"/>
              <a:t>bicara</a:t>
            </a:r>
            <a:endParaRPr lang="en-ID" dirty="0"/>
          </a:p>
        </p:txBody>
      </p:sp>
      <p:sp>
        <p:nvSpPr>
          <p:cNvPr id="3" name="Content Placeholder 2">
            <a:extLst>
              <a:ext uri="{FF2B5EF4-FFF2-40B4-BE49-F238E27FC236}">
                <a16:creationId xmlns:a16="http://schemas.microsoft.com/office/drawing/2014/main" id="{3E01030A-2F4E-482F-8243-975D9EA73F3D}"/>
              </a:ext>
            </a:extLst>
          </p:cNvPr>
          <p:cNvSpPr>
            <a:spLocks noGrp="1"/>
          </p:cNvSpPr>
          <p:nvPr>
            <p:ph idx="1"/>
          </p:nvPr>
        </p:nvSpPr>
        <p:spPr>
          <a:xfrm>
            <a:off x="838200" y="1253331"/>
            <a:ext cx="10515600" cy="3382464"/>
          </a:xfrm>
        </p:spPr>
        <p:txBody>
          <a:bodyPr/>
          <a:lstStyle/>
          <a:p>
            <a:pPr marL="0" indent="0">
              <a:buNone/>
            </a:pPr>
            <a:r>
              <a:rPr lang="en-US" dirty="0" err="1"/>
              <a:t>Dalam</a:t>
            </a:r>
            <a:r>
              <a:rPr lang="en-US" dirty="0"/>
              <a:t> </a:t>
            </a:r>
            <a:r>
              <a:rPr lang="en-US" dirty="0" err="1"/>
              <a:t>seminggu</a:t>
            </a:r>
            <a:r>
              <a:rPr lang="en-US" dirty="0"/>
              <a:t> ini </a:t>
            </a:r>
            <a:r>
              <a:rPr lang="en-US" dirty="0" err="1"/>
              <a:t>anda</a:t>
            </a:r>
            <a:r>
              <a:rPr lang="en-US" dirty="0"/>
              <a:t> </a:t>
            </a:r>
            <a:r>
              <a:rPr lang="en-US" dirty="0" err="1"/>
              <a:t>ingin</a:t>
            </a:r>
            <a:r>
              <a:rPr lang="en-US" dirty="0"/>
              <a:t> </a:t>
            </a:r>
            <a:r>
              <a:rPr lang="en-US" dirty="0" err="1"/>
              <a:t>pergi</a:t>
            </a:r>
            <a:r>
              <a:rPr lang="en-US" dirty="0"/>
              <a:t> </a:t>
            </a:r>
            <a:r>
              <a:rPr lang="en-US" dirty="0" err="1"/>
              <a:t>kemana</a:t>
            </a:r>
            <a:r>
              <a:rPr lang="en-US" dirty="0"/>
              <a:t>?</a:t>
            </a:r>
          </a:p>
          <a:p>
            <a:pPr marL="0" indent="0">
              <a:buNone/>
            </a:pPr>
            <a:r>
              <a:rPr lang="en-US" dirty="0" err="1"/>
              <a:t>Tulis</a:t>
            </a:r>
            <a:r>
              <a:rPr lang="en-US" dirty="0"/>
              <a:t> 5 </a:t>
            </a:r>
            <a:r>
              <a:rPr lang="en-US" dirty="0" err="1"/>
              <a:t>rencana</a:t>
            </a:r>
            <a:r>
              <a:rPr lang="en-US" dirty="0"/>
              <a:t> </a:t>
            </a:r>
            <a:r>
              <a:rPr lang="en-US" dirty="0" err="1"/>
              <a:t>destinasi</a:t>
            </a:r>
            <a:r>
              <a:rPr lang="en-US" dirty="0"/>
              <a:t> </a:t>
            </a:r>
            <a:r>
              <a:rPr lang="en-US" dirty="0" err="1"/>
              <a:t>tempat</a:t>
            </a:r>
            <a:r>
              <a:rPr lang="en-US" dirty="0"/>
              <a:t> </a:t>
            </a:r>
            <a:r>
              <a:rPr lang="en-US" dirty="0" err="1"/>
              <a:t>publik</a:t>
            </a:r>
            <a:r>
              <a:rPr lang="en-US" dirty="0"/>
              <a:t> yang </a:t>
            </a:r>
            <a:r>
              <a:rPr lang="en-US" dirty="0" err="1"/>
              <a:t>ingin</a:t>
            </a:r>
            <a:r>
              <a:rPr lang="en-US" dirty="0"/>
              <a:t> </a:t>
            </a:r>
            <a:r>
              <a:rPr lang="en-US" dirty="0" err="1"/>
              <a:t>anda</a:t>
            </a:r>
            <a:r>
              <a:rPr lang="en-US" dirty="0"/>
              <a:t> </a:t>
            </a:r>
            <a:r>
              <a:rPr lang="en-US" dirty="0" err="1"/>
              <a:t>pergi</a:t>
            </a:r>
            <a:r>
              <a:rPr lang="en-US" dirty="0"/>
              <a:t>!</a:t>
            </a:r>
          </a:p>
          <a:p>
            <a:pPr marL="0" indent="0">
              <a:buNone/>
            </a:pPr>
            <a:r>
              <a:rPr lang="en-US" sz="2400" dirty="0"/>
              <a:t>Where do you want to go this week? Write down 5 public destination plans you want to go to!</a:t>
            </a:r>
          </a:p>
          <a:p>
            <a:pPr marL="0" indent="0">
              <a:buNone/>
            </a:pPr>
            <a:endParaRPr lang="en-US" sz="1100" i="1" dirty="0"/>
          </a:p>
          <a:p>
            <a:pPr marL="0" indent="0">
              <a:buNone/>
            </a:pPr>
            <a:r>
              <a:rPr lang="en-US" i="1" dirty="0"/>
              <a:t>Hari </a:t>
            </a:r>
            <a:r>
              <a:rPr lang="en-US" i="1" dirty="0" err="1"/>
              <a:t>senin</a:t>
            </a:r>
            <a:r>
              <a:rPr lang="en-US" i="1" dirty="0"/>
              <a:t> </a:t>
            </a:r>
            <a:r>
              <a:rPr lang="en-US" i="1" dirty="0" err="1"/>
              <a:t>saya</a:t>
            </a:r>
            <a:r>
              <a:rPr lang="en-US" i="1" dirty="0"/>
              <a:t> </a:t>
            </a:r>
            <a:r>
              <a:rPr lang="en-US" i="1" dirty="0" err="1"/>
              <a:t>akan</a:t>
            </a:r>
            <a:r>
              <a:rPr lang="en-US" i="1" dirty="0"/>
              <a:t> </a:t>
            </a:r>
            <a:r>
              <a:rPr lang="en-US" i="1" dirty="0" err="1"/>
              <a:t>pergi</a:t>
            </a:r>
            <a:r>
              <a:rPr lang="en-US" i="1" dirty="0"/>
              <a:t> </a:t>
            </a:r>
            <a:r>
              <a:rPr lang="en-US" i="1" dirty="0" err="1"/>
              <a:t>ke</a:t>
            </a:r>
            <a:r>
              <a:rPr lang="en-US" i="1" dirty="0"/>
              <a:t> </a:t>
            </a:r>
            <a:r>
              <a:rPr lang="en-US" i="1" dirty="0" err="1"/>
              <a:t>sekolah</a:t>
            </a:r>
            <a:endParaRPr lang="en-US" i="1" dirty="0"/>
          </a:p>
          <a:p>
            <a:pPr marL="0" indent="0">
              <a:buNone/>
            </a:pPr>
            <a:r>
              <a:rPr lang="en-US" i="1" dirty="0"/>
              <a:t>Hari </a:t>
            </a:r>
            <a:r>
              <a:rPr lang="en-US" i="1" dirty="0" err="1"/>
              <a:t>minggu</a:t>
            </a:r>
            <a:r>
              <a:rPr lang="en-US" i="1" dirty="0"/>
              <a:t> </a:t>
            </a:r>
            <a:r>
              <a:rPr lang="en-US" i="1" dirty="0" err="1"/>
              <a:t>saya</a:t>
            </a:r>
            <a:r>
              <a:rPr lang="en-US" i="1" dirty="0"/>
              <a:t> </a:t>
            </a:r>
            <a:r>
              <a:rPr lang="en-US" i="1" dirty="0" err="1"/>
              <a:t>akan</a:t>
            </a:r>
            <a:r>
              <a:rPr lang="en-US" i="1" dirty="0"/>
              <a:t> </a:t>
            </a:r>
            <a:r>
              <a:rPr lang="en-US" i="1" dirty="0" err="1"/>
              <a:t>pergi</a:t>
            </a:r>
            <a:r>
              <a:rPr lang="en-US" i="1" dirty="0"/>
              <a:t> </a:t>
            </a:r>
            <a:r>
              <a:rPr lang="en-US" i="1" dirty="0" err="1"/>
              <a:t>ke</a:t>
            </a:r>
            <a:r>
              <a:rPr lang="en-US" i="1" dirty="0"/>
              <a:t> </a:t>
            </a:r>
            <a:r>
              <a:rPr lang="en-US" i="1" dirty="0" err="1"/>
              <a:t>gereja</a:t>
            </a:r>
            <a:r>
              <a:rPr lang="en-US" i="1" dirty="0"/>
              <a:t> </a:t>
            </a:r>
            <a:r>
              <a:rPr lang="en-US" i="1" dirty="0" err="1"/>
              <a:t>pukul</a:t>
            </a:r>
            <a:r>
              <a:rPr lang="en-US" i="1" dirty="0"/>
              <a:t> 08.00 </a:t>
            </a:r>
            <a:r>
              <a:rPr lang="en-US" i="1" dirty="0" err="1"/>
              <a:t>pagi</a:t>
            </a:r>
            <a:r>
              <a:rPr lang="en-US" i="1" dirty="0"/>
              <a:t>.</a:t>
            </a:r>
            <a:endParaRPr lang="en-ID" i="1" dirty="0"/>
          </a:p>
        </p:txBody>
      </p:sp>
      <p:pic>
        <p:nvPicPr>
          <p:cNvPr id="7170" name="Picture 2" descr="People Bus Public Place Travel Urban Stock Vector (Royalty Free) 2322692183  | Shutterstock">
            <a:extLst>
              <a:ext uri="{FF2B5EF4-FFF2-40B4-BE49-F238E27FC236}">
                <a16:creationId xmlns:a16="http://schemas.microsoft.com/office/drawing/2014/main" id="{42E7D469-D7AF-4CD9-9C49-8D68D046AF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312"/>
          <a:stretch/>
        </p:blipFill>
        <p:spPr bwMode="auto">
          <a:xfrm>
            <a:off x="6096000" y="4420106"/>
            <a:ext cx="6096000" cy="244532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People Bus Public Place Travel Urban Stock Vector (Royalty Free) 2322692183  | Shutterstock">
            <a:extLst>
              <a:ext uri="{FF2B5EF4-FFF2-40B4-BE49-F238E27FC236}">
                <a16:creationId xmlns:a16="http://schemas.microsoft.com/office/drawing/2014/main" id="{950690CA-8D0D-45E5-BD27-26EDB0E67A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312"/>
          <a:stretch/>
        </p:blipFill>
        <p:spPr bwMode="auto">
          <a:xfrm>
            <a:off x="1" y="4412673"/>
            <a:ext cx="6096000" cy="2445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3087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80A1C-468E-444E-9D88-C0027F4D6CFF}"/>
              </a:ext>
            </a:extLst>
          </p:cNvPr>
          <p:cNvSpPr>
            <a:spLocks noGrp="1"/>
          </p:cNvSpPr>
          <p:nvPr>
            <p:ph type="title"/>
          </p:nvPr>
        </p:nvSpPr>
        <p:spPr>
          <a:xfrm>
            <a:off x="533400" y="514566"/>
            <a:ext cx="7654636" cy="720870"/>
          </a:xfrm>
        </p:spPr>
        <p:txBody>
          <a:bodyPr/>
          <a:lstStyle/>
          <a:p>
            <a:r>
              <a:rPr lang="en-US" b="1" dirty="0" err="1"/>
              <a:t>Praktik</a:t>
            </a:r>
            <a:r>
              <a:rPr lang="en-US" b="1" dirty="0"/>
              <a:t> </a:t>
            </a:r>
            <a:r>
              <a:rPr lang="en-US" b="1" dirty="0" err="1"/>
              <a:t>bicara</a:t>
            </a:r>
            <a:endParaRPr lang="en-ID" b="1" dirty="0"/>
          </a:p>
        </p:txBody>
      </p:sp>
      <p:sp>
        <p:nvSpPr>
          <p:cNvPr id="3" name="Content Placeholder 2">
            <a:extLst>
              <a:ext uri="{FF2B5EF4-FFF2-40B4-BE49-F238E27FC236}">
                <a16:creationId xmlns:a16="http://schemas.microsoft.com/office/drawing/2014/main" id="{3E01030A-2F4E-482F-8243-975D9EA73F3D}"/>
              </a:ext>
            </a:extLst>
          </p:cNvPr>
          <p:cNvSpPr>
            <a:spLocks noGrp="1"/>
          </p:cNvSpPr>
          <p:nvPr>
            <p:ph idx="1"/>
          </p:nvPr>
        </p:nvSpPr>
        <p:spPr>
          <a:xfrm>
            <a:off x="533400" y="1615245"/>
            <a:ext cx="7266709" cy="3627510"/>
          </a:xfrm>
        </p:spPr>
        <p:txBody>
          <a:bodyPr>
            <a:normAutofit lnSpcReduction="10000"/>
          </a:bodyPr>
          <a:lstStyle/>
          <a:p>
            <a:pPr marL="0" indent="0">
              <a:buNone/>
            </a:pPr>
            <a:r>
              <a:rPr lang="en-US" dirty="0"/>
              <a:t>Anda punya </a:t>
            </a:r>
            <a:r>
              <a:rPr lang="en-US" dirty="0" err="1"/>
              <a:t>waktu</a:t>
            </a:r>
            <a:r>
              <a:rPr lang="en-US" dirty="0"/>
              <a:t> </a:t>
            </a:r>
            <a:r>
              <a:rPr lang="en-US" dirty="0" err="1"/>
              <a:t>libur</a:t>
            </a:r>
            <a:r>
              <a:rPr lang="en-US" dirty="0"/>
              <a:t>  10 </a:t>
            </a:r>
            <a:r>
              <a:rPr lang="en-US" dirty="0" err="1"/>
              <a:t>hari</a:t>
            </a:r>
            <a:r>
              <a:rPr lang="en-US" dirty="0"/>
              <a:t>. Anda juga punya </a:t>
            </a:r>
            <a:r>
              <a:rPr lang="en-US" dirty="0" err="1"/>
              <a:t>uang</a:t>
            </a:r>
            <a:r>
              <a:rPr lang="en-US" dirty="0"/>
              <a:t> 5000 Euro untuk budget.</a:t>
            </a:r>
          </a:p>
          <a:p>
            <a:pPr marL="0" indent="0">
              <a:buNone/>
            </a:pPr>
            <a:r>
              <a:rPr lang="en-US" dirty="0" err="1"/>
              <a:t>Tulis</a:t>
            </a:r>
            <a:r>
              <a:rPr lang="en-US" dirty="0"/>
              <a:t> </a:t>
            </a:r>
            <a:r>
              <a:rPr lang="en-US" dirty="0" err="1"/>
              <a:t>kemana</a:t>
            </a:r>
            <a:r>
              <a:rPr lang="en-US" dirty="0"/>
              <a:t> </a:t>
            </a:r>
            <a:r>
              <a:rPr lang="en-US" dirty="0" err="1"/>
              <a:t>saja</a:t>
            </a:r>
            <a:r>
              <a:rPr lang="en-US" dirty="0"/>
              <a:t> </a:t>
            </a:r>
            <a:r>
              <a:rPr lang="en-US" dirty="0" err="1"/>
              <a:t>anda</a:t>
            </a:r>
            <a:r>
              <a:rPr lang="en-US" dirty="0"/>
              <a:t> </a:t>
            </a:r>
            <a:r>
              <a:rPr lang="en-US" dirty="0" err="1"/>
              <a:t>ingin</a:t>
            </a:r>
            <a:r>
              <a:rPr lang="en-US" dirty="0"/>
              <a:t> </a:t>
            </a:r>
            <a:r>
              <a:rPr lang="en-US" dirty="0" err="1"/>
              <a:t>pergi</a:t>
            </a:r>
            <a:r>
              <a:rPr lang="en-US" dirty="0"/>
              <a:t>. Minimal 5 </a:t>
            </a:r>
            <a:r>
              <a:rPr lang="en-US" dirty="0" err="1"/>
              <a:t>destinasi</a:t>
            </a:r>
            <a:r>
              <a:rPr lang="en-US" dirty="0"/>
              <a:t>. </a:t>
            </a:r>
          </a:p>
          <a:p>
            <a:pPr marL="0" indent="0">
              <a:buNone/>
            </a:pPr>
            <a:r>
              <a:rPr lang="en-US" dirty="0" err="1"/>
              <a:t>Tulis</a:t>
            </a:r>
            <a:r>
              <a:rPr lang="en-US" dirty="0"/>
              <a:t> juga naik </a:t>
            </a:r>
            <a:r>
              <a:rPr lang="en-US" dirty="0" err="1"/>
              <a:t>apa</a:t>
            </a:r>
            <a:r>
              <a:rPr lang="en-US" dirty="0"/>
              <a:t> untuk </a:t>
            </a:r>
            <a:r>
              <a:rPr lang="en-US" dirty="0" err="1"/>
              <a:t>kesana</a:t>
            </a:r>
            <a:r>
              <a:rPr lang="en-US" dirty="0"/>
              <a:t>.</a:t>
            </a:r>
          </a:p>
          <a:p>
            <a:pPr marL="0" indent="0">
              <a:buNone/>
            </a:pPr>
            <a:endParaRPr lang="en-US" dirty="0"/>
          </a:p>
          <a:p>
            <a:pPr marL="0" indent="0">
              <a:buNone/>
            </a:pPr>
            <a:r>
              <a:rPr lang="en-US" dirty="0"/>
              <a:t>Saya </a:t>
            </a:r>
            <a:r>
              <a:rPr lang="en-US" dirty="0" err="1"/>
              <a:t>akan</a:t>
            </a:r>
            <a:r>
              <a:rPr lang="en-US" dirty="0"/>
              <a:t> </a:t>
            </a:r>
            <a:r>
              <a:rPr lang="en-US" dirty="0" err="1"/>
              <a:t>pergi</a:t>
            </a:r>
            <a:r>
              <a:rPr lang="en-US" dirty="0"/>
              <a:t> </a:t>
            </a:r>
            <a:r>
              <a:rPr lang="en-US" dirty="0" err="1"/>
              <a:t>ke</a:t>
            </a:r>
            <a:r>
              <a:rPr lang="en-US" dirty="0"/>
              <a:t> Roma naik </a:t>
            </a:r>
            <a:r>
              <a:rPr lang="en-US" dirty="0" err="1"/>
              <a:t>kereta</a:t>
            </a:r>
            <a:r>
              <a:rPr lang="en-US" dirty="0"/>
              <a:t> </a:t>
            </a:r>
            <a:r>
              <a:rPr lang="en-US" dirty="0" err="1"/>
              <a:t>api</a:t>
            </a:r>
            <a:endParaRPr lang="en-US" dirty="0"/>
          </a:p>
          <a:p>
            <a:pPr marL="0" indent="0">
              <a:buNone/>
            </a:pPr>
            <a:r>
              <a:rPr lang="en-US" dirty="0" err="1"/>
              <a:t>Lalu</a:t>
            </a:r>
            <a:r>
              <a:rPr lang="en-US" dirty="0"/>
              <a:t> </a:t>
            </a:r>
            <a:r>
              <a:rPr lang="en-US" dirty="0" err="1"/>
              <a:t>saya</a:t>
            </a:r>
            <a:r>
              <a:rPr lang="en-US" dirty="0"/>
              <a:t> </a:t>
            </a:r>
            <a:r>
              <a:rPr lang="en-US" dirty="0" err="1"/>
              <a:t>akan</a:t>
            </a:r>
            <a:r>
              <a:rPr lang="en-US" dirty="0"/>
              <a:t> </a:t>
            </a:r>
            <a:r>
              <a:rPr lang="en-US" dirty="0" err="1"/>
              <a:t>pergi</a:t>
            </a:r>
            <a:r>
              <a:rPr lang="en-US" dirty="0"/>
              <a:t> </a:t>
            </a:r>
            <a:r>
              <a:rPr lang="en-US" dirty="0" err="1"/>
              <a:t>ke</a:t>
            </a:r>
            <a:r>
              <a:rPr lang="en-US" dirty="0"/>
              <a:t> Ibiza naik </a:t>
            </a:r>
            <a:r>
              <a:rPr lang="en-US" dirty="0" err="1"/>
              <a:t>pesawat</a:t>
            </a:r>
            <a:r>
              <a:rPr lang="en-US" dirty="0"/>
              <a:t>….</a:t>
            </a:r>
            <a:endParaRPr lang="en-ID" dirty="0"/>
          </a:p>
        </p:txBody>
      </p:sp>
      <p:pic>
        <p:nvPicPr>
          <p:cNvPr id="6148" name="Picture 4" descr="Ibiza Wallpapers (28 images) - WallpaperCat">
            <a:extLst>
              <a:ext uri="{FF2B5EF4-FFF2-40B4-BE49-F238E27FC236}">
                <a16:creationId xmlns:a16="http://schemas.microsoft.com/office/drawing/2014/main" id="{7229E4A8-641E-4C21-BE7B-A0DC6DED3C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4375" y="0"/>
            <a:ext cx="38576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5134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80A1C-468E-444E-9D88-C0027F4D6CFF}"/>
              </a:ext>
            </a:extLst>
          </p:cNvPr>
          <p:cNvSpPr>
            <a:spLocks noGrp="1"/>
          </p:cNvSpPr>
          <p:nvPr>
            <p:ph type="title"/>
          </p:nvPr>
        </p:nvSpPr>
        <p:spPr/>
        <p:txBody>
          <a:bodyPr/>
          <a:lstStyle/>
          <a:p>
            <a:r>
              <a:rPr lang="en-US" dirty="0" err="1"/>
              <a:t>Praktik</a:t>
            </a:r>
            <a:r>
              <a:rPr lang="en-US" dirty="0"/>
              <a:t> </a:t>
            </a:r>
            <a:r>
              <a:rPr lang="en-US" dirty="0" err="1"/>
              <a:t>menulis</a:t>
            </a:r>
            <a:endParaRPr lang="en-ID" dirty="0"/>
          </a:p>
        </p:txBody>
      </p:sp>
      <p:sp>
        <p:nvSpPr>
          <p:cNvPr id="3" name="Content Placeholder 2">
            <a:extLst>
              <a:ext uri="{FF2B5EF4-FFF2-40B4-BE49-F238E27FC236}">
                <a16:creationId xmlns:a16="http://schemas.microsoft.com/office/drawing/2014/main" id="{3E01030A-2F4E-482F-8243-975D9EA73F3D}"/>
              </a:ext>
            </a:extLst>
          </p:cNvPr>
          <p:cNvSpPr>
            <a:spLocks noGrp="1"/>
          </p:cNvSpPr>
          <p:nvPr>
            <p:ph idx="1"/>
          </p:nvPr>
        </p:nvSpPr>
        <p:spPr/>
        <p:txBody>
          <a:bodyPr/>
          <a:lstStyle/>
          <a:p>
            <a:pPr marL="0" indent="0">
              <a:buNone/>
            </a:pPr>
            <a:r>
              <a:rPr lang="en-US" dirty="0"/>
              <a:t>Anda </a:t>
            </a:r>
            <a:r>
              <a:rPr lang="en-US" dirty="0" err="1"/>
              <a:t>ingin</a:t>
            </a:r>
            <a:r>
              <a:rPr lang="en-US" dirty="0"/>
              <a:t> </a:t>
            </a:r>
            <a:r>
              <a:rPr lang="en-US" dirty="0" err="1"/>
              <a:t>pergi</a:t>
            </a:r>
            <a:r>
              <a:rPr lang="en-US" dirty="0"/>
              <a:t> dengan </a:t>
            </a:r>
            <a:r>
              <a:rPr lang="en-US" dirty="0" err="1"/>
              <a:t>transportasi</a:t>
            </a:r>
            <a:r>
              <a:rPr lang="en-US" dirty="0"/>
              <a:t> </a:t>
            </a:r>
            <a:r>
              <a:rPr lang="en-US" dirty="0" err="1"/>
              <a:t>umum</a:t>
            </a:r>
            <a:r>
              <a:rPr lang="en-US" dirty="0"/>
              <a:t>.</a:t>
            </a:r>
          </a:p>
          <a:p>
            <a:pPr marL="0" indent="0">
              <a:buNone/>
            </a:pPr>
            <a:r>
              <a:rPr lang="en-US" dirty="0"/>
              <a:t>Anda </a:t>
            </a:r>
            <a:r>
              <a:rPr lang="en-US" dirty="0" err="1"/>
              <a:t>harus</a:t>
            </a:r>
            <a:r>
              <a:rPr lang="en-US" dirty="0"/>
              <a:t> bisa </a:t>
            </a:r>
            <a:r>
              <a:rPr lang="en-US" dirty="0" err="1"/>
              <a:t>bicara</a:t>
            </a:r>
            <a:r>
              <a:rPr lang="en-US" dirty="0"/>
              <a:t> </a:t>
            </a:r>
            <a:r>
              <a:rPr lang="en-US" dirty="0" err="1"/>
              <a:t>tentang</a:t>
            </a:r>
            <a:r>
              <a:rPr lang="en-US" dirty="0"/>
              <a:t> </a:t>
            </a:r>
            <a:r>
              <a:rPr lang="en-US" dirty="0" err="1"/>
              <a:t>tujuan</a:t>
            </a:r>
            <a:r>
              <a:rPr lang="en-US" dirty="0"/>
              <a:t> dan </a:t>
            </a:r>
            <a:r>
              <a:rPr lang="en-US" dirty="0" err="1"/>
              <a:t>harga</a:t>
            </a:r>
            <a:r>
              <a:rPr lang="en-US" dirty="0"/>
              <a:t> </a:t>
            </a:r>
            <a:r>
              <a:rPr lang="en-US" dirty="0" err="1"/>
              <a:t>tiket</a:t>
            </a:r>
            <a:r>
              <a:rPr lang="en-US" dirty="0"/>
              <a:t> etc.</a:t>
            </a:r>
          </a:p>
          <a:p>
            <a:pPr marL="0" indent="0">
              <a:buNone/>
            </a:pPr>
            <a:r>
              <a:rPr lang="en-US" dirty="0"/>
              <a:t>Guru </a:t>
            </a:r>
            <a:r>
              <a:rPr lang="en-US" dirty="0" err="1"/>
              <a:t>akan</a:t>
            </a:r>
            <a:r>
              <a:rPr lang="en-US" dirty="0"/>
              <a:t> </a:t>
            </a:r>
            <a:r>
              <a:rPr lang="en-US" dirty="0" err="1"/>
              <a:t>jadi</a:t>
            </a:r>
            <a:r>
              <a:rPr lang="en-US" dirty="0"/>
              <a:t> </a:t>
            </a:r>
            <a:r>
              <a:rPr lang="en-US" dirty="0" err="1"/>
              <a:t>sopir</a:t>
            </a:r>
            <a:r>
              <a:rPr lang="en-US" dirty="0"/>
              <a:t> /  </a:t>
            </a:r>
            <a:r>
              <a:rPr lang="en-US" dirty="0" err="1"/>
              <a:t>petugas</a:t>
            </a:r>
            <a:r>
              <a:rPr lang="en-US" dirty="0"/>
              <a:t> </a:t>
            </a:r>
            <a:r>
              <a:rPr lang="en-US" dirty="0" err="1"/>
              <a:t>transportasi</a:t>
            </a:r>
            <a:r>
              <a:rPr lang="en-US" dirty="0"/>
              <a:t> </a:t>
            </a:r>
            <a:r>
              <a:rPr lang="en-US" dirty="0" err="1"/>
              <a:t>umum</a:t>
            </a:r>
            <a:r>
              <a:rPr lang="en-US" dirty="0"/>
              <a:t>.</a:t>
            </a:r>
          </a:p>
          <a:p>
            <a:pPr marL="0" indent="0">
              <a:buNone/>
            </a:pPr>
            <a:endParaRPr lang="en-ID" dirty="0"/>
          </a:p>
          <a:p>
            <a:pPr marL="0" indent="0">
              <a:buNone/>
            </a:pPr>
            <a:r>
              <a:rPr lang="en-US" i="1" dirty="0"/>
              <a:t>You want to go by public </a:t>
            </a:r>
            <a:r>
              <a:rPr lang="en-US" i="1" dirty="0" err="1"/>
              <a:t>transportation.You</a:t>
            </a:r>
            <a:r>
              <a:rPr lang="en-US" i="1" dirty="0"/>
              <a:t> should be able to talk about destinations and ticket prices </a:t>
            </a:r>
            <a:r>
              <a:rPr lang="en-US" i="1" dirty="0" err="1"/>
              <a:t>etc.The</a:t>
            </a:r>
            <a:r>
              <a:rPr lang="en-US" i="1" dirty="0"/>
              <a:t> teacher will be a driver / public transportation officer.</a:t>
            </a:r>
            <a:endParaRPr lang="en-ID" i="1" dirty="0"/>
          </a:p>
        </p:txBody>
      </p:sp>
    </p:spTree>
    <p:extLst>
      <p:ext uri="{BB962C8B-B14F-4D97-AF65-F5344CB8AC3E}">
        <p14:creationId xmlns:p14="http://schemas.microsoft.com/office/powerpoint/2010/main" val="27345841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382</TotalTime>
  <Words>926</Words>
  <Application>Microsoft Office PowerPoint</Application>
  <PresentationFormat>Widescreen</PresentationFormat>
  <Paragraphs>132</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Adobe Gothic Std B</vt:lpstr>
      <vt:lpstr>Adobe Arabic</vt:lpstr>
      <vt:lpstr>Arial</vt:lpstr>
      <vt:lpstr>Calibri</vt:lpstr>
      <vt:lpstr>Calibri Light</vt:lpstr>
      <vt:lpstr>Office Theme</vt:lpstr>
      <vt:lpstr>Transportasi BIPA 1</vt:lpstr>
      <vt:lpstr>PowerPoint Presentation</vt:lpstr>
      <vt:lpstr>PowerPoint Presentation</vt:lpstr>
      <vt:lpstr>Saya pergi ke Bandung naik bus Adila pergi ke Italia naik pesawat Zaw pergi naik mobil selama 3 jam Harga tiket kereta api 400 usd Mamadou naik sepeda motor dari Jakarta ke Bandung Laure pergi naik pesawat dari pukul 08.00 pagi  buat 3 kalimat tentang transportasi!</vt:lpstr>
      <vt:lpstr>Kosakata tentang transportasi</vt:lpstr>
      <vt:lpstr>1. Ke mana Adila pergi kerja setiap hari? 2. Apa kendaraan yang Adila naik setiap hari untuk ke kerja? 3. Berapa lama perjalanan Adila dari Jakarta ke Bogor? 4. Mengapa Adila suka naik bus? 5. Apa yang Adila lakukan saat akhir pekan? </vt:lpstr>
      <vt:lpstr>Menaiki, mengendarai dan menyetir</vt:lpstr>
      <vt:lpstr>Konsep “masa depan” (future tense)</vt:lpstr>
      <vt:lpstr>Konsep “masa depan” (future tense)</vt:lpstr>
      <vt:lpstr>Kosakata tentang tempat publik</vt:lpstr>
      <vt:lpstr>Praktik menulis dan bicara</vt:lpstr>
      <vt:lpstr>Praktik bicara</vt:lpstr>
      <vt:lpstr>Praktik menulis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Transportasi BIPA 1</dc:title>
  <dc:creator>DELL</dc:creator>
  <cp:lastModifiedBy>DELL</cp:lastModifiedBy>
  <cp:revision>5</cp:revision>
  <dcterms:created xsi:type="dcterms:W3CDTF">2025-06-17T04:30:45Z</dcterms:created>
  <dcterms:modified xsi:type="dcterms:W3CDTF">2025-11-04T16:38:21Z</dcterms:modified>
</cp:coreProperties>
</file>