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6" r:id="rId3"/>
    <p:sldId id="267" r:id="rId4"/>
    <p:sldId id="259" r:id="rId5"/>
    <p:sldId id="268" r:id="rId6"/>
    <p:sldId id="278" r:id="rId7"/>
    <p:sldId id="279" r:id="rId8"/>
    <p:sldId id="271" r:id="rId9"/>
    <p:sldId id="281" r:id="rId10"/>
    <p:sldId id="260" r:id="rId11"/>
    <p:sldId id="277" r:id="rId12"/>
    <p:sldId id="282" r:id="rId13"/>
    <p:sldId id="283" r:id="rId14"/>
    <p:sldId id="482" r:id="rId15"/>
    <p:sldId id="265" r:id="rId16"/>
    <p:sldId id="261" r:id="rId17"/>
    <p:sldId id="262" r:id="rId18"/>
    <p:sldId id="263" r:id="rId19"/>
    <p:sldId id="264" r:id="rId20"/>
    <p:sldId id="483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9" autoAdjust="0"/>
    <p:restoredTop sz="94660"/>
  </p:normalViewPr>
  <p:slideViewPr>
    <p:cSldViewPr snapToGrid="0">
      <p:cViewPr varScale="1">
        <p:scale>
          <a:sx n="81" d="100"/>
          <a:sy n="81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C6C9F-3A28-4FF8-8C2B-3217AFB0C72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E8FC-4056-4195-9CD1-0C99CBE49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54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0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5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cip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5B73CD6-4AD9-41DA-9481-BA512E885F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128" y="457200"/>
            <a:ext cx="6858000" cy="609411"/>
          </a:xfrm>
          <a:prstGeom prst="rect">
            <a:avLst/>
          </a:prstGeom>
        </p:spPr>
        <p:txBody>
          <a:bodyPr lIns="91440" tIns="0" bIns="0" anchor="t" anchorCtr="0">
            <a:noAutofit/>
          </a:bodyPr>
          <a:lstStyle>
            <a:lvl1pPr>
              <a:lnSpc>
                <a:spcPct val="90000"/>
              </a:lnSpc>
              <a:defRPr sz="3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41F7CAD-B5BC-36F0-94FE-05FCE6E68801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453127" y="1234440"/>
            <a:ext cx="6857999" cy="365760"/>
          </a:xfrm>
        </p:spPr>
        <p:txBody>
          <a:bodyPr>
            <a:noAutofit/>
          </a:bodyPr>
          <a:lstStyle>
            <a:lvl1pPr marL="0" indent="0" algn="l">
              <a:buNone/>
              <a:defRPr sz="1100" b="1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E2097EA0-E1A4-437B-A23F-488927B95F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3971109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Add a picture 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86B12DA-FA09-A9F6-13EE-795F5152B5B7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4453128" y="1828800"/>
            <a:ext cx="3291840" cy="365760"/>
          </a:xfrm>
        </p:spPr>
        <p:txBody>
          <a:bodyPr>
            <a:noAutofit/>
          </a:bodyPr>
          <a:lstStyle>
            <a:lvl1pPr marL="0" indent="0" algn="l">
              <a:buNone/>
              <a:defRPr sz="1400" b="1" i="0" cap="all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360E21A-8528-AA7D-38F2-EF7EFC92CF3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453128" y="2194559"/>
            <a:ext cx="3291840" cy="2000923"/>
          </a:xfrm>
        </p:spPr>
        <p:txBody>
          <a:bodyPr numCol="1">
            <a:noAutofit/>
          </a:bodyPr>
          <a:lstStyle>
            <a:lvl1pPr marL="228600" indent="-228600" hangingPunct="0">
              <a:lnSpc>
                <a:spcPts val="14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112713" algn="r"/>
                <a:tab pos="233363" algn="l"/>
              </a:tabLst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EF397C28-0C1D-A853-FDE9-F0E8F3CE6A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53127" y="4447715"/>
            <a:ext cx="2382677" cy="1373775"/>
          </a:xfrm>
          <a:noFill/>
          <a:ln w="25400">
            <a:solidFill>
              <a:schemeClr val="bg2"/>
            </a:solidFill>
          </a:ln>
        </p:spPr>
        <p:txBody>
          <a:bodyPr lIns="182880" tIns="137160" rIns="182880" bIns="18288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FF0A15-82B0-95DF-9F8F-19D2C68E1C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36228" y="4831975"/>
            <a:ext cx="2214282" cy="913533"/>
          </a:xfr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D873DCFF-5889-873A-FEF4-22E59DC2469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8001000" y="1828800"/>
            <a:ext cx="3291840" cy="365760"/>
          </a:xfrm>
        </p:spPr>
        <p:txBody>
          <a:bodyPr>
            <a:noAutofit/>
          </a:bodyPr>
          <a:lstStyle>
            <a:lvl1pPr marL="0" indent="0" algn="l">
              <a:buNone/>
              <a:defRPr sz="1400" b="1" i="0" cap="all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FAC96DB-FC65-87E4-1980-B1FF3C628DB0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001000" y="2194559"/>
            <a:ext cx="3291840" cy="3550949"/>
          </a:xfrm>
        </p:spPr>
        <p:txBody>
          <a:bodyPr numCol="1">
            <a:noAutofit/>
          </a:bodyPr>
          <a:lstStyle>
            <a:lvl1pPr marL="0" indent="0">
              <a:spcBef>
                <a:spcPts val="600"/>
              </a:spcBef>
              <a:spcAft>
                <a:spcPts val="1000"/>
              </a:spcAft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39717C9F-E573-041C-8212-A9E04D40638D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4453127" y="6061039"/>
            <a:ext cx="6821425" cy="385480"/>
          </a:xfrm>
        </p:spPr>
        <p:txBody>
          <a:bodyPr bIns="0" numCol="1" anchor="t" anchorCtr="0">
            <a:no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B87CD47-95A7-4ABC-AD12-8F916194D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061039"/>
            <a:ext cx="457200" cy="38548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ts val="1680"/>
              </a:lnSpc>
              <a:defRPr sz="1600" b="1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745CA84A-544F-4B6B-BC9A-925394EE73B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1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99FAB-39A5-4CB5-B632-5ACE842B4E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9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4" name="Picture 12" descr="Most Popular Indonesian Food">
            <a:extLst>
              <a:ext uri="{FF2B5EF4-FFF2-40B4-BE49-F238E27FC236}">
                <a16:creationId xmlns:a16="http://schemas.microsoft.com/office/drawing/2014/main" id="{E7D24BD4-13E0-461D-A89E-1E92226004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90" b="11958"/>
          <a:stretch/>
        </p:blipFill>
        <p:spPr bwMode="auto">
          <a:xfrm>
            <a:off x="0" y="6096"/>
            <a:ext cx="12192000" cy="685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490515-922F-4D51-9F42-CFB5A77A7F75}"/>
              </a:ext>
            </a:extLst>
          </p:cNvPr>
          <p:cNvSpPr txBox="1"/>
          <p:nvPr/>
        </p:nvSpPr>
        <p:spPr>
          <a:xfrm>
            <a:off x="0" y="1146048"/>
            <a:ext cx="12192000" cy="1107996"/>
          </a:xfrm>
          <a:prstGeom prst="rect">
            <a:avLst/>
          </a:prstGeom>
          <a:solidFill>
            <a:srgbClr val="FFD6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BIPA 2 : </a:t>
            </a:r>
            <a:r>
              <a:rPr lang="en-US" sz="6600" b="1" dirty="0" err="1"/>
              <a:t>Makanan</a:t>
            </a:r>
            <a:endParaRPr lang="en-ID" sz="6600" b="1" dirty="0"/>
          </a:p>
        </p:txBody>
      </p:sp>
    </p:spTree>
    <p:extLst>
      <p:ext uri="{BB962C8B-B14F-4D97-AF65-F5344CB8AC3E}">
        <p14:creationId xmlns:p14="http://schemas.microsoft.com/office/powerpoint/2010/main" val="136080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20" y="337857"/>
            <a:ext cx="2770674" cy="20661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20" y="2574639"/>
            <a:ext cx="2770674" cy="19801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294" y="2574638"/>
            <a:ext cx="2820656" cy="19801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850" y="2574639"/>
            <a:ext cx="3446151" cy="34461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850" y="337856"/>
            <a:ext cx="2752682" cy="20661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3940" y="4862202"/>
            <a:ext cx="79325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nama</a:t>
            </a:r>
            <a:r>
              <a:rPr lang="en-US" sz="3200" dirty="0"/>
              <a:t> </a:t>
            </a:r>
            <a:r>
              <a:rPr lang="en-US" sz="3200" dirty="0" err="1"/>
              <a:t>makanan</a:t>
            </a:r>
            <a:r>
              <a:rPr lang="en-US" sz="3200" dirty="0"/>
              <a:t> ini? </a:t>
            </a:r>
            <a:r>
              <a:rPr lang="en-US" sz="3200" i="1" dirty="0"/>
              <a:t>Ini Namanya ..</a:t>
            </a:r>
          </a:p>
          <a:p>
            <a:pPr marL="342900" indent="-342900">
              <a:buAutoNum type="arabicPeriod"/>
            </a:pPr>
            <a:r>
              <a:rPr lang="en-US" sz="3200" dirty="0" err="1"/>
              <a:t>Apakah</a:t>
            </a:r>
            <a:r>
              <a:rPr lang="en-US" sz="3200" dirty="0"/>
              <a:t> Anda </a:t>
            </a:r>
            <a:r>
              <a:rPr lang="en-US" sz="3200" dirty="0" err="1"/>
              <a:t>pernah</a:t>
            </a:r>
            <a:r>
              <a:rPr lang="en-US" sz="3200" dirty="0"/>
              <a:t> </a:t>
            </a:r>
            <a:r>
              <a:rPr lang="en-US" sz="3200" dirty="0" err="1"/>
              <a:t>makan</a:t>
            </a:r>
            <a:r>
              <a:rPr lang="en-US" sz="3200" dirty="0"/>
              <a:t> ini? </a:t>
            </a:r>
            <a:r>
              <a:rPr lang="en-US" sz="3200" i="1" dirty="0" err="1"/>
              <a:t>Ya</a:t>
            </a:r>
            <a:r>
              <a:rPr lang="en-US" sz="3200" i="1" dirty="0"/>
              <a:t>/</a:t>
            </a:r>
            <a:r>
              <a:rPr lang="en-US" sz="3200" i="1" dirty="0" err="1"/>
              <a:t>tidak</a:t>
            </a:r>
            <a:endParaRPr lang="en-US" sz="3200" i="1" dirty="0"/>
          </a:p>
          <a:p>
            <a:pPr marL="342900" indent="-342900">
              <a:buAutoNum type="arabicPeriod"/>
            </a:pPr>
            <a:r>
              <a:rPr lang="en-US" sz="3200" dirty="0"/>
              <a:t>Dari </a:t>
            </a: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makanan</a:t>
            </a:r>
            <a:r>
              <a:rPr lang="en-US" sz="3200" dirty="0"/>
              <a:t> ini? </a:t>
            </a:r>
            <a:r>
              <a:rPr lang="en-US" sz="3200" i="1" dirty="0"/>
              <a:t>Ini </a:t>
            </a:r>
            <a:r>
              <a:rPr lang="en-US" sz="3200" i="1" dirty="0" err="1"/>
              <a:t>terbuat</a:t>
            </a:r>
            <a:r>
              <a:rPr lang="en-US" sz="3200" i="1" dirty="0"/>
              <a:t> </a:t>
            </a:r>
            <a:r>
              <a:rPr lang="en-US" sz="3200" i="1" dirty="0" err="1"/>
              <a:t>dari</a:t>
            </a:r>
            <a:r>
              <a:rPr lang="en-US" sz="3200" i="1" dirty="0"/>
              <a:t> ….</a:t>
            </a:r>
          </a:p>
          <a:p>
            <a:r>
              <a:rPr lang="en-US" dirty="0"/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294" y="337855"/>
            <a:ext cx="2820656" cy="192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90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5"/>
          <a:stretch/>
        </p:blipFill>
        <p:spPr>
          <a:xfrm>
            <a:off x="5370490" y="1442434"/>
            <a:ext cx="6821509" cy="54155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488"/>
            <a:ext cx="10515600" cy="922763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Kosakata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tentang</a:t>
            </a:r>
            <a:r>
              <a:rPr lang="en-US" dirty="0">
                <a:latin typeface="Arial Rounded MT Bold" panose="020F0704030504030204" pitchFamily="34" charset="0"/>
              </a:rPr>
              <a:t> rasa: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07" y="1442434"/>
            <a:ext cx="6992156" cy="529321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Manis : sweet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Asin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: salty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Asam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: sour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Pahit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: bitter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Pedas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hot / spicy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Tawar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plain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Lezat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delicious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gurih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: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Savoury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u="sng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72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5"/>
          <a:stretch/>
        </p:blipFill>
        <p:spPr>
          <a:xfrm>
            <a:off x="5593976" y="1442434"/>
            <a:ext cx="6598023" cy="54155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488"/>
            <a:ext cx="10515600" cy="922763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Kosakata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tentang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makanan</a:t>
            </a:r>
            <a:r>
              <a:rPr lang="en-US" dirty="0">
                <a:latin typeface="Arial Rounded MT Bold" panose="020F0704030504030204" pitchFamily="34" charset="0"/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07" y="1442434"/>
            <a:ext cx="6992156" cy="529321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Makan</a:t>
            </a:r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(eat)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Minum</a:t>
            </a:r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(drink)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jajan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</a:t>
            </a:r>
            <a:r>
              <a:rPr lang="en-US" i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snacking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Camilan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</a:t>
            </a:r>
            <a:r>
              <a:rPr lang="en-US" i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snack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Lahap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bernafsu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sekali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ketika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makan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Doyan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suka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sekali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Rakus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suka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makan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banyak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Lapar</a:t>
            </a:r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</a:t>
            </a:r>
            <a:r>
              <a:rPr lang="en-US" b="1" i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hungry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Haus</a:t>
            </a:r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</a:t>
            </a:r>
            <a:r>
              <a:rPr lang="en-US" b="1" i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thirsty</a:t>
            </a:r>
          </a:p>
          <a:p>
            <a:pPr marL="0" indent="0">
              <a:lnSpc>
                <a:spcPct val="150000"/>
              </a:lnSpc>
              <a:buNone/>
            </a:pPr>
            <a:endParaRPr lang="en-US" u="sng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31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488"/>
            <a:ext cx="10515600" cy="922763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Beda “</a:t>
            </a:r>
            <a:r>
              <a:rPr lang="en-US" dirty="0" err="1">
                <a:latin typeface="Arial Rounded MT Bold" panose="020F0704030504030204" pitchFamily="34" charset="0"/>
              </a:rPr>
              <a:t>lezat</a:t>
            </a:r>
            <a:r>
              <a:rPr lang="en-US" dirty="0">
                <a:latin typeface="Arial Rounded MT Bold" panose="020F0704030504030204" pitchFamily="34" charset="0"/>
              </a:rPr>
              <a:t>” </a:t>
            </a:r>
            <a:r>
              <a:rPr lang="en-US" dirty="0" err="1">
                <a:latin typeface="Arial Rounded MT Bold" panose="020F0704030504030204" pitchFamily="34" charset="0"/>
              </a:rPr>
              <a:t>dan</a:t>
            </a:r>
            <a:r>
              <a:rPr lang="en-US" dirty="0">
                <a:latin typeface="Arial Rounded MT Bold" panose="020F0704030504030204" pitchFamily="34" charset="0"/>
              </a:rPr>
              <a:t> “</a:t>
            </a:r>
            <a:r>
              <a:rPr lang="en-US" dirty="0" err="1">
                <a:latin typeface="Arial Rounded MT Bold" panose="020F0704030504030204" pitchFamily="34" charset="0"/>
              </a:rPr>
              <a:t>nikmat</a:t>
            </a:r>
            <a:r>
              <a:rPr lang="en-US" dirty="0">
                <a:latin typeface="Arial Rounded MT Bold" panose="020F0704030504030204" pitchFamily="34" charset="0"/>
              </a:rPr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07" y="1442434"/>
            <a:ext cx="8562710" cy="52932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Enak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adalah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rasa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umum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(general/universal)</a:t>
            </a:r>
          </a:p>
          <a:p>
            <a:pPr marL="0" indent="0">
              <a:lnSpc>
                <a:spcPct val="150000"/>
              </a:lnSpc>
              <a:buNone/>
            </a:pPr>
            <a:endParaRPr lang="en-US" u="sng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Lezat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adalah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rasa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enak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untuk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makanan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atau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sesuatu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di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mulut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. (specifically for food)</a:t>
            </a:r>
          </a:p>
          <a:p>
            <a:pPr marL="0" indent="0">
              <a:lnSpc>
                <a:spcPct val="150000"/>
              </a:lnSpc>
              <a:buNone/>
            </a:pPr>
            <a:endParaRPr lang="en-US" u="sng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Nikmat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untuk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perasaan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,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jiwa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atau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rasa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enak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di </a:t>
            </a:r>
            <a:r>
              <a:rPr lang="en-US" u="sng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tubuh</a:t>
            </a:r>
            <a:r>
              <a:rPr lang="en-US" u="sng" dirty="0">
                <a:solidFill>
                  <a:srgbClr val="FF0000"/>
                </a:solidFill>
                <a:latin typeface="Arial Rounded MT Bold" panose="020F0704030504030204" pitchFamily="34" charset="0"/>
              </a:rPr>
              <a:t>. (good for feeling)</a:t>
            </a:r>
          </a:p>
        </p:txBody>
      </p:sp>
    </p:spTree>
    <p:extLst>
      <p:ext uri="{BB962C8B-B14F-4D97-AF65-F5344CB8AC3E}">
        <p14:creationId xmlns:p14="http://schemas.microsoft.com/office/powerpoint/2010/main" val="40876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355A-0099-4C2A-8C21-D97BA1B40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03"/>
            <a:ext cx="10515600" cy="966293"/>
          </a:xfrm>
        </p:spPr>
        <p:txBody>
          <a:bodyPr/>
          <a:lstStyle/>
          <a:p>
            <a:pPr algn="ctr"/>
            <a:r>
              <a:rPr lang="en-US" b="1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Menu </a:t>
            </a:r>
            <a:r>
              <a:rPr lang="en-US" b="1" dirty="0" err="1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Warung</a:t>
            </a:r>
            <a:r>
              <a:rPr lang="en-US" b="1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Indonesia</a:t>
            </a:r>
            <a:endParaRPr lang="en-ID" b="1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8AA64E5-60AD-457D-A0C7-1292F1CA1D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83499"/>
              </p:ext>
            </p:extLst>
          </p:nvPr>
        </p:nvGraphicFramePr>
        <p:xfrm>
          <a:off x="576946" y="1061295"/>
          <a:ext cx="10930244" cy="53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7132">
                  <a:extLst>
                    <a:ext uri="{9D8B030D-6E8A-4147-A177-3AD203B41FA5}">
                      <a16:colId xmlns:a16="http://schemas.microsoft.com/office/drawing/2014/main" val="795672627"/>
                    </a:ext>
                  </a:extLst>
                </a:gridCol>
                <a:gridCol w="2683112">
                  <a:extLst>
                    <a:ext uri="{9D8B030D-6E8A-4147-A177-3AD203B41FA5}">
                      <a16:colId xmlns:a16="http://schemas.microsoft.com/office/drawing/2014/main" val="315418945"/>
                    </a:ext>
                  </a:extLst>
                </a:gridCol>
              </a:tblGrid>
              <a:tr h="382280">
                <a:tc>
                  <a:txBody>
                    <a:bodyPr/>
                    <a:lstStyle/>
                    <a:p>
                      <a:r>
                        <a:rPr lang="en-US" dirty="0"/>
                        <a:t>Menu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Harga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565408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/>
                        <a:t>Nasi goreng Nusantara </a:t>
                      </a:r>
                      <a:r>
                        <a:rPr lang="en-US" dirty="0"/>
                        <a:t>(bisa </a:t>
                      </a:r>
                      <a:r>
                        <a:rPr lang="en-US" dirty="0" err="1"/>
                        <a:t>pedas</a:t>
                      </a:r>
                      <a:r>
                        <a:rPr lang="en-US" dirty="0"/>
                        <a:t>/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)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Rp.25.000 per </a:t>
                      </a:r>
                      <a:r>
                        <a:rPr lang="en-US" dirty="0" err="1"/>
                        <a:t>porsi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919874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 err="1"/>
                        <a:t>Bakso</a:t>
                      </a:r>
                      <a:r>
                        <a:rPr lang="en-US" dirty="0"/>
                        <a:t> (bisa </a:t>
                      </a:r>
                      <a:r>
                        <a:rPr lang="en-US" dirty="0" err="1"/>
                        <a:t>pedas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)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Rp.20.000 per </a:t>
                      </a:r>
                      <a:r>
                        <a:rPr lang="en-US" dirty="0" err="1"/>
                        <a:t>porsi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85648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/>
                        <a:t>Sate </a:t>
                      </a:r>
                      <a:r>
                        <a:rPr lang="en-US" b="1" dirty="0" err="1"/>
                        <a:t>ayam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(bisa </a:t>
                      </a:r>
                      <a:r>
                        <a:rPr lang="en-US" dirty="0" err="1"/>
                        <a:t>bungkus</a:t>
                      </a:r>
                      <a:r>
                        <a:rPr lang="en-US" dirty="0"/>
                        <a:t> untuk </a:t>
                      </a:r>
                      <a:r>
                        <a:rPr lang="en-US" dirty="0" err="1"/>
                        <a:t>keluarga</a:t>
                      </a:r>
                      <a:r>
                        <a:rPr lang="en-US" dirty="0"/>
                        <a:t>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Rp.30.000 per </a:t>
                      </a:r>
                      <a:r>
                        <a:rPr lang="en-US" dirty="0" err="1"/>
                        <a:t>porsi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791363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/>
                        <a:t>Soto </a:t>
                      </a:r>
                      <a:r>
                        <a:rPr lang="en-US" b="1" dirty="0" err="1"/>
                        <a:t>ayam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(bisa dengan nasi/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Rp.25.000 per </a:t>
                      </a:r>
                      <a:r>
                        <a:rPr lang="en-US" dirty="0" err="1"/>
                        <a:t>porsi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648868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 err="1"/>
                        <a:t>Ayam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bakar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(menu paling </a:t>
                      </a:r>
                      <a:r>
                        <a:rPr lang="en-US" dirty="0" err="1"/>
                        <a:t>enak</a:t>
                      </a:r>
                      <a:r>
                        <a:rPr lang="en-US" dirty="0"/>
                        <a:t> di </a:t>
                      </a:r>
                      <a:r>
                        <a:rPr lang="en-US" dirty="0" err="1"/>
                        <a:t>sini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coba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aja</a:t>
                      </a:r>
                      <a:r>
                        <a:rPr lang="en-US" dirty="0"/>
                        <a:t>! 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Rp.85.000 per </a:t>
                      </a:r>
                      <a:r>
                        <a:rPr lang="en-US" dirty="0" err="1"/>
                        <a:t>ekor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444557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 err="1"/>
                        <a:t>Ayam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geprek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pedas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banget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awas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kebakaran</a:t>
                      </a:r>
                      <a:r>
                        <a:rPr lang="en-US" dirty="0"/>
                        <a:t>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Rp.15.000 per </a:t>
                      </a:r>
                      <a:r>
                        <a:rPr lang="en-US" dirty="0" err="1"/>
                        <a:t>porsi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393003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 err="1"/>
                        <a:t>Kue</a:t>
                      </a:r>
                      <a:r>
                        <a:rPr lang="en-US" b="1" dirty="0"/>
                        <a:t> pukis 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manis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imut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lucu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seperti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kamu</a:t>
                      </a:r>
                      <a:r>
                        <a:rPr lang="en-US" dirty="0"/>
                        <a:t>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Rp.17.000 per </a:t>
                      </a:r>
                      <a:r>
                        <a:rPr lang="en-US" dirty="0" err="1"/>
                        <a:t>porsi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062141"/>
                  </a:ext>
                </a:extLst>
              </a:tr>
              <a:tr h="345587">
                <a:tc>
                  <a:txBody>
                    <a:bodyPr/>
                    <a:lstStyle/>
                    <a:p>
                      <a:r>
                        <a:rPr lang="en-US" b="1" dirty="0" err="1"/>
                        <a:t>Martabak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manis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(untuk </a:t>
                      </a:r>
                      <a:r>
                        <a:rPr lang="en-US" dirty="0" err="1"/>
                        <a:t>makan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bersama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teman</a:t>
                      </a:r>
                      <a:r>
                        <a:rPr lang="en-US" dirty="0"/>
                        <a:t>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Rp.50.000 Per </a:t>
                      </a:r>
                      <a:r>
                        <a:rPr lang="en-US" dirty="0" err="1"/>
                        <a:t>porsi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301657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 err="1"/>
                        <a:t>Teh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manis</a:t>
                      </a:r>
                      <a:r>
                        <a:rPr lang="en-US" b="1" dirty="0"/>
                        <a:t> </a:t>
                      </a:r>
                      <a:r>
                        <a:rPr lang="en-US" b="0" dirty="0"/>
                        <a:t>(bisa </a:t>
                      </a:r>
                      <a:r>
                        <a:rPr lang="en-US" b="0" dirty="0" err="1"/>
                        <a:t>panas</a:t>
                      </a:r>
                      <a:r>
                        <a:rPr lang="en-US" b="0" dirty="0"/>
                        <a:t> / </a:t>
                      </a:r>
                      <a:r>
                        <a:rPr lang="en-US" b="0" dirty="0" err="1"/>
                        <a:t>dingin</a:t>
                      </a:r>
                      <a:r>
                        <a:rPr lang="en-US" b="0" dirty="0"/>
                        <a:t>)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Rp.8000 per </a:t>
                      </a:r>
                      <a:r>
                        <a:rPr lang="en-US" dirty="0" err="1"/>
                        <a:t>gelas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823563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/>
                        <a:t>Es </a:t>
                      </a:r>
                      <a:r>
                        <a:rPr lang="en-US" b="1" dirty="0" err="1"/>
                        <a:t>kelapa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muda</a:t>
                      </a:r>
                      <a:r>
                        <a:rPr lang="en-US" b="1" dirty="0"/>
                        <a:t> 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Rp.25.000 per </a:t>
                      </a:r>
                      <a:r>
                        <a:rPr lang="en-US" dirty="0" err="1"/>
                        <a:t>butir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49385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 err="1"/>
                        <a:t>Jahe</a:t>
                      </a:r>
                      <a:r>
                        <a:rPr lang="en-US" b="1" dirty="0"/>
                        <a:t> susu </a:t>
                      </a:r>
                      <a:r>
                        <a:rPr lang="en-US" b="0" dirty="0"/>
                        <a:t>(</a:t>
                      </a:r>
                      <a:r>
                        <a:rPr lang="en-US" b="0" dirty="0" err="1"/>
                        <a:t>bagus</a:t>
                      </a:r>
                      <a:r>
                        <a:rPr lang="en-US" b="0" dirty="0"/>
                        <a:t> </a:t>
                      </a:r>
                      <a:r>
                        <a:rPr lang="en-US" b="0" dirty="0" err="1"/>
                        <a:t>saat</a:t>
                      </a:r>
                      <a:r>
                        <a:rPr lang="en-US" b="0" dirty="0"/>
                        <a:t> </a:t>
                      </a:r>
                      <a:r>
                        <a:rPr lang="en-US" b="0" dirty="0" err="1"/>
                        <a:t>hujan</a:t>
                      </a:r>
                      <a:r>
                        <a:rPr lang="en-US" b="0" dirty="0"/>
                        <a:t>)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Rp.15.000 per </a:t>
                      </a:r>
                      <a:r>
                        <a:rPr lang="en-US" dirty="0" err="1"/>
                        <a:t>gelas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449632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/>
                        <a:t>Kopi </a:t>
                      </a:r>
                      <a:r>
                        <a:rPr lang="en-US" b="1" dirty="0" err="1"/>
                        <a:t>luwak</a:t>
                      </a:r>
                      <a:r>
                        <a:rPr lang="en-US" b="1" dirty="0"/>
                        <a:t> </a:t>
                      </a:r>
                      <a:r>
                        <a:rPr lang="en-US" b="0" dirty="0"/>
                        <a:t>(</a:t>
                      </a:r>
                      <a:r>
                        <a:rPr lang="en-US" b="0" dirty="0" err="1"/>
                        <a:t>minuman</a:t>
                      </a:r>
                      <a:r>
                        <a:rPr lang="en-US" b="0" dirty="0"/>
                        <a:t> </a:t>
                      </a:r>
                      <a:r>
                        <a:rPr lang="en-US" b="0" dirty="0" err="1"/>
                        <a:t>terbaik</a:t>
                      </a:r>
                      <a:r>
                        <a:rPr lang="en-US" b="0" dirty="0"/>
                        <a:t> </a:t>
                      </a:r>
                      <a:r>
                        <a:rPr lang="en-US" b="0" dirty="0" err="1"/>
                        <a:t>disini</a:t>
                      </a:r>
                      <a:r>
                        <a:rPr lang="en-US" b="0" dirty="0"/>
                        <a:t>)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Rp.70.000 per </a:t>
                      </a:r>
                      <a:r>
                        <a:rPr lang="en-US" dirty="0" err="1"/>
                        <a:t>gelas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12867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US" b="1" dirty="0"/>
                        <a:t>Es </a:t>
                      </a:r>
                      <a:r>
                        <a:rPr lang="en-US" b="1" dirty="0" err="1"/>
                        <a:t>campur</a:t>
                      </a:r>
                      <a:r>
                        <a:rPr lang="en-US" b="1" dirty="0"/>
                        <a:t> </a:t>
                      </a:r>
                      <a:r>
                        <a:rPr lang="en-US" b="0" dirty="0"/>
                        <a:t>(paling </a:t>
                      </a:r>
                      <a:r>
                        <a:rPr lang="en-US" b="0" dirty="0" err="1"/>
                        <a:t>segar</a:t>
                      </a:r>
                      <a:r>
                        <a:rPr lang="en-US" b="0" dirty="0"/>
                        <a:t> untuk </a:t>
                      </a:r>
                      <a:r>
                        <a:rPr lang="en-US" b="0" dirty="0" err="1"/>
                        <a:t>cuaca</a:t>
                      </a:r>
                      <a:r>
                        <a:rPr lang="en-US" b="0" dirty="0"/>
                        <a:t> </a:t>
                      </a:r>
                      <a:r>
                        <a:rPr lang="en-US" b="0" dirty="0" err="1"/>
                        <a:t>panas</a:t>
                      </a:r>
                      <a:r>
                        <a:rPr lang="en-US" b="0" dirty="0"/>
                        <a:t>)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Rp.20.000 per </a:t>
                      </a:r>
                      <a:r>
                        <a:rPr lang="en-US" dirty="0" err="1"/>
                        <a:t>porsi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9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061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355A-0099-4C2A-8C21-D97BA1B40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03"/>
            <a:ext cx="10515600" cy="966293"/>
          </a:xfrm>
        </p:spPr>
        <p:txBody>
          <a:bodyPr/>
          <a:lstStyle/>
          <a:p>
            <a:pPr algn="ctr"/>
            <a:r>
              <a:rPr lang="en-US" b="1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Menu </a:t>
            </a:r>
            <a:r>
              <a:rPr lang="en-US" b="1" dirty="0" err="1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Warung</a:t>
            </a:r>
            <a:r>
              <a:rPr lang="en-US" b="1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Indonesia</a:t>
            </a:r>
            <a:endParaRPr lang="en-ID" b="1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671231-5F53-415C-A03E-21DD01E73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688"/>
            <a:ext cx="10515600" cy="552950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paling mahal?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termurah</a:t>
            </a:r>
            <a:r>
              <a:rPr lang="en-ID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minuman</a:t>
            </a:r>
            <a:r>
              <a:rPr lang="en-ID" dirty="0"/>
              <a:t> paling </a:t>
            </a:r>
            <a:r>
              <a:rPr lang="en-ID" dirty="0" err="1"/>
              <a:t>murah</a:t>
            </a:r>
            <a:r>
              <a:rPr lang="en-ID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minuman</a:t>
            </a:r>
            <a:r>
              <a:rPr lang="en-ID" dirty="0"/>
              <a:t> paling mahal?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paling </a:t>
            </a:r>
            <a:r>
              <a:rPr lang="en-ID" dirty="0" err="1"/>
              <a:t>pedas</a:t>
            </a:r>
            <a:r>
              <a:rPr lang="en-ID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paling </a:t>
            </a:r>
            <a:r>
              <a:rPr lang="en-ID" dirty="0" err="1"/>
              <a:t>manis</a:t>
            </a:r>
            <a:r>
              <a:rPr lang="en-ID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bungkus</a:t>
            </a:r>
            <a:r>
              <a:rPr lang="en-ID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nasi?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minuman</a:t>
            </a:r>
            <a:r>
              <a:rPr lang="en-ID" dirty="0"/>
              <a:t> </a:t>
            </a:r>
            <a:r>
              <a:rPr lang="en-ID" dirty="0" err="1"/>
              <a:t>hangat</a:t>
            </a:r>
            <a:r>
              <a:rPr lang="en-ID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minuman</a:t>
            </a:r>
            <a:r>
              <a:rPr lang="en-ID" dirty="0"/>
              <a:t> </a:t>
            </a:r>
            <a:r>
              <a:rPr lang="en-ID" dirty="0" err="1"/>
              <a:t>dingin</a:t>
            </a:r>
            <a:r>
              <a:rPr lang="en-ID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4731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488"/>
            <a:ext cx="10515600" cy="9227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 err="1">
                <a:latin typeface="Arial Rounded MT Bold" panose="020F0704030504030204" pitchFamily="34" charset="0"/>
              </a:rPr>
              <a:t>Kosakata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baru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06" y="1442434"/>
            <a:ext cx="11616241" cy="52932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u="sng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8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488"/>
            <a:ext cx="10515600" cy="9227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 err="1">
                <a:latin typeface="Arial Rounded MT Bold" panose="020F0704030504030204" pitchFamily="34" charset="0"/>
              </a:rPr>
              <a:t>Konsep</a:t>
            </a:r>
            <a:r>
              <a:rPr lang="en-US" dirty="0">
                <a:latin typeface="Arial Rounded MT Bold" panose="020F0704030504030204" pitchFamily="34" charset="0"/>
              </a:rPr>
              <a:t> superlative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879" y="1335556"/>
            <a:ext cx="11616241" cy="5293217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Paling</a:t>
            </a:r>
            <a:r>
              <a:rPr lang="en-US" altLang="en-US" sz="2000" dirty="0">
                <a:latin typeface="Arial" panose="020B0604020202020204" pitchFamily="34" charset="0"/>
              </a:rPr>
              <a:t>: Indicates the </a:t>
            </a:r>
            <a:r>
              <a:rPr lang="en-US" altLang="en-US" sz="2000" b="1" dirty="0">
                <a:latin typeface="Arial" panose="020B0604020202020204" pitchFamily="34" charset="0"/>
              </a:rPr>
              <a:t>superlative degree</a:t>
            </a:r>
            <a:r>
              <a:rPr lang="en-US" altLang="en-US" sz="2000" dirty="0">
                <a:latin typeface="Arial" panose="020B0604020202020204" pitchFamily="34" charset="0"/>
              </a:rPr>
              <a:t> ("the most") for the highest in a group. Used in comparisons, neutral tone.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"</a:t>
            </a:r>
            <a:r>
              <a:rPr lang="en-US" altLang="en-US" sz="2000" dirty="0" err="1">
                <a:latin typeface="Arial" panose="020B0604020202020204" pitchFamily="34" charset="0"/>
              </a:rPr>
              <a:t>Dia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latin typeface="Arial" panose="020B0604020202020204" pitchFamily="34" charset="0"/>
              </a:rPr>
              <a:t>paling </a:t>
            </a:r>
            <a:r>
              <a:rPr lang="en-US" altLang="en-US" sz="2000" b="1" dirty="0" err="1">
                <a:latin typeface="Arial" panose="020B0604020202020204" pitchFamily="34" charset="0"/>
              </a:rPr>
              <a:t>pintar</a:t>
            </a:r>
            <a:r>
              <a:rPr lang="en-US" altLang="en-US" sz="2000" dirty="0">
                <a:latin typeface="Arial" panose="020B0604020202020204" pitchFamily="34" charset="0"/>
              </a:rPr>
              <a:t>." → "He/she is </a:t>
            </a:r>
            <a:r>
              <a:rPr lang="en-US" altLang="en-US" sz="2000" b="1" dirty="0">
                <a:latin typeface="Arial" panose="020B0604020202020204" pitchFamily="34" charset="0"/>
              </a:rPr>
              <a:t>the smartest</a:t>
            </a:r>
            <a:r>
              <a:rPr lang="en-US" altLang="en-US" sz="2000" dirty="0">
                <a:latin typeface="Arial" panose="020B0604020202020204" pitchFamily="34" charset="0"/>
              </a:rPr>
              <a:t>."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Ter-</a:t>
            </a:r>
            <a:r>
              <a:rPr lang="en-US" altLang="en-US" sz="2000" dirty="0">
                <a:latin typeface="Arial" panose="020B0604020202020204" pitchFamily="34" charset="0"/>
              </a:rPr>
              <a:t>: Also a </a:t>
            </a:r>
            <a:r>
              <a:rPr lang="en-US" altLang="en-US" sz="2000" b="1" dirty="0">
                <a:latin typeface="Arial" panose="020B0604020202020204" pitchFamily="34" charset="0"/>
              </a:rPr>
              <a:t>superlative degree</a:t>
            </a:r>
            <a:r>
              <a:rPr lang="en-US" altLang="en-US" sz="2000" dirty="0">
                <a:latin typeface="Arial" panose="020B0604020202020204" pitchFamily="34" charset="0"/>
              </a:rPr>
              <a:t> prefix ("the -</a:t>
            </a:r>
            <a:r>
              <a:rPr lang="en-US" altLang="en-US" sz="2000" dirty="0" err="1">
                <a:latin typeface="Arial" panose="020B0604020202020204" pitchFamily="34" charset="0"/>
              </a:rPr>
              <a:t>est</a:t>
            </a:r>
            <a:r>
              <a:rPr lang="en-US" altLang="en-US" sz="2000" dirty="0">
                <a:latin typeface="Arial" panose="020B0604020202020204" pitchFamily="34" charset="0"/>
              </a:rPr>
              <a:t>"), more formal, attaches to adjectives.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"</a:t>
            </a:r>
            <a:r>
              <a:rPr lang="en-US" altLang="en-US" sz="2000" dirty="0" err="1">
                <a:latin typeface="Arial" panose="020B0604020202020204" pitchFamily="34" charset="0"/>
              </a:rPr>
              <a:t>Gunung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</a:rPr>
              <a:t>tertinggi</a:t>
            </a:r>
            <a:r>
              <a:rPr lang="en-US" altLang="en-US" sz="2000" dirty="0">
                <a:latin typeface="Arial" panose="020B0604020202020204" pitchFamily="34" charset="0"/>
              </a:rPr>
              <a:t>." → "The </a:t>
            </a:r>
            <a:r>
              <a:rPr lang="en-US" altLang="en-US" sz="2000" b="1" dirty="0">
                <a:latin typeface="Arial" panose="020B0604020202020204" pitchFamily="34" charset="0"/>
              </a:rPr>
              <a:t>highest</a:t>
            </a:r>
            <a:r>
              <a:rPr lang="en-US" altLang="en-US" sz="2000" dirty="0">
                <a:latin typeface="Arial" panose="020B0604020202020204" pitchFamily="34" charset="0"/>
              </a:rPr>
              <a:t> mountain."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 err="1">
                <a:latin typeface="Arial" panose="020B0604020202020204" pitchFamily="34" charset="0"/>
              </a:rPr>
              <a:t>Sangat</a:t>
            </a:r>
            <a:r>
              <a:rPr lang="en-US" altLang="en-US" sz="2000" dirty="0">
                <a:latin typeface="Arial" panose="020B0604020202020204" pitchFamily="34" charset="0"/>
              </a:rPr>
              <a:t>: An intensifier meaning "very" or "extremely," emphasizes high degree without comparison. Neutral tone.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"</a:t>
            </a:r>
            <a:r>
              <a:rPr lang="en-US" altLang="en-US" sz="2000" dirty="0" err="1">
                <a:latin typeface="Arial" panose="020B0604020202020204" pitchFamily="34" charset="0"/>
              </a:rPr>
              <a:t>Dia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</a:rPr>
              <a:t>sangat</a:t>
            </a: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</a:rPr>
              <a:t>cantik</a:t>
            </a:r>
            <a:r>
              <a:rPr lang="en-US" altLang="en-US" sz="2000" dirty="0">
                <a:latin typeface="Arial" panose="020B0604020202020204" pitchFamily="34" charset="0"/>
              </a:rPr>
              <a:t>." → "She is </a:t>
            </a:r>
            <a:r>
              <a:rPr lang="en-US" altLang="en-US" sz="2000" b="1" dirty="0">
                <a:latin typeface="Arial" panose="020B0604020202020204" pitchFamily="34" charset="0"/>
              </a:rPr>
              <a:t>very beautiful</a:t>
            </a:r>
            <a:r>
              <a:rPr lang="en-US" altLang="en-US" sz="2000" dirty="0">
                <a:latin typeface="Arial" panose="020B0604020202020204" pitchFamily="34" charset="0"/>
              </a:rPr>
              <a:t>."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 err="1">
                <a:latin typeface="Arial" panose="020B0604020202020204" pitchFamily="34" charset="0"/>
              </a:rPr>
              <a:t>Sekali</a:t>
            </a:r>
            <a:r>
              <a:rPr lang="en-US" altLang="en-US" sz="2000" dirty="0">
                <a:latin typeface="Arial" panose="020B0604020202020204" pitchFamily="34" charset="0"/>
              </a:rPr>
              <a:t> &amp; </a:t>
            </a:r>
            <a:r>
              <a:rPr lang="en-US" altLang="en-US" sz="2000" b="1" dirty="0" err="1">
                <a:latin typeface="Arial" panose="020B0604020202020204" pitchFamily="34" charset="0"/>
              </a:rPr>
              <a:t>Banget</a:t>
            </a:r>
            <a:r>
              <a:rPr lang="en-US" altLang="en-US" sz="2000" dirty="0">
                <a:latin typeface="Arial" panose="020B0604020202020204" pitchFamily="34" charset="0"/>
              </a:rPr>
              <a:t>: Informal intensifiers meaning "very" or "so." "</a:t>
            </a:r>
            <a:r>
              <a:rPr lang="en-US" altLang="en-US" sz="2000" dirty="0" err="1">
                <a:latin typeface="Arial" panose="020B0604020202020204" pitchFamily="34" charset="0"/>
              </a:rPr>
              <a:t>Sekali</a:t>
            </a:r>
            <a:r>
              <a:rPr lang="en-US" altLang="en-US" sz="2000" dirty="0">
                <a:latin typeface="Arial" panose="020B0604020202020204" pitchFamily="34" charset="0"/>
              </a:rPr>
              <a:t>" is slightly less casual; "</a:t>
            </a:r>
            <a:r>
              <a:rPr lang="en-US" altLang="en-US" sz="2000" dirty="0" err="1">
                <a:latin typeface="Arial" panose="020B0604020202020204" pitchFamily="34" charset="0"/>
              </a:rPr>
              <a:t>banget</a:t>
            </a:r>
            <a:r>
              <a:rPr lang="en-US" altLang="en-US" sz="2000" dirty="0">
                <a:latin typeface="Arial" panose="020B0604020202020204" pitchFamily="34" charset="0"/>
              </a:rPr>
              <a:t>" is very colloquial.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Ex: "</a:t>
            </a:r>
            <a:r>
              <a:rPr lang="en-US" altLang="en-US" sz="2000" dirty="0" err="1">
                <a:latin typeface="Arial" panose="020B0604020202020204" pitchFamily="34" charset="0"/>
              </a:rPr>
              <a:t>Makanan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</a:rPr>
              <a:t>pedas</a:t>
            </a: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</a:rPr>
              <a:t>sekali</a:t>
            </a:r>
            <a:r>
              <a:rPr lang="en-US" altLang="en-US" sz="2000" dirty="0">
                <a:latin typeface="Arial" panose="020B0604020202020204" pitchFamily="34" charset="0"/>
              </a:rPr>
              <a:t>!" → "The food is </a:t>
            </a:r>
            <a:r>
              <a:rPr lang="en-US" altLang="en-US" sz="2000" b="1" dirty="0">
                <a:latin typeface="Arial" panose="020B0604020202020204" pitchFamily="34" charset="0"/>
              </a:rPr>
              <a:t>very spicy</a:t>
            </a:r>
            <a:r>
              <a:rPr lang="en-US" altLang="en-US" sz="2000" dirty="0">
                <a:latin typeface="Arial" panose="020B0604020202020204" pitchFamily="34" charset="0"/>
              </a:rPr>
              <a:t>!"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Ex: "Film </a:t>
            </a:r>
            <a:r>
              <a:rPr lang="en-US" altLang="en-US" sz="2000" b="1" dirty="0" err="1">
                <a:latin typeface="Arial" panose="020B0604020202020204" pitchFamily="34" charset="0"/>
              </a:rPr>
              <a:t>seru</a:t>
            </a: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</a:rPr>
              <a:t>banget</a:t>
            </a:r>
            <a:r>
              <a:rPr lang="en-US" altLang="en-US" sz="2000" dirty="0">
                <a:latin typeface="Arial" panose="020B0604020202020204" pitchFamily="34" charset="0"/>
              </a:rPr>
              <a:t>!" → "The movie is </a:t>
            </a:r>
            <a:r>
              <a:rPr lang="en-US" altLang="en-US" sz="2000" b="1" dirty="0">
                <a:latin typeface="Arial" panose="020B0604020202020204" pitchFamily="34" charset="0"/>
              </a:rPr>
              <a:t>so exciting</a:t>
            </a:r>
            <a:r>
              <a:rPr lang="en-US" altLang="en-US" sz="2000" dirty="0">
                <a:latin typeface="Arial" panose="020B0604020202020204" pitchFamily="34" charset="0"/>
              </a:rPr>
              <a:t>!“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i="1" dirty="0" err="1">
                <a:latin typeface="Arial" panose="020B0604020202020204" pitchFamily="34" charset="0"/>
              </a:rPr>
              <a:t>Buat</a:t>
            </a:r>
            <a:r>
              <a:rPr lang="en-US" altLang="en-US" b="1" i="1" dirty="0">
                <a:latin typeface="Arial" panose="020B0604020202020204" pitchFamily="34" charset="0"/>
              </a:rPr>
              <a:t> </a:t>
            </a:r>
            <a:r>
              <a:rPr lang="en-US" altLang="en-US" b="1" i="1" dirty="0" err="1">
                <a:latin typeface="Arial" panose="020B0604020202020204" pitchFamily="34" charset="0"/>
              </a:rPr>
              <a:t>kalimat</a:t>
            </a:r>
            <a:r>
              <a:rPr lang="en-US" altLang="en-US" b="1" i="1" dirty="0">
                <a:latin typeface="Arial" panose="020B0604020202020204" pitchFamily="34" charset="0"/>
              </a:rPr>
              <a:t> dengan paling, </a:t>
            </a:r>
            <a:r>
              <a:rPr lang="en-US" altLang="en-US" b="1" i="1" dirty="0" err="1">
                <a:latin typeface="Arial" panose="020B0604020202020204" pitchFamily="34" charset="0"/>
              </a:rPr>
              <a:t>ter</a:t>
            </a:r>
            <a:r>
              <a:rPr lang="en-US" altLang="en-US" b="1" i="1" dirty="0">
                <a:latin typeface="Arial" panose="020B0604020202020204" pitchFamily="34" charset="0"/>
              </a:rPr>
              <a:t>-, </a:t>
            </a:r>
            <a:r>
              <a:rPr lang="en-US" altLang="en-US" b="1" i="1" dirty="0" err="1">
                <a:latin typeface="Arial" panose="020B0604020202020204" pitchFamily="34" charset="0"/>
              </a:rPr>
              <a:t>sangat</a:t>
            </a:r>
            <a:r>
              <a:rPr lang="en-US" altLang="en-US" b="1" i="1" dirty="0">
                <a:latin typeface="Arial" panose="020B0604020202020204" pitchFamily="34" charset="0"/>
              </a:rPr>
              <a:t>, </a:t>
            </a:r>
            <a:r>
              <a:rPr lang="en-US" altLang="en-US" b="1" i="1" dirty="0" err="1">
                <a:latin typeface="Arial" panose="020B0604020202020204" pitchFamily="34" charset="0"/>
              </a:rPr>
              <a:t>sekali</a:t>
            </a:r>
            <a:r>
              <a:rPr lang="en-US" altLang="en-US" b="1" i="1" dirty="0">
                <a:latin typeface="Arial" panose="020B0604020202020204" pitchFamily="34" charset="0"/>
              </a:rPr>
              <a:t> dan </a:t>
            </a:r>
            <a:r>
              <a:rPr lang="en-US" altLang="en-US" b="1" i="1" dirty="0" err="1">
                <a:latin typeface="Arial" panose="020B0604020202020204" pitchFamily="34" charset="0"/>
              </a:rPr>
              <a:t>banget</a:t>
            </a:r>
            <a:endParaRPr lang="en-US" altLang="en-US" b="1" i="1" dirty="0"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1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7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206062" y="120426"/>
            <a:ext cx="11835684" cy="27644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dirty="0">
                <a:latin typeface="Arial Rounded MT Bold" panose="020F0704030504030204" pitchFamily="34" charset="0"/>
              </a:rPr>
              <a:t>PRAKTIK BERBICARA:</a:t>
            </a:r>
            <a:br>
              <a:rPr lang="en-US" sz="3600" dirty="0">
                <a:latin typeface="Arial Rounded MT Bold" panose="020F0704030504030204" pitchFamily="34" charset="0"/>
              </a:rPr>
            </a:br>
            <a:r>
              <a:rPr lang="en-US" sz="3200" dirty="0" err="1">
                <a:latin typeface="Arial Rounded MT Bold" panose="020F0704030504030204" pitchFamily="34" charset="0"/>
              </a:rPr>
              <a:t>Pilih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 err="1">
                <a:latin typeface="Arial Rounded MT Bold" panose="020F0704030504030204" pitchFamily="34" charset="0"/>
              </a:rPr>
              <a:t>satu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 err="1">
                <a:latin typeface="Arial Rounded MT Bold" panose="020F0704030504030204" pitchFamily="34" charset="0"/>
              </a:rPr>
              <a:t>makanan</a:t>
            </a:r>
            <a:r>
              <a:rPr lang="en-US" sz="3200" dirty="0">
                <a:latin typeface="Arial Rounded MT Bold" panose="020F0704030504030204" pitchFamily="34" charset="0"/>
              </a:rPr>
              <a:t> dan </a:t>
            </a:r>
            <a:r>
              <a:rPr lang="en-US" sz="3200" dirty="0" err="1">
                <a:latin typeface="Arial Rounded MT Bold" panose="020F0704030504030204" pitchFamily="34" charset="0"/>
              </a:rPr>
              <a:t>satu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 err="1">
                <a:latin typeface="Arial Rounded MT Bold" panose="020F0704030504030204" pitchFamily="34" charset="0"/>
              </a:rPr>
              <a:t>minuman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 err="1">
                <a:latin typeface="Arial Rounded MT Bold" panose="020F0704030504030204" pitchFamily="34" charset="0"/>
              </a:rPr>
              <a:t>populer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 err="1">
                <a:latin typeface="Arial Rounded MT Bold" panose="020F0704030504030204" pitchFamily="34" charset="0"/>
              </a:rPr>
              <a:t>dari</a:t>
            </a:r>
            <a:r>
              <a:rPr lang="en-US" sz="3200" dirty="0">
                <a:latin typeface="Arial Rounded MT Bold" panose="020F0704030504030204" pitchFamily="34" charset="0"/>
              </a:rPr>
              <a:t> negara </a:t>
            </a:r>
            <a:r>
              <a:rPr lang="en-US" sz="3200" dirty="0" err="1">
                <a:latin typeface="Arial Rounded MT Bold" panose="020F0704030504030204" pitchFamily="34" charset="0"/>
              </a:rPr>
              <a:t>atau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 err="1">
                <a:latin typeface="Arial Rounded MT Bold" panose="020F0704030504030204" pitchFamily="34" charset="0"/>
              </a:rPr>
              <a:t>kota</a:t>
            </a:r>
            <a:r>
              <a:rPr lang="en-US" sz="3200" dirty="0">
                <a:latin typeface="Arial Rounded MT Bold" panose="020F0704030504030204" pitchFamily="34" charset="0"/>
              </a:rPr>
              <a:t> Anda </a:t>
            </a:r>
            <a:r>
              <a:rPr lang="en-US" sz="3200" dirty="0" err="1">
                <a:latin typeface="Arial Rounded MT Bold" panose="020F0704030504030204" pitchFamily="34" charset="0"/>
              </a:rPr>
              <a:t>kemudian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 err="1">
                <a:latin typeface="Arial Rounded MT Bold" panose="020F0704030504030204" pitchFamily="34" charset="0"/>
              </a:rPr>
              <a:t>deskripsikan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 err="1">
                <a:latin typeface="Arial Rounded MT Bold" panose="020F0704030504030204" pitchFamily="34" charset="0"/>
              </a:rPr>
              <a:t>makanan</a:t>
            </a:r>
            <a:r>
              <a:rPr lang="en-US" sz="3200" dirty="0">
                <a:latin typeface="Arial Rounded MT Bold" panose="020F0704030504030204" pitchFamily="34" charset="0"/>
              </a:rPr>
              <a:t> dan </a:t>
            </a:r>
            <a:r>
              <a:rPr lang="en-US" sz="3200" dirty="0" err="1">
                <a:latin typeface="Arial Rounded MT Bold" panose="020F0704030504030204" pitchFamily="34" charset="0"/>
              </a:rPr>
              <a:t>minuman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 err="1">
                <a:latin typeface="Arial Rounded MT Bold" panose="020F0704030504030204" pitchFamily="34" charset="0"/>
              </a:rPr>
              <a:t>itu</a:t>
            </a:r>
            <a:r>
              <a:rPr lang="en-US" sz="3200" dirty="0">
                <a:latin typeface="Arial Rounded MT Bold" panose="020F0704030504030204" pitchFamily="34" charset="0"/>
              </a:rPr>
              <a:t>!</a:t>
            </a:r>
            <a:br>
              <a:rPr lang="en-US" sz="3200" dirty="0">
                <a:latin typeface="Arial Rounded MT Bold" panose="020F0704030504030204" pitchFamily="34" charset="0"/>
              </a:rPr>
            </a:br>
            <a:endParaRPr lang="en-US" sz="3200" dirty="0">
              <a:latin typeface="Arial Rounded MT Bold" panose="020F070403050403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34"/>
          <a:stretch/>
        </p:blipFill>
        <p:spPr>
          <a:xfrm>
            <a:off x="206062" y="2892185"/>
            <a:ext cx="6619741" cy="396581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888AE48-5643-4727-9864-A180F55CC8FA}"/>
              </a:ext>
            </a:extLst>
          </p:cNvPr>
          <p:cNvSpPr/>
          <p:nvPr/>
        </p:nvSpPr>
        <p:spPr>
          <a:xfrm>
            <a:off x="7089568" y="2892185"/>
            <a:ext cx="4952177" cy="3743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makanan</a:t>
            </a:r>
            <a:endParaRPr lang="en-ID" sz="3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Warna</a:t>
            </a:r>
            <a:endParaRPr lang="en-ID" sz="3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Rasa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Terbuat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(made of)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Beli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dimana</a:t>
            </a:r>
            <a:endParaRPr lang="en-ID" sz="3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Harga</a:t>
            </a:r>
            <a:endParaRPr lang="en-ID" sz="3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130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352282" y="5125791"/>
            <a:ext cx="1081825" cy="515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6281" y="170322"/>
            <a:ext cx="10183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Cara </a:t>
            </a:r>
            <a:r>
              <a:rPr lang="en-US" sz="5400" b="1" dirty="0" err="1"/>
              <a:t>pesan</a:t>
            </a:r>
            <a:r>
              <a:rPr lang="en-US" sz="5400" b="1" dirty="0"/>
              <a:t> </a:t>
            </a:r>
            <a:r>
              <a:rPr lang="en-US" sz="5400" b="1" dirty="0" err="1"/>
              <a:t>makanan</a:t>
            </a:r>
            <a:r>
              <a:rPr lang="en-US" sz="5400" b="1" dirty="0"/>
              <a:t> di Indonesia</a:t>
            </a:r>
          </a:p>
        </p:txBody>
      </p:sp>
      <p:pic>
        <p:nvPicPr>
          <p:cNvPr id="1026" name="Picture 2" descr="Indonesian service from the heart - Foto Bengawan Solo Restaurant, Jakarta  - Tripadvisor">
            <a:extLst>
              <a:ext uri="{FF2B5EF4-FFF2-40B4-BE49-F238E27FC236}">
                <a16:creationId xmlns:a16="http://schemas.microsoft.com/office/drawing/2014/main" id="{189BC63B-E7C5-4E10-A124-F0D9DBE82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069" y="1217055"/>
            <a:ext cx="8442075" cy="563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4310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352282" y="5125791"/>
            <a:ext cx="1081825" cy="515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6281" y="170322"/>
            <a:ext cx="10183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Cara </a:t>
            </a:r>
            <a:r>
              <a:rPr lang="en-US" sz="5400" b="1" dirty="0" err="1"/>
              <a:t>pesan</a:t>
            </a:r>
            <a:r>
              <a:rPr lang="en-US" sz="5400" b="1" dirty="0"/>
              <a:t> </a:t>
            </a:r>
            <a:r>
              <a:rPr lang="en-US" sz="5400" b="1" dirty="0" err="1"/>
              <a:t>makanan</a:t>
            </a:r>
            <a:r>
              <a:rPr lang="en-US" sz="5400" b="1" dirty="0"/>
              <a:t> di Indonesia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A7ED68-9330-49CD-B8BC-BF693ADB6244}"/>
              </a:ext>
            </a:extLst>
          </p:cNvPr>
          <p:cNvSpPr/>
          <p:nvPr/>
        </p:nvSpPr>
        <p:spPr>
          <a:xfrm>
            <a:off x="225631" y="1645403"/>
            <a:ext cx="11400312" cy="444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Permisi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(excuse me)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Saya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mau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pesan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…. (I want to order..)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Berapa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harganya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….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Apa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bisa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tambah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…. (can I get extra …) optional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Apa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bisa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tanpa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….  (can it be without…) optional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Apa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bisa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bungkus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… (can it takeaway?) optional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Apakah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ini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... (is this…. + adjective 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Apakah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bisa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bayar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kartu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debit /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kartu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kredit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…… (can I pay with …..)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Terima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kasih</a:t>
            </a:r>
            <a:r>
              <a:rPr lang="en-ID" sz="2400" dirty="0">
                <a:latin typeface="Franklin Gothic Medium" panose="020B0603020102020204" pitchFamily="34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6535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352282" y="5125791"/>
            <a:ext cx="1081825" cy="515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6281" y="170322"/>
            <a:ext cx="10295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/>
              <a:t>Praktik</a:t>
            </a:r>
            <a:r>
              <a:rPr lang="en-US" sz="4800" b="1" dirty="0"/>
              <a:t> </a:t>
            </a:r>
            <a:r>
              <a:rPr lang="en-US" sz="4800" b="1" dirty="0" err="1"/>
              <a:t>pesan</a:t>
            </a:r>
            <a:r>
              <a:rPr lang="en-US" sz="4800" b="1" dirty="0"/>
              <a:t> </a:t>
            </a:r>
            <a:r>
              <a:rPr lang="en-US" sz="4800" b="1" dirty="0" err="1"/>
              <a:t>makanan</a:t>
            </a:r>
            <a:r>
              <a:rPr lang="en-US" sz="4800" b="1" dirty="0"/>
              <a:t> di Indonesia</a:t>
            </a:r>
          </a:p>
        </p:txBody>
      </p:sp>
      <p:pic>
        <p:nvPicPr>
          <p:cNvPr id="1026" name="Picture 2" descr="Indonesian service from the heart - Foto Bengawan Solo Restaurant, Jakarta  - Tripadvisor">
            <a:extLst>
              <a:ext uri="{FF2B5EF4-FFF2-40B4-BE49-F238E27FC236}">
                <a16:creationId xmlns:a16="http://schemas.microsoft.com/office/drawing/2014/main" id="{189BC63B-E7C5-4E10-A124-F0D9DBE82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502" y="1814726"/>
            <a:ext cx="5985498" cy="3993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792E56-F320-4A41-8089-BEED74CC2907}"/>
              </a:ext>
            </a:extLst>
          </p:cNvPr>
          <p:cNvSpPr/>
          <p:nvPr/>
        </p:nvSpPr>
        <p:spPr>
          <a:xfrm>
            <a:off x="387928" y="2347258"/>
            <a:ext cx="581857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2400" dirty="0"/>
              <a:t>Anda </a:t>
            </a:r>
            <a:r>
              <a:rPr lang="en-ID" sz="2400" dirty="0" err="1"/>
              <a:t>sedang</a:t>
            </a:r>
            <a:r>
              <a:rPr lang="en-ID" sz="2400" dirty="0"/>
              <a:t> </a:t>
            </a:r>
            <a:r>
              <a:rPr lang="en-ID" sz="2400" dirty="0" err="1"/>
              <a:t>liburan</a:t>
            </a:r>
            <a:r>
              <a:rPr lang="en-ID" sz="2400" dirty="0"/>
              <a:t> di Indonesia, </a:t>
            </a:r>
            <a:r>
              <a:rPr lang="en-ID" sz="2400" dirty="0" err="1"/>
              <a:t>coba</a:t>
            </a:r>
            <a:r>
              <a:rPr lang="en-ID" sz="2400" dirty="0"/>
              <a:t> </a:t>
            </a:r>
            <a:r>
              <a:rPr lang="en-ID" sz="2400" dirty="0" err="1"/>
              <a:t>praktik</a:t>
            </a:r>
            <a:r>
              <a:rPr lang="en-ID" sz="2400" dirty="0"/>
              <a:t> </a:t>
            </a:r>
            <a:r>
              <a:rPr lang="en-ID" sz="2400" dirty="0" err="1"/>
              <a:t>bicara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pesan</a:t>
            </a:r>
            <a:r>
              <a:rPr lang="en-ID" sz="2400" dirty="0"/>
              <a:t> </a:t>
            </a:r>
            <a:r>
              <a:rPr lang="en-ID" sz="2400" dirty="0" err="1"/>
              <a:t>makanan</a:t>
            </a:r>
            <a:r>
              <a:rPr lang="en-ID" sz="2400" dirty="0"/>
              <a:t> di </a:t>
            </a:r>
            <a:r>
              <a:rPr lang="en-ID" sz="2400" dirty="0" err="1"/>
              <a:t>restoran</a:t>
            </a:r>
            <a:r>
              <a:rPr lang="en-ID" sz="2400" dirty="0"/>
              <a:t>. guru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berperan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pelayan</a:t>
            </a:r>
            <a:endParaRPr lang="en-ID" sz="2400" dirty="0"/>
          </a:p>
          <a:p>
            <a:endParaRPr lang="en-ID" sz="2400" dirty="0"/>
          </a:p>
          <a:p>
            <a:r>
              <a:rPr lang="en-ID" sz="2400" i="1" dirty="0"/>
              <a:t>You are on holiday in Indonesia, try to practice speaking to order food at a restaurant. The teacher will act as a waiter.</a:t>
            </a:r>
          </a:p>
        </p:txBody>
      </p:sp>
    </p:spTree>
    <p:extLst>
      <p:ext uri="{BB962C8B-B14F-4D97-AF65-F5344CB8AC3E}">
        <p14:creationId xmlns:p14="http://schemas.microsoft.com/office/powerpoint/2010/main" val="1115484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05683C-6CEE-6375-0D41-7E8647D671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507" y="539186"/>
            <a:ext cx="11494245" cy="552112"/>
          </a:xfrm>
          <a:noFill/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ID" sz="2800" b="0" dirty="0"/>
              <a:t>Menu </a:t>
            </a:r>
            <a:r>
              <a:rPr lang="en-ID" sz="2800" b="0" dirty="0" err="1"/>
              <a:t>Restoran</a:t>
            </a:r>
            <a:r>
              <a:rPr lang="en-ID" sz="2800" b="0" dirty="0"/>
              <a:t> “</a:t>
            </a:r>
            <a:r>
              <a:rPr lang="en-ID" sz="2800" b="0" dirty="0" err="1"/>
              <a:t>mantap</a:t>
            </a:r>
            <a:r>
              <a:rPr lang="en-ID" sz="2800" b="0" dirty="0"/>
              <a:t>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EDA80-6968-DCB5-8E1C-5C8EED087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061039"/>
            <a:ext cx="457200" cy="385480"/>
          </a:xfrm>
        </p:spPr>
        <p:txBody>
          <a:bodyPr/>
          <a:lstStyle/>
          <a:p>
            <a:fld id="{745CA84A-544F-4B6B-BC9A-925394EE73B5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54B42A6-F5BC-4686-B3F7-40CE7B059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567021"/>
              </p:ext>
            </p:extLst>
          </p:nvPr>
        </p:nvGraphicFramePr>
        <p:xfrm>
          <a:off x="296883" y="1435499"/>
          <a:ext cx="11598233" cy="50110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911246">
                  <a:extLst>
                    <a:ext uri="{9D8B030D-6E8A-4147-A177-3AD203B41FA5}">
                      <a16:colId xmlns:a16="http://schemas.microsoft.com/office/drawing/2014/main" val="2778018637"/>
                    </a:ext>
                  </a:extLst>
                </a:gridCol>
                <a:gridCol w="1989767">
                  <a:extLst>
                    <a:ext uri="{9D8B030D-6E8A-4147-A177-3AD203B41FA5}">
                      <a16:colId xmlns:a16="http://schemas.microsoft.com/office/drawing/2014/main" val="1680777626"/>
                    </a:ext>
                  </a:extLst>
                </a:gridCol>
                <a:gridCol w="2162863">
                  <a:extLst>
                    <a:ext uri="{9D8B030D-6E8A-4147-A177-3AD203B41FA5}">
                      <a16:colId xmlns:a16="http://schemas.microsoft.com/office/drawing/2014/main" val="4043359567"/>
                    </a:ext>
                  </a:extLst>
                </a:gridCol>
                <a:gridCol w="2798279">
                  <a:extLst>
                    <a:ext uri="{9D8B030D-6E8A-4147-A177-3AD203B41FA5}">
                      <a16:colId xmlns:a16="http://schemas.microsoft.com/office/drawing/2014/main" val="2559896262"/>
                    </a:ext>
                  </a:extLst>
                </a:gridCol>
                <a:gridCol w="2736078">
                  <a:extLst>
                    <a:ext uri="{9D8B030D-6E8A-4147-A177-3AD203B41FA5}">
                      <a16:colId xmlns:a16="http://schemas.microsoft.com/office/drawing/2014/main" val="1925132294"/>
                    </a:ext>
                  </a:extLst>
                </a:gridCol>
              </a:tblGrid>
              <a:tr h="458525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  <a:endParaRPr lang="en-ID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Opsi</a:t>
                      </a:r>
                      <a:endParaRPr lang="en-ID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Opsi</a:t>
                      </a:r>
                      <a:endParaRPr lang="en-ID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Opsi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Harga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03690"/>
                  </a:ext>
                </a:extLst>
              </a:tr>
              <a:tr h="458525">
                <a:tc>
                  <a:txBody>
                    <a:bodyPr/>
                    <a:lstStyle/>
                    <a:p>
                      <a:pPr algn="ctr"/>
                      <a:r>
                        <a:rPr lang="en-ID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Nasi goreng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Pedas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endParaRPr lang="en-ID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Sayur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endParaRPr lang="en-ID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20.000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257481"/>
                  </a:ext>
                </a:extLst>
              </a:tr>
              <a:tr h="497091">
                <a:tc>
                  <a:txBody>
                    <a:bodyPr/>
                    <a:lstStyle/>
                    <a:p>
                      <a:pPr algn="ctr"/>
                      <a:r>
                        <a:rPr lang="en-ID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Soto </a:t>
                      </a:r>
                      <a:r>
                        <a:rPr lang="en-ID" sz="2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ayam</a:t>
                      </a:r>
                      <a:endParaRPr lang="en-ID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sambal/</a:t>
                      </a:r>
                      <a:r>
                        <a:rPr lang="en-US" sz="240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endParaRPr lang="en-ID" sz="24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Nasi/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tanpa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nasi</a:t>
                      </a:r>
                      <a:endParaRPr lang="en-ID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20.000 (nasi 5000)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780540"/>
                  </a:ext>
                </a:extLst>
              </a:tr>
              <a:tr h="306522">
                <a:tc>
                  <a:txBody>
                    <a:bodyPr/>
                    <a:lstStyle/>
                    <a:p>
                      <a:pPr algn="ctr"/>
                      <a:r>
                        <a:rPr lang="en-ID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Rendang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Pedas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endParaRPr lang="en-ID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Nasi/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tanpa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nasi</a:t>
                      </a:r>
                      <a:endParaRPr lang="en-ID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30.000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244705"/>
                  </a:ext>
                </a:extLst>
              </a:tr>
              <a:tr h="305877">
                <a:tc>
                  <a:txBody>
                    <a:bodyPr/>
                    <a:lstStyle/>
                    <a:p>
                      <a:pPr algn="ctr"/>
                      <a:r>
                        <a:rPr lang="en-ID" sz="2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Ayam</a:t>
                      </a:r>
                      <a:r>
                        <a:rPr lang="en-ID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goreng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sambal/</a:t>
                      </a:r>
                      <a:r>
                        <a:rPr lang="en-US" sz="240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endParaRPr lang="en-ID" sz="2400" i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Nasi/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tanpa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nasi</a:t>
                      </a:r>
                      <a:endParaRPr lang="en-ID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22.000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164685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pPr algn="ctr"/>
                      <a:r>
                        <a:rPr lang="en-ID" sz="2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Bakso</a:t>
                      </a:r>
                      <a:endParaRPr lang="en-ID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sambal/</a:t>
                      </a:r>
                      <a:r>
                        <a:rPr lang="en-US" sz="240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endParaRPr lang="en-ID" sz="2400" i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Nasi/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lontong</a:t>
                      </a:r>
                      <a:endParaRPr lang="en-ID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18.000 (nasi 5000)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456942"/>
                  </a:ext>
                </a:extLst>
              </a:tr>
              <a:tr h="502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Sate </a:t>
                      </a:r>
                      <a:r>
                        <a:rPr lang="en-ID" sz="2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ayam</a:t>
                      </a:r>
                      <a:endParaRPr lang="en-ID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sambal/</a:t>
                      </a:r>
                      <a:r>
                        <a:rPr lang="en-US" sz="240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Nasi/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lontong</a:t>
                      </a:r>
                      <a:endParaRPr lang="en-ID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32.000 (nasi 5000)</a:t>
                      </a:r>
                      <a:endParaRPr lang="en-ID" sz="24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098282"/>
                  </a:ext>
                </a:extLst>
              </a:tr>
              <a:tr h="28973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Teh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Panas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dingin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Gula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endParaRPr lang="en-ID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4000</a:t>
                      </a:r>
                      <a:endParaRPr lang="en-ID" sz="24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863955"/>
                  </a:ext>
                </a:extLst>
              </a:tr>
              <a:tr h="28973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Es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campur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Susu/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Buah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endParaRPr lang="en-ID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12.000</a:t>
                      </a:r>
                      <a:endParaRPr lang="en-ID" sz="24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258820"/>
                  </a:ext>
                </a:extLst>
              </a:tr>
              <a:tr h="28973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Jus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Jeruk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Panas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dingin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Gula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endParaRPr lang="en-ID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7500</a:t>
                      </a:r>
                      <a:endParaRPr lang="en-ID" sz="24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279162"/>
                  </a:ext>
                </a:extLst>
              </a:tr>
              <a:tr h="28973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Kopi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Panas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dingin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Gula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tidak</a:t>
                      </a:r>
                      <a:endParaRPr lang="en-ID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Makan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bungkus</a:t>
                      </a:r>
                      <a:endParaRPr lang="en-ID" sz="2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8000</a:t>
                      </a:r>
                      <a:endParaRPr lang="en-ID" sz="24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161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441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66" y="365124"/>
            <a:ext cx="5934055" cy="58940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52282" y="5125791"/>
            <a:ext cx="1081825" cy="515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605118"/>
            <a:ext cx="5275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Bicara</a:t>
            </a:r>
            <a:r>
              <a:rPr lang="en-US" sz="2400" dirty="0"/>
              <a:t> </a:t>
            </a:r>
            <a:r>
              <a:rPr lang="en-US" sz="2400" dirty="0" err="1"/>
              <a:t>tentang</a:t>
            </a:r>
            <a:r>
              <a:rPr lang="en-US" sz="2400" dirty="0"/>
              <a:t> </a:t>
            </a:r>
            <a:r>
              <a:rPr lang="en-US" sz="2400" dirty="0" err="1"/>
              <a:t>makanan</a:t>
            </a:r>
            <a:r>
              <a:rPr lang="en-US" sz="2400" dirty="0"/>
              <a:t> </a:t>
            </a:r>
            <a:r>
              <a:rPr lang="en-US" sz="2400" dirty="0" err="1"/>
              <a:t>favorit</a:t>
            </a:r>
            <a:endParaRPr lang="en-US" sz="24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77318" y="365124"/>
            <a:ext cx="4760258" cy="581183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Bicara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favorit</a:t>
            </a:r>
            <a:r>
              <a:rPr lang="en-US" dirty="0"/>
              <a:t>!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favorit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Terbuat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Apa</a:t>
            </a:r>
            <a:r>
              <a:rPr lang="en-US" dirty="0"/>
              <a:t> rasa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06434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321" y="56954"/>
            <a:ext cx="10515600" cy="897005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Makanan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Pembuka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46" y="1119585"/>
            <a:ext cx="3991547" cy="27819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689" y="4065421"/>
            <a:ext cx="4588778" cy="25834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519" y="1117808"/>
            <a:ext cx="4173559" cy="27837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464" y="4065421"/>
            <a:ext cx="3889421" cy="26253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0"/>
          <a:stretch/>
        </p:blipFill>
        <p:spPr>
          <a:xfrm>
            <a:off x="9056905" y="1117808"/>
            <a:ext cx="2918001" cy="27837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1668" y="3606085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bakwan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85282" y="1117808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lumpia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13689" y="4057542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batagor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31089" y="4057542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martabak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290219" y="3758829"/>
            <a:ext cx="1684687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buah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00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92" y="56954"/>
            <a:ext cx="11140225" cy="897005"/>
          </a:xfrm>
          <a:solidFill>
            <a:srgbClr val="FF000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Makanan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Inti/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Makanan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Indonesia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Populer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438" y="3817895"/>
            <a:ext cx="2681150" cy="25700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00" y="1854827"/>
            <a:ext cx="2400995" cy="240099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9" b="11699"/>
          <a:stretch/>
        </p:blipFill>
        <p:spPr>
          <a:xfrm>
            <a:off x="3145557" y="1019329"/>
            <a:ext cx="3548708" cy="217463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791" y="4292899"/>
            <a:ext cx="3444647" cy="229643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37"/>
          <a:stretch/>
        </p:blipFill>
        <p:spPr>
          <a:xfrm>
            <a:off x="128789" y="3199756"/>
            <a:ext cx="3000777" cy="224135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" r="5899" b="3383"/>
          <a:stretch/>
        </p:blipFill>
        <p:spPr>
          <a:xfrm>
            <a:off x="128789" y="990068"/>
            <a:ext cx="2962141" cy="220389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5" b="4170"/>
          <a:stretch/>
        </p:blipFill>
        <p:spPr>
          <a:xfrm>
            <a:off x="8963695" y="1096602"/>
            <a:ext cx="3061893" cy="234205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80"/>
          <a:stretch/>
        </p:blipFill>
        <p:spPr>
          <a:xfrm>
            <a:off x="2527313" y="4706212"/>
            <a:ext cx="3300309" cy="214082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28789" y="1019329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Nasi</a:t>
            </a:r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goreng</a:t>
            </a:r>
            <a:endParaRPr lang="en-US" sz="20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29566" y="1025481"/>
            <a:ext cx="1352282" cy="453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soto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049989" y="1506256"/>
            <a:ext cx="1557981" cy="411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3694" y="1094502"/>
            <a:ext cx="1674255" cy="411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rendang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28789" y="5317289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Mie </a:t>
            </a:r>
            <a:r>
              <a:rPr lang="en-US" sz="20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goreng</a:t>
            </a:r>
            <a:endParaRPr lang="en-US" sz="20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79822" y="4241082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gudeg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521642" y="6310811"/>
            <a:ext cx="1822796" cy="456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bakso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202792" y="6310811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Gado-gado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068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442" y="378926"/>
            <a:ext cx="10515600" cy="897005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Makanan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Penutup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/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Pencuci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Mulut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13" y="1961745"/>
            <a:ext cx="4190142" cy="34818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921" y="3702676"/>
            <a:ext cx="3155324" cy="31553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18" y="1961745"/>
            <a:ext cx="4375522" cy="29151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4612" y="5280338"/>
            <a:ext cx="2257979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Jajan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pasar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40185" y="3243340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buah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59513" y="4833881"/>
            <a:ext cx="2635532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Kue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tradisional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403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321" y="56954"/>
            <a:ext cx="10515600" cy="897005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Minuman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Indonesia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Populer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058" y="1084789"/>
            <a:ext cx="3653441" cy="24356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5" y="3953236"/>
            <a:ext cx="3807855" cy="28558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25"/>
          <a:stretch/>
        </p:blipFill>
        <p:spPr>
          <a:xfrm>
            <a:off x="4837308" y="1055539"/>
            <a:ext cx="2519963" cy="31548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10"/>
          <a:stretch/>
        </p:blipFill>
        <p:spPr>
          <a:xfrm>
            <a:off x="1786288" y="1104897"/>
            <a:ext cx="2252964" cy="26447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2" t="-376" r="8028" b="376"/>
          <a:stretch/>
        </p:blipFill>
        <p:spPr>
          <a:xfrm>
            <a:off x="8395937" y="3953236"/>
            <a:ext cx="3653440" cy="280325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74890" y="1120080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Es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teh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30521" y="1055539"/>
            <a:ext cx="1752600" cy="625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Es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dawet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/ </a:t>
            </a:r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es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cendol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1016" y="6297152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Es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campur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826058" y="1084789"/>
            <a:ext cx="1822796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bajigur</a:t>
            </a:r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5326" y="3953236"/>
            <a:ext cx="1493527" cy="459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ronde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081" y="4311993"/>
            <a:ext cx="3411977" cy="227465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878344" y="4311567"/>
            <a:ext cx="1505025" cy="368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STMJ</a:t>
            </a:r>
          </a:p>
        </p:txBody>
      </p:sp>
    </p:spTree>
    <p:extLst>
      <p:ext uri="{BB962C8B-B14F-4D97-AF65-F5344CB8AC3E}">
        <p14:creationId xmlns:p14="http://schemas.microsoft.com/office/powerpoint/2010/main" val="4134092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5A053-9698-45ED-8FFC-948466CD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0335-6EDB-43DA-8743-F7B787592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298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488"/>
            <a:ext cx="10515600" cy="922763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Kosakata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tentang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memasak</a:t>
            </a:r>
            <a:r>
              <a:rPr lang="en-US" dirty="0">
                <a:latin typeface="Arial Rounded MT Bold" panose="020F0704030504030204" pitchFamily="34" charset="0"/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06" y="1442434"/>
            <a:ext cx="11069393" cy="5293217"/>
          </a:xfrm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Goreng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: fried</a:t>
            </a:r>
          </a:p>
          <a:p>
            <a:pPr>
              <a:lnSpc>
                <a:spcPct val="100000"/>
              </a:lnSpc>
            </a:pPr>
            <a:r>
              <a:rPr lang="en-US"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Merebus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boil (verb)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Tumis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sauted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/ stir fry 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Bakar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grilled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Mendidih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boiled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Matang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ripe 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Masukkan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put in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Tambahkan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: add  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Beku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: frozen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Bake :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panggang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Roast :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panggang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Mix :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campur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Sendok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makan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: full spoon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Sendok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teh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: teaspoon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Secukupnya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: 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sebutir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telur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54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5982</TotalTime>
  <Words>1029</Words>
  <Application>Microsoft Office PowerPoint</Application>
  <PresentationFormat>Widescreen</PresentationFormat>
  <Paragraphs>217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Adobe Fangsong Std R</vt:lpstr>
      <vt:lpstr>Arial</vt:lpstr>
      <vt:lpstr>Arial Rounded MT Bold</vt:lpstr>
      <vt:lpstr>Calibri</vt:lpstr>
      <vt:lpstr>Calibri Light</vt:lpstr>
      <vt:lpstr>Franklin Gothic Medium</vt:lpstr>
      <vt:lpstr>Office Theme</vt:lpstr>
      <vt:lpstr>PowerPoint Presentation</vt:lpstr>
      <vt:lpstr>PowerPoint Presentation</vt:lpstr>
      <vt:lpstr>Kosakata tentang rasa:</vt:lpstr>
      <vt:lpstr>Kosakata tentang makanan:</vt:lpstr>
      <vt:lpstr>Beda “lezat” dan “nikmat”</vt:lpstr>
      <vt:lpstr>Menu Warung Indonesia</vt:lpstr>
      <vt:lpstr>Menu Warung Indonesia</vt:lpstr>
      <vt:lpstr>Kosakata baru</vt:lpstr>
      <vt:lpstr>Konsep superlative</vt:lpstr>
      <vt:lpstr>PRAKTIK BERBICARA: Pilih satu makanan dan satu minuman populer dari negara atau kota Anda kemudian deskripsikan makanan dan minuman itu!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Makanan Pembuka</vt:lpstr>
      <vt:lpstr>Makanan Inti/ Makanan Indonesia Populer</vt:lpstr>
      <vt:lpstr>Makanan Penutup / Pencuci Mulut</vt:lpstr>
      <vt:lpstr>Minuman Indonesia Populer</vt:lpstr>
      <vt:lpstr>PowerPoint Presentation</vt:lpstr>
      <vt:lpstr>Kosakata tentang memasak: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83</cp:revision>
  <dcterms:created xsi:type="dcterms:W3CDTF">2020-10-19T23:51:58Z</dcterms:created>
  <dcterms:modified xsi:type="dcterms:W3CDTF">2025-12-02T16:37:43Z</dcterms:modified>
</cp:coreProperties>
</file>