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57" r:id="rId5"/>
    <p:sldId id="268" r:id="rId6"/>
    <p:sldId id="269" r:id="rId7"/>
    <p:sldId id="264" r:id="rId8"/>
    <p:sldId id="271" r:id="rId9"/>
    <p:sldId id="270" r:id="rId10"/>
    <p:sldId id="258" r:id="rId11"/>
    <p:sldId id="261" r:id="rId12"/>
    <p:sldId id="260" r:id="rId13"/>
    <p:sldId id="267" r:id="rId14"/>
    <p:sldId id="262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D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60"/>
  </p:normalViewPr>
  <p:slideViewPr>
    <p:cSldViewPr snapToGrid="0">
      <p:cViewPr varScale="1">
        <p:scale>
          <a:sx n="96" d="100"/>
          <a:sy n="96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2A66-262B-4289-B29C-4E8589A3B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21A4B-1601-476A-ABB1-690C26872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09E0-96F6-49F0-A9FE-D9F22547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27B10-DFFA-4656-90B9-60855EE2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9FC7C-20FB-4B9C-8314-DFE00EB7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590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BEC62-2691-4D54-82DC-4BF678B2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763E6-80E4-4EB3-8D7C-EC3E2DBD6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0834-C041-4130-A5FB-8FFF070E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CCEC1-A2EE-409C-8779-669668F2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603FF-AC93-4413-84EA-58BD882D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258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7D12-BD5C-4EA5-99D5-D3690B95E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29F2A-4188-42EB-87F3-3CACFC78E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835EA-C01E-4F64-87D3-55BE5329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D284B-F296-49FE-BF49-41CDFCDE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7C2DB-9303-48CA-ACFA-59C60365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622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8430-562A-412A-8034-F046E4EC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65CFF-E595-41F5-9582-6A420D980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599C9-AD37-4C14-934A-621354D89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4C89E-3807-4016-B0A5-6F307020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D81CB-93C0-4579-AC79-395E95F4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F4D8C-1AD6-48C1-9AD9-13F1DC51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974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A046-8968-4BD7-BD66-A32A4859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0A2ED-DDEC-46CB-81E8-302F85D3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AAA5C-196B-4CDD-A630-89B19CCD9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16463-1DAB-489E-8AB0-B7C078C4F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ECB63-66E0-4BEF-BD79-636CC9FC7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2F9035-B4B2-4B8B-98EC-14DB63F7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750A7-EBEA-4988-9B84-ABCD01A0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D6921-BE10-43A4-B57C-61E8EB03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61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6D70-ABFB-480A-A939-C634FCB8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0CCE5-ACFC-4BAB-827B-9903220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55EF9-7EB4-4331-98C4-66C7D0CF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6A1C9-A68E-4ECA-94A9-FAD82A92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703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2C181-5CF9-47E9-B9EC-A297E874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97B04-5F02-409E-96AD-69CC0712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8AE89-430F-4970-A3FC-1C17A568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728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3C5D-0CF7-4CDA-93CB-F72546978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86A24-8C7F-4841-957A-CB007F219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45A04-2B7C-4649-A8BF-DC813E844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26ABB-AC4B-4CC8-AF96-7EC46692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5B67E-CB3B-454E-9EF8-D99BA4E8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269B-4C6A-4747-B219-C9424ECA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28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D738-FEC4-42BB-8348-76E69D31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68919-3DC1-42BA-BB8B-2A4DFFB80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072A0-C583-49C8-BA2A-8093EC86C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13A5A-88B3-4C9E-9662-82CB17DD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0F44B-D6B1-42F7-BE44-0B800693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37D1E-0964-496F-8304-E155D0FB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795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9172-5460-4DD7-A933-5CAC8107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C7BAE-F473-41F6-89C1-635DBB840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DA789-8EC6-4C96-A12E-34E53825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1DC12-E163-47E2-8E67-AC30138E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58D19-CC15-468D-A2B5-A8D8DB8B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43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9F78B-1A0F-4267-AA35-49FF1AC31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7828D-E705-4063-9766-5646DAA16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DBFA-C13A-4589-9192-B66F8D0F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03E63-93B5-4E91-9D1E-724BF113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47C4D-8B97-4A2A-846A-C6607D96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930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D25CB-853E-44C6-B520-C5670B5AF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2EB9C-1AF4-4DE3-9E54-94A488FA9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3B40D-B5FE-4654-9F4D-D1EB77990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FB8E-F292-43ED-9C31-8B0174B96F13}" type="datetimeFigureOut">
              <a:rPr lang="en-ID" smtClean="0"/>
              <a:t>16/02/2026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11A02-DF98-4404-9A04-E45C7F373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F3513-959E-43B3-A0A4-9A6AA5458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B9324-EDE8-455E-A5E6-53E0A97F7F6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2620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CD7F90B2-5D79-44F9-8EA1-965B6389C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35" y="1379418"/>
            <a:ext cx="10690930" cy="481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B6DC9B-2FD8-40A5-BA09-A6928E89565F}"/>
              </a:ext>
            </a:extLst>
          </p:cNvPr>
          <p:cNvSpPr/>
          <p:nvPr/>
        </p:nvSpPr>
        <p:spPr>
          <a:xfrm>
            <a:off x="3584900" y="667663"/>
            <a:ext cx="4729148" cy="1328023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Baju dan </a:t>
            </a:r>
            <a:r>
              <a:rPr lang="en-US" sz="48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warna</a:t>
            </a:r>
            <a:endParaRPr lang="en-US" sz="4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dobe Gothic Std B" panose="020B0800000000000000" pitchFamily="34" charset="-128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dobe Gothic Std B" panose="020B0800000000000000" pitchFamily="34" charset="-128"/>
                <a:cs typeface="Arial" panose="020B0604020202020204" pitchFamily="34" charset="0"/>
              </a:rPr>
              <a:t>BIPA 2</a:t>
            </a:r>
            <a:endParaRPr lang="en-ID" sz="4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dobe Gothic Std B" panose="020B08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42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FF2EA7CF-74DC-4E63-81E0-871DFC398D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32" b="72578"/>
          <a:stretch/>
        </p:blipFill>
        <p:spPr bwMode="auto">
          <a:xfrm>
            <a:off x="107618" y="5875930"/>
            <a:ext cx="5988382" cy="9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C21338B-0137-42DB-B25B-78F7370197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32" b="72578"/>
          <a:stretch/>
        </p:blipFill>
        <p:spPr bwMode="auto">
          <a:xfrm>
            <a:off x="6203618" y="5875930"/>
            <a:ext cx="5988382" cy="9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BACD372-22A4-423E-9B7B-8259D4DCE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578371"/>
              </p:ext>
            </p:extLst>
          </p:nvPr>
        </p:nvGraphicFramePr>
        <p:xfrm>
          <a:off x="580740" y="1102056"/>
          <a:ext cx="11245756" cy="465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69672795"/>
                    </a:ext>
                  </a:extLst>
                </a:gridCol>
                <a:gridCol w="2811439">
                  <a:extLst>
                    <a:ext uri="{9D8B030D-6E8A-4147-A177-3AD203B41FA5}">
                      <a16:colId xmlns:a16="http://schemas.microsoft.com/office/drawing/2014/main" val="227912641"/>
                    </a:ext>
                  </a:extLst>
                </a:gridCol>
                <a:gridCol w="2811439">
                  <a:extLst>
                    <a:ext uri="{9D8B030D-6E8A-4147-A177-3AD203B41FA5}">
                      <a16:colId xmlns:a16="http://schemas.microsoft.com/office/drawing/2014/main" val="2651666001"/>
                    </a:ext>
                  </a:extLst>
                </a:gridCol>
                <a:gridCol w="2811439">
                  <a:extLst>
                    <a:ext uri="{9D8B030D-6E8A-4147-A177-3AD203B41FA5}">
                      <a16:colId xmlns:a16="http://schemas.microsoft.com/office/drawing/2014/main" val="249456591"/>
                    </a:ext>
                  </a:extLst>
                </a:gridCol>
              </a:tblGrid>
              <a:tr h="581736"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38565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800" dirty="0" err="1"/>
                        <a:t>Kaos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 shirt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42475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800" dirty="0" err="1"/>
                        <a:t>Kemeja</a:t>
                      </a:r>
                      <a:r>
                        <a:rPr lang="en-US" sz="2800" dirty="0"/>
                        <a:t> 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shirt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629332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800" dirty="0" err="1"/>
                        <a:t>Celana</a:t>
                      </a:r>
                      <a:r>
                        <a:rPr lang="en-US" sz="2800" dirty="0"/>
                        <a:t> Panjang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Pants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041450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800" dirty="0" err="1"/>
                        <a:t>Celana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pendek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Short pants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5992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800" dirty="0"/>
                        <a:t>Jas </a:t>
                      </a:r>
                      <a:r>
                        <a:rPr lang="en-US" sz="2800" dirty="0" err="1"/>
                        <a:t>hujan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Raincoat</a:t>
                      </a:r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31561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467557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56094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1FCDD73-6B08-406C-8C31-263DA1286977}"/>
              </a:ext>
            </a:extLst>
          </p:cNvPr>
          <p:cNvSpPr/>
          <p:nvPr/>
        </p:nvSpPr>
        <p:spPr>
          <a:xfrm>
            <a:off x="2710033" y="151073"/>
            <a:ext cx="698716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 err="1"/>
              <a:t>Kosakata</a:t>
            </a:r>
            <a:r>
              <a:rPr lang="en-US" sz="4800" b="1" dirty="0"/>
              <a:t> </a:t>
            </a:r>
            <a:r>
              <a:rPr lang="en-US" sz="4800" b="1" dirty="0" err="1"/>
              <a:t>Pakaian</a:t>
            </a:r>
            <a:r>
              <a:rPr lang="en-US" sz="4800" b="1" dirty="0"/>
              <a:t> (clothes)</a:t>
            </a:r>
            <a:endParaRPr lang="en-ID" sz="4800" b="1" dirty="0"/>
          </a:p>
        </p:txBody>
      </p:sp>
    </p:spTree>
    <p:extLst>
      <p:ext uri="{BB962C8B-B14F-4D97-AF65-F5344CB8AC3E}">
        <p14:creationId xmlns:p14="http://schemas.microsoft.com/office/powerpoint/2010/main" val="24215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BACD372-22A4-423E-9B7B-8259D4DCE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439182"/>
              </p:ext>
            </p:extLst>
          </p:nvPr>
        </p:nvGraphicFramePr>
        <p:xfrm>
          <a:off x="580740" y="1102056"/>
          <a:ext cx="11245756" cy="407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69672795"/>
                    </a:ext>
                  </a:extLst>
                </a:gridCol>
                <a:gridCol w="2811439">
                  <a:extLst>
                    <a:ext uri="{9D8B030D-6E8A-4147-A177-3AD203B41FA5}">
                      <a16:colId xmlns:a16="http://schemas.microsoft.com/office/drawing/2014/main" val="227912641"/>
                    </a:ext>
                  </a:extLst>
                </a:gridCol>
                <a:gridCol w="2811439">
                  <a:extLst>
                    <a:ext uri="{9D8B030D-6E8A-4147-A177-3AD203B41FA5}">
                      <a16:colId xmlns:a16="http://schemas.microsoft.com/office/drawing/2014/main" val="2651666001"/>
                    </a:ext>
                  </a:extLst>
                </a:gridCol>
                <a:gridCol w="2811439">
                  <a:extLst>
                    <a:ext uri="{9D8B030D-6E8A-4147-A177-3AD203B41FA5}">
                      <a16:colId xmlns:a16="http://schemas.microsoft.com/office/drawing/2014/main" val="249456591"/>
                    </a:ext>
                  </a:extLst>
                </a:gridCol>
              </a:tblGrid>
              <a:tr h="581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Perak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Silver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Sawo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matang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Tan </a:t>
                      </a:r>
                      <a:r>
                        <a:rPr lang="en-US" sz="2400" dirty="0" err="1"/>
                        <a:t>colour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38565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400" dirty="0" err="1"/>
                        <a:t>Biru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Blue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Merah </a:t>
                      </a:r>
                      <a:r>
                        <a:rPr lang="en-US" sz="2400" dirty="0" err="1"/>
                        <a:t>muda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Pink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742475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400" dirty="0"/>
                        <a:t>Merah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Red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Hijau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Green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629332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400" dirty="0" err="1"/>
                        <a:t>Kuning</a:t>
                      </a:r>
                      <a:r>
                        <a:rPr lang="en-US" sz="2400" dirty="0"/>
                        <a:t> 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Yellow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Putih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White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041450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400" dirty="0" err="1"/>
                        <a:t>Hitam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Black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Abu-</a:t>
                      </a:r>
                      <a:r>
                        <a:rPr lang="en-US" sz="2400" dirty="0" err="1"/>
                        <a:t>abu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Grey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855992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400" dirty="0" err="1"/>
                        <a:t>Coklat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brown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Jingga</a:t>
                      </a:r>
                      <a:r>
                        <a:rPr lang="en-US" sz="2400" dirty="0"/>
                        <a:t> / </a:t>
                      </a:r>
                      <a:r>
                        <a:rPr lang="en-US" sz="2400" dirty="0" err="1"/>
                        <a:t>oranye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Orange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31561"/>
                  </a:ext>
                </a:extLst>
              </a:tr>
              <a:tr h="581736">
                <a:tc>
                  <a:txBody>
                    <a:bodyPr/>
                    <a:lstStyle/>
                    <a:p>
                      <a:r>
                        <a:rPr lang="en-US" sz="2400" dirty="0" err="1"/>
                        <a:t>Krim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Cream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Ungu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Purple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467557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81FCDD73-6B08-406C-8C31-263DA1286977}"/>
              </a:ext>
            </a:extLst>
          </p:cNvPr>
          <p:cNvSpPr/>
          <p:nvPr/>
        </p:nvSpPr>
        <p:spPr>
          <a:xfrm>
            <a:off x="4041873" y="151073"/>
            <a:ext cx="432349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 err="1"/>
              <a:t>Kosakata</a:t>
            </a:r>
            <a:r>
              <a:rPr lang="en-US" sz="4800" b="1" dirty="0"/>
              <a:t> </a:t>
            </a:r>
            <a:r>
              <a:rPr lang="en-US" sz="4800" b="1" dirty="0" err="1"/>
              <a:t>Warna</a:t>
            </a:r>
            <a:endParaRPr lang="en-ID" sz="4800" b="1" dirty="0"/>
          </a:p>
        </p:txBody>
      </p:sp>
      <p:pic>
        <p:nvPicPr>
          <p:cNvPr id="8194" name="Picture 2" descr="Header Footer PNGs for Free Download">
            <a:extLst>
              <a:ext uri="{FF2B5EF4-FFF2-40B4-BE49-F238E27FC236}">
                <a16:creationId xmlns:a16="http://schemas.microsoft.com/office/drawing/2014/main" id="{06493B50-92C0-4037-9F62-0B2BF27645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71" b="48448"/>
          <a:stretch/>
        </p:blipFill>
        <p:spPr bwMode="auto">
          <a:xfrm>
            <a:off x="0" y="5875930"/>
            <a:ext cx="6183150" cy="9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eader Footer PNGs for Free Download">
            <a:extLst>
              <a:ext uri="{FF2B5EF4-FFF2-40B4-BE49-F238E27FC236}">
                <a16:creationId xmlns:a16="http://schemas.microsoft.com/office/drawing/2014/main" id="{F56B3955-93CB-455B-88D4-BFBC4B9282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71" b="48448"/>
          <a:stretch/>
        </p:blipFill>
        <p:spPr bwMode="auto">
          <a:xfrm flipH="1">
            <a:off x="6008850" y="5875930"/>
            <a:ext cx="6183150" cy="98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421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1ED2-9052-4089-B7B8-D3A54262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188" y="849456"/>
            <a:ext cx="10515600" cy="2893723"/>
          </a:xfrm>
        </p:spPr>
        <p:txBody>
          <a:bodyPr>
            <a:noAutofit/>
          </a:bodyPr>
          <a:lstStyle/>
          <a:p>
            <a:pPr algn="ctr"/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pakaian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favoritmu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? </a:t>
            </a:r>
            <a:br>
              <a:rPr lang="en-US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Warna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?</a:t>
            </a:r>
            <a:br>
              <a:rPr lang="en-US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Untuk acara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</a:rPr>
              <a:t>apa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?</a:t>
            </a:r>
            <a:br>
              <a:rPr lang="en-US" b="1" dirty="0"/>
            </a:br>
            <a:r>
              <a:rPr lang="en-US" sz="3600" i="1" dirty="0" err="1"/>
              <a:t>Pakaian</a:t>
            </a:r>
            <a:r>
              <a:rPr lang="en-US" sz="3600" i="1" dirty="0"/>
              <a:t> </a:t>
            </a:r>
            <a:r>
              <a:rPr lang="en-US" sz="3600" i="1" dirty="0" err="1"/>
              <a:t>favoritku</a:t>
            </a:r>
            <a:r>
              <a:rPr lang="en-US" sz="3600" i="1" dirty="0"/>
              <a:t> </a:t>
            </a:r>
            <a:r>
              <a:rPr lang="en-US" sz="3600" i="1" dirty="0" err="1"/>
              <a:t>adalah</a:t>
            </a:r>
            <a:r>
              <a:rPr lang="en-US" sz="3600" i="1" dirty="0"/>
              <a:t> </a:t>
            </a:r>
            <a:r>
              <a:rPr lang="en-US" sz="3600" i="1" dirty="0" err="1"/>
              <a:t>jas</a:t>
            </a:r>
            <a:r>
              <a:rPr lang="en-US" sz="3600" i="1" dirty="0"/>
              <a:t>, </a:t>
            </a:r>
            <a:r>
              <a:rPr lang="en-US" sz="3600" i="1" dirty="0" err="1"/>
              <a:t>jas</a:t>
            </a:r>
            <a:r>
              <a:rPr lang="en-US" sz="3600" i="1" dirty="0"/>
              <a:t> </a:t>
            </a:r>
            <a:r>
              <a:rPr lang="en-US" sz="3600" i="1" dirty="0" err="1"/>
              <a:t>warna</a:t>
            </a:r>
            <a:r>
              <a:rPr lang="en-US" sz="3600" i="1" dirty="0"/>
              <a:t> </a:t>
            </a:r>
            <a:r>
              <a:rPr lang="en-US" sz="3600" i="1" dirty="0" err="1"/>
              <a:t>coklat</a:t>
            </a:r>
            <a:r>
              <a:rPr lang="en-US" sz="3600" i="1" dirty="0"/>
              <a:t>, untuk acara </a:t>
            </a:r>
            <a:r>
              <a:rPr lang="en-US" sz="3600" i="1" dirty="0" err="1"/>
              <a:t>kerja</a:t>
            </a:r>
            <a:endParaRPr lang="en-ID" i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24F9D7-D250-4C82-99B0-ECF66A013F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32"/>
          <a:stretch/>
        </p:blipFill>
        <p:spPr bwMode="auto">
          <a:xfrm>
            <a:off x="0" y="3964277"/>
            <a:ext cx="12192000" cy="289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469F95-A7F4-4269-9235-82140C5B28D7}"/>
              </a:ext>
            </a:extLst>
          </p:cNvPr>
          <p:cNvSpPr/>
          <p:nvPr/>
        </p:nvSpPr>
        <p:spPr>
          <a:xfrm>
            <a:off x="287971" y="141571"/>
            <a:ext cx="36358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tantia" panose="02030602050306030303" pitchFamily="18" charset="0"/>
              </a:rPr>
              <a:t>Praktik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tantia" panose="02030602050306030303" pitchFamily="18" charset="0"/>
              </a:rPr>
              <a:t> </a:t>
            </a:r>
            <a:r>
              <a:rPr lang="en-US" sz="4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tantia" panose="02030602050306030303" pitchFamily="18" charset="0"/>
              </a:rPr>
              <a:t>Bicara</a:t>
            </a:r>
            <a:endParaRPr lang="en-ID" sz="4000" dirty="0">
              <a:solidFill>
                <a:schemeClr val="accent1">
                  <a:lumMod val="60000"/>
                  <a:lumOff val="4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41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BF6C-2AE8-ADEB-6081-40D8A879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260494-4FA2-71C4-9F88-082E3C79E2E5}"/>
              </a:ext>
            </a:extLst>
          </p:cNvPr>
          <p:cNvGraphicFramePr>
            <a:graphicFrameLocks noGrp="1"/>
          </p:cNvGraphicFramePr>
          <p:nvPr/>
        </p:nvGraphicFramePr>
        <p:xfrm>
          <a:off x="421420" y="208495"/>
          <a:ext cx="11571544" cy="5921962"/>
        </p:xfrm>
        <a:graphic>
          <a:graphicData uri="http://schemas.openxmlformats.org/drawingml/2006/table">
            <a:tbl>
              <a:tblPr/>
              <a:tblGrid>
                <a:gridCol w="1637968">
                  <a:extLst>
                    <a:ext uri="{9D8B030D-6E8A-4147-A177-3AD203B41FA5}">
                      <a16:colId xmlns:a16="http://schemas.microsoft.com/office/drawing/2014/main" val="2451165562"/>
                    </a:ext>
                  </a:extLst>
                </a:gridCol>
                <a:gridCol w="1677725">
                  <a:extLst>
                    <a:ext uri="{9D8B030D-6E8A-4147-A177-3AD203B41FA5}">
                      <a16:colId xmlns:a16="http://schemas.microsoft.com/office/drawing/2014/main" val="55987456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804652062"/>
                    </a:ext>
                  </a:extLst>
                </a:gridCol>
                <a:gridCol w="3866731">
                  <a:extLst>
                    <a:ext uri="{9D8B030D-6E8A-4147-A177-3AD203B41FA5}">
                      <a16:colId xmlns:a16="http://schemas.microsoft.com/office/drawing/2014/main" val="1798707513"/>
                    </a:ext>
                  </a:extLst>
                </a:gridCol>
              </a:tblGrid>
              <a:tr h="792756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Indonesia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English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Konteks Komplain/Fitting (Indonesia)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Arti Kalimat (English Meaning)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999767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Bahu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Shoulder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"Kemejanya </a:t>
                      </a:r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sempit</a:t>
                      </a: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 bahu."</a:t>
                      </a: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"The shirt is </a:t>
                      </a:r>
                      <a:r>
                        <a:rPr lang="en-US" sz="2000" b="1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tight</a:t>
                      </a:r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 the shoulders."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026099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Dada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Chest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en-ID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Lingkar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dadanya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kurang</a:t>
                      </a:r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lebar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"The chest width is </a:t>
                      </a:r>
                      <a:r>
                        <a:rPr lang="en-US" sz="2000" b="1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 wide enough</a:t>
                      </a:r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296319"/>
                  </a:ext>
                </a:extLst>
              </a:tr>
              <a:tr h="1117066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Perut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Stomach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en-ID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Agak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sesak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 </a:t>
                      </a:r>
                      <a:r>
                        <a:rPr lang="en-ID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perut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ID" sz="20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kekecilan</a:t>
                      </a:r>
                      <a:r>
                        <a:rPr lang="en-ID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)."</a:t>
                      </a: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"It's a bit </a:t>
                      </a:r>
                      <a:r>
                        <a:rPr lang="en-US" sz="2000" b="1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tight/squeezed</a:t>
                      </a:r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around the stomach (too small)."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3600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Pinggang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Waist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"Celananya </a:t>
                      </a:r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longgar</a:t>
                      </a:r>
                      <a:r>
                        <a:rPr lang="en-ID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 pinggang."</a:t>
                      </a: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"The pants are </a:t>
                      </a:r>
                      <a:r>
                        <a:rPr lang="en-US" sz="2000" b="1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loose</a:t>
                      </a:r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at the waist."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833067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Paha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Thigh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it-IT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Sempit</a:t>
                      </a:r>
                      <a:r>
                        <a:rPr lang="it-IT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 paha, susah duduk."</a:t>
                      </a: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"It's </a:t>
                      </a:r>
                      <a:r>
                        <a:rPr lang="en-US" sz="2000" b="1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tight</a:t>
                      </a:r>
                      <a:r>
                        <a:rPr lang="en-US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 the thighs, it's hard to sit down."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889117"/>
                  </a:ext>
                </a:extLst>
              </a:tr>
              <a:tr h="802428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Kaki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20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Foot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i-FI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"Ujung kaki </a:t>
                      </a:r>
                      <a:r>
                        <a:rPr lang="fi-FI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sakit</a:t>
                      </a:r>
                      <a:r>
                        <a:rPr lang="fi-FI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sepatunya </a:t>
                      </a:r>
                      <a:r>
                        <a:rPr lang="fi-FI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kekecilan</a:t>
                      </a:r>
                      <a:r>
                        <a:rPr lang="fi-FI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"My toes </a:t>
                      </a:r>
                      <a:r>
                        <a:rPr lang="en-US" sz="2000" b="1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hurt</a:t>
                      </a:r>
                      <a:r>
                        <a:rPr lang="en-US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the shoes are </a:t>
                      </a:r>
                      <a:r>
                        <a:rPr lang="en-US" sz="2000" b="1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 small</a:t>
                      </a:r>
                      <a:r>
                        <a:rPr lang="en-US" sz="20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8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97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D2F41F-8375-66A5-1747-4C0BC1168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170209"/>
              </p:ext>
            </p:extLst>
          </p:nvPr>
        </p:nvGraphicFramePr>
        <p:xfrm>
          <a:off x="413467" y="333955"/>
          <a:ext cx="11203389" cy="5359178"/>
        </p:xfrm>
        <a:graphic>
          <a:graphicData uri="http://schemas.openxmlformats.org/drawingml/2006/table">
            <a:tbl>
              <a:tblPr/>
              <a:tblGrid>
                <a:gridCol w="1503017">
                  <a:extLst>
                    <a:ext uri="{9D8B030D-6E8A-4147-A177-3AD203B41FA5}">
                      <a16:colId xmlns:a16="http://schemas.microsoft.com/office/drawing/2014/main" val="2218671568"/>
                    </a:ext>
                  </a:extLst>
                </a:gridCol>
                <a:gridCol w="1626095">
                  <a:extLst>
                    <a:ext uri="{9D8B030D-6E8A-4147-A177-3AD203B41FA5}">
                      <a16:colId xmlns:a16="http://schemas.microsoft.com/office/drawing/2014/main" val="203955951"/>
                    </a:ext>
                  </a:extLst>
                </a:gridCol>
                <a:gridCol w="4029933">
                  <a:extLst>
                    <a:ext uri="{9D8B030D-6E8A-4147-A177-3AD203B41FA5}">
                      <a16:colId xmlns:a16="http://schemas.microsoft.com/office/drawing/2014/main" val="2437219944"/>
                    </a:ext>
                  </a:extLst>
                </a:gridCol>
                <a:gridCol w="4044344">
                  <a:extLst>
                    <a:ext uri="{9D8B030D-6E8A-4147-A177-3AD203B41FA5}">
                      <a16:colId xmlns:a16="http://schemas.microsoft.com/office/drawing/2014/main" val="1121712880"/>
                    </a:ext>
                  </a:extLst>
                </a:gridCol>
              </a:tblGrid>
              <a:tr h="458763">
                <a:tc>
                  <a:txBody>
                    <a:bodyPr/>
                    <a:lstStyle/>
                    <a:p>
                      <a:pPr rtl="0"/>
                      <a:r>
                        <a:rPr lang="en-ID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Kata (Indonesia)</a:t>
                      </a:r>
                      <a:endParaRPr lang="en-ID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Arti (English)</a:t>
                      </a:r>
                      <a:endParaRPr lang="en-ID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Context of Use (English Only)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Contoh Kalimat (Example)</a:t>
                      </a:r>
                      <a:endParaRPr lang="en-ID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957583"/>
                  </a:ext>
                </a:extLst>
              </a:tr>
              <a:tr h="834115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Sempit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Tight / Narrow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Used when clothes restrict movement or press against the skin (shoulders, thighs).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"Kemejanya </a:t>
                      </a:r>
                      <a:r>
                        <a:rPr lang="en-ID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sempit</a:t>
                      </a:r>
                      <a:r>
                        <a:rPr lang="en-ID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 bahu, saya susah gerak."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98902"/>
                  </a:ext>
                </a:extLst>
              </a:tr>
              <a:tr h="834115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Sesak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Tight / Suffocating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Used when clothes constrict breathing or feel heavy on the chest/stomach.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"Kancingnya </a:t>
                      </a:r>
                      <a:r>
                        <a:rPr lang="en-ID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sesak</a:t>
                      </a:r>
                      <a:r>
                        <a:rPr lang="en-ID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di leher."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961650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Longgar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Loose / Baggy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Used when there is too much empty space; requires a belt or resizing.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it-IT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"Celana ini </a:t>
                      </a:r>
                      <a:r>
                        <a:rPr lang="it-IT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longgar</a:t>
                      </a:r>
                      <a:r>
                        <a:rPr lang="it-IT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banget di pinggang."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934592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Kekecilan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 Small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 size issue (e.g., wearing S when you are L).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i-FI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"Sepatunya </a:t>
                      </a:r>
                      <a:r>
                        <a:rPr lang="fi-FI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kekecilan</a:t>
                      </a:r>
                      <a:r>
                        <a:rPr lang="fi-FI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jari saya sakit."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040038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Kebesaran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 Big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 size issue (e.g., wearing XL when you are M).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"Jas 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ini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kebesaran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saya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kelihatan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tenggelam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05801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Kepanjangan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 Long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Sleeves covering hands or pants dragging on the floor.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"Lengan kemejanya </a:t>
                      </a:r>
                      <a:r>
                        <a:rPr lang="en-ID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kepanjangan</a:t>
                      </a:r>
                      <a:r>
                        <a:rPr lang="en-ID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perlu dipotong."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175316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Kependekan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8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Too Short</a:t>
                      </a:r>
                      <a:endParaRPr lang="en-ID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Pants ending above ankles or shirt ending above the belly button.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Celananya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kependekan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kayak 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celana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D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banjir</a:t>
                      </a:r>
                      <a:r>
                        <a:rPr lang="en-ID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."</a:t>
                      </a: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63712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B9B06DF-7A69-C869-31B6-50E71F6E813B}"/>
              </a:ext>
            </a:extLst>
          </p:cNvPr>
          <p:cNvSpPr/>
          <p:nvPr/>
        </p:nvSpPr>
        <p:spPr>
          <a:xfrm>
            <a:off x="557852" y="5856217"/>
            <a:ext cx="40653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2800" b="1" dirty="0" err="1"/>
              <a:t>Tulis</a:t>
            </a:r>
            <a:r>
              <a:rPr lang="en-ID" sz="2800" b="1" dirty="0"/>
              <a:t> 5 </a:t>
            </a:r>
            <a:r>
              <a:rPr lang="en-ID" sz="2800" b="1" dirty="0" err="1"/>
              <a:t>kalimat</a:t>
            </a:r>
            <a:r>
              <a:rPr lang="en-ID" sz="2800" b="1" dirty="0"/>
              <a:t> </a:t>
            </a:r>
            <a:r>
              <a:rPr lang="en-ID" sz="2800" b="1" dirty="0" err="1"/>
              <a:t>dengan</a:t>
            </a:r>
            <a:r>
              <a:rPr lang="en-ID" sz="2800" b="1" dirty="0"/>
              <a:t> </a:t>
            </a:r>
            <a:r>
              <a:rPr lang="en-ID" sz="2800" b="1" dirty="0" err="1"/>
              <a:t>ini</a:t>
            </a:r>
            <a:r>
              <a:rPr lang="en-ID" sz="28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2728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B4ECDD-A346-4690-98D2-CD3DBA486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09271"/>
              </p:ext>
            </p:extLst>
          </p:nvPr>
        </p:nvGraphicFramePr>
        <p:xfrm>
          <a:off x="438150" y="223338"/>
          <a:ext cx="11315700" cy="5540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1575">
                  <a:extLst>
                    <a:ext uri="{9D8B030D-6E8A-4147-A177-3AD203B41FA5}">
                      <a16:colId xmlns:a16="http://schemas.microsoft.com/office/drawing/2014/main" val="480316283"/>
                    </a:ext>
                  </a:extLst>
                </a:gridCol>
                <a:gridCol w="5172501">
                  <a:extLst>
                    <a:ext uri="{9D8B030D-6E8A-4147-A177-3AD203B41FA5}">
                      <a16:colId xmlns:a16="http://schemas.microsoft.com/office/drawing/2014/main" val="1222338079"/>
                    </a:ext>
                  </a:extLst>
                </a:gridCol>
                <a:gridCol w="4121624">
                  <a:extLst>
                    <a:ext uri="{9D8B030D-6E8A-4147-A177-3AD203B41FA5}">
                      <a16:colId xmlns:a16="http://schemas.microsoft.com/office/drawing/2014/main" val="4156912026"/>
                    </a:ext>
                  </a:extLst>
                </a:gridCol>
              </a:tblGrid>
              <a:tr h="4541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Kata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English Description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(</a:t>
                      </a:r>
                      <a:r>
                        <a:rPr lang="en-ID" sz="2000" dirty="0" err="1">
                          <a:effectLst/>
                        </a:rPr>
                        <a:t>Kalimat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Contoh</a:t>
                      </a:r>
                      <a:r>
                        <a:rPr lang="en-ID" sz="2000" dirty="0">
                          <a:effectLst/>
                        </a:rPr>
                        <a:t>)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1526424"/>
                  </a:ext>
                </a:extLst>
              </a:tr>
              <a:tr h="885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Sekitar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Means around / approximately. Used before numbers or measurements to show an estimated amount.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 err="1">
                          <a:effectLst/>
                        </a:rPr>
                        <a:t>Harganya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sekitar</a:t>
                      </a:r>
                      <a:r>
                        <a:rPr lang="en-ID" sz="2000" dirty="0">
                          <a:effectLst/>
                        </a:rPr>
                        <a:t> 500 </a:t>
                      </a:r>
                      <a:r>
                        <a:rPr lang="en-ID" sz="2000" dirty="0" err="1">
                          <a:effectLst/>
                        </a:rPr>
                        <a:t>ribu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9888808"/>
                  </a:ext>
                </a:extLst>
              </a:tr>
              <a:tr h="6747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Kira-kira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Similar to about / roughly. Used for guessing or giving an uncertain number or time.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Harga sepatu itu kira-kira dua ratus ribu rupiah.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7907610"/>
                  </a:ext>
                </a:extLst>
              </a:tr>
              <a:tr h="885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Kisaran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Means range / scope. Used as a noun to show a range of values or amounts.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fi-FI" sz="2000" dirty="0">
                          <a:effectLst/>
                        </a:rPr>
                        <a:t>Ukurannya kisaran XL atau XXL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76144378"/>
                  </a:ext>
                </a:extLst>
              </a:tr>
              <a:tr h="6747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>
                          <a:effectLst/>
                        </a:rPr>
                        <a:t>Kurang lebih</a:t>
                      </a:r>
                      <a:endParaRPr lang="en-ID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Means more or less / approximately. Often used in formal or polite situations.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 err="1">
                          <a:effectLst/>
                        </a:rPr>
                        <a:t>Tingginya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kurang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lebih</a:t>
                      </a:r>
                      <a:r>
                        <a:rPr lang="en-ID" sz="2000" dirty="0">
                          <a:effectLst/>
                        </a:rPr>
                        <a:t> 190 cm.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2949230"/>
                  </a:ext>
                </a:extLst>
              </a:tr>
              <a:tr h="885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 err="1">
                          <a:effectLst/>
                        </a:rPr>
                        <a:t>Hampir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Means almost / nearly. Used to describe something close to a certain number, measurement, or limit.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>
                          <a:effectLst/>
                        </a:rPr>
                        <a:t>Tinggi badan Sebastian </a:t>
                      </a:r>
                      <a:r>
                        <a:rPr lang="en-ID" sz="2000" dirty="0" err="1">
                          <a:effectLst/>
                        </a:rPr>
                        <a:t>hampir</a:t>
                      </a:r>
                      <a:r>
                        <a:rPr lang="en-ID" sz="2000" dirty="0">
                          <a:effectLst/>
                        </a:rPr>
                        <a:t> dua meter.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3391346"/>
                  </a:ext>
                </a:extLst>
              </a:tr>
              <a:tr h="885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Pas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2000" dirty="0"/>
                        <a:t>Fits perfectly / Exact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ukuran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sepatunya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pas!</a:t>
                      </a:r>
                      <a:endParaRPr lang="en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598892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85E1C04-304F-496D-8666-94176938DAE8}"/>
              </a:ext>
            </a:extLst>
          </p:cNvPr>
          <p:cNvSpPr/>
          <p:nvPr/>
        </p:nvSpPr>
        <p:spPr>
          <a:xfrm>
            <a:off x="557852" y="5856217"/>
            <a:ext cx="47407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2800" b="1" dirty="0" err="1"/>
              <a:t>Tulis</a:t>
            </a:r>
            <a:r>
              <a:rPr lang="en-ID" sz="2800" b="1" dirty="0"/>
              <a:t> 5 </a:t>
            </a:r>
            <a:r>
              <a:rPr lang="en-ID" sz="2800" b="1" dirty="0" err="1"/>
              <a:t>kalimat</a:t>
            </a:r>
            <a:r>
              <a:rPr lang="en-ID" sz="2800" b="1" dirty="0"/>
              <a:t> </a:t>
            </a:r>
            <a:r>
              <a:rPr lang="en-ID" sz="2800" b="1" dirty="0" err="1"/>
              <a:t>dengan</a:t>
            </a:r>
            <a:r>
              <a:rPr lang="en-ID" sz="2800" b="1" dirty="0"/>
              <a:t> </a:t>
            </a:r>
            <a:r>
              <a:rPr lang="en-ID" sz="2800" b="1" dirty="0" err="1"/>
              <a:t>ukuran</a:t>
            </a:r>
            <a:r>
              <a:rPr lang="en-ID" sz="28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3508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73D365-3325-D208-1E45-32B1B2BC5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612115"/>
              </p:ext>
            </p:extLst>
          </p:nvPr>
        </p:nvGraphicFramePr>
        <p:xfrm>
          <a:off x="9528977" y="484638"/>
          <a:ext cx="1634656" cy="5141933"/>
        </p:xfrm>
        <a:graphic>
          <a:graphicData uri="http://schemas.openxmlformats.org/drawingml/2006/table">
            <a:tbl>
              <a:tblPr/>
              <a:tblGrid>
                <a:gridCol w="1634656">
                  <a:extLst>
                    <a:ext uri="{9D8B030D-6E8A-4147-A177-3AD203B41FA5}">
                      <a16:colId xmlns:a16="http://schemas.microsoft.com/office/drawing/2014/main" val="3406882960"/>
                    </a:ext>
                  </a:extLst>
                </a:gridCol>
              </a:tblGrid>
              <a:tr h="804419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Bahu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597286"/>
                  </a:ext>
                </a:extLst>
              </a:tr>
              <a:tr h="804419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Dada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95318"/>
                  </a:ext>
                </a:extLst>
              </a:tr>
              <a:tr h="1119838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Perut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06092"/>
                  </a:ext>
                </a:extLst>
              </a:tr>
              <a:tr h="804419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Pinggang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435384"/>
                  </a:ext>
                </a:extLst>
              </a:tr>
              <a:tr h="804419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Paha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802644"/>
                  </a:ext>
                </a:extLst>
              </a:tr>
              <a:tr h="804419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Kaki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0086" marR="80086" marT="53391" marB="53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31438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2731A7-A048-3B15-2A78-1E2045F0F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01580"/>
              </p:ext>
            </p:extLst>
          </p:nvPr>
        </p:nvGraphicFramePr>
        <p:xfrm>
          <a:off x="4638040" y="461458"/>
          <a:ext cx="1503017" cy="5546852"/>
        </p:xfrm>
        <a:graphic>
          <a:graphicData uri="http://schemas.openxmlformats.org/drawingml/2006/table">
            <a:tbl>
              <a:tblPr/>
              <a:tblGrid>
                <a:gridCol w="1503017">
                  <a:extLst>
                    <a:ext uri="{9D8B030D-6E8A-4147-A177-3AD203B41FA5}">
                      <a16:colId xmlns:a16="http://schemas.microsoft.com/office/drawing/2014/main" val="1035888450"/>
                    </a:ext>
                  </a:extLst>
                </a:gridCol>
              </a:tblGrid>
              <a:tr h="834115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Sempit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36267"/>
                  </a:ext>
                </a:extLst>
              </a:tr>
              <a:tr h="834115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Sesak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207956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Longgar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115414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Kekecilan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895015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Kebesaran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067034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Kepanjangan</a:t>
                      </a:r>
                      <a:endParaRPr lang="en-ID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355460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ID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Kependekan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303258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Pas</a:t>
                      </a:r>
                      <a:endParaRPr lang="en-ID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90519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7BC40DE-C59D-4D40-B223-9543B94B9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050592"/>
              </p:ext>
            </p:extLst>
          </p:nvPr>
        </p:nvGraphicFramePr>
        <p:xfrm>
          <a:off x="1238966" y="484638"/>
          <a:ext cx="1503017" cy="5546852"/>
        </p:xfrm>
        <a:graphic>
          <a:graphicData uri="http://schemas.openxmlformats.org/drawingml/2006/table">
            <a:tbl>
              <a:tblPr/>
              <a:tblGrid>
                <a:gridCol w="1503017">
                  <a:extLst>
                    <a:ext uri="{9D8B030D-6E8A-4147-A177-3AD203B41FA5}">
                      <a16:colId xmlns:a16="http://schemas.microsoft.com/office/drawing/2014/main" val="1240705380"/>
                    </a:ext>
                  </a:extLst>
                </a:gridCol>
              </a:tblGrid>
              <a:tr h="834115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Baju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300697"/>
                  </a:ext>
                </a:extLst>
              </a:tr>
              <a:tr h="834115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Kemeja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276077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Celana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114197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Jaket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206696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Sepatu 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607754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Kaos 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42785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rtl="0"/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Jas 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438211"/>
                  </a:ext>
                </a:extLst>
              </a:tr>
              <a:tr h="6464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Sarung</a:t>
                      </a: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endParaRPr lang="en-ID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922" marR="40922" marT="27281" marB="272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3376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BEB6249-59B9-38E7-5D18-8D5BD16D115E}"/>
              </a:ext>
            </a:extLst>
          </p:cNvPr>
          <p:cNvSpPr txBox="1"/>
          <p:nvPr/>
        </p:nvSpPr>
        <p:spPr>
          <a:xfrm>
            <a:off x="2996757" y="2773219"/>
            <a:ext cx="1503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="1" dirty="0">
                <a:solidFill>
                  <a:srgbClr val="1F1F1F"/>
                </a:solidFill>
                <a:effectLst/>
                <a:latin typeface="Google Sans Text"/>
              </a:rPr>
              <a:t>Nya / </a:t>
            </a:r>
            <a:r>
              <a:rPr lang="en-US" sz="2400" b="1" dirty="0" err="1">
                <a:solidFill>
                  <a:srgbClr val="1F1F1F"/>
                </a:solidFill>
                <a:effectLst/>
                <a:latin typeface="Google Sans Text"/>
              </a:rPr>
              <a:t>ini</a:t>
            </a:r>
            <a:endParaRPr lang="en-ID" sz="2400" b="1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890FC-6617-CD4B-A374-6FD81B93A88E}"/>
              </a:ext>
            </a:extLst>
          </p:cNvPr>
          <p:cNvSpPr txBox="1"/>
          <p:nvPr/>
        </p:nvSpPr>
        <p:spPr>
          <a:xfrm>
            <a:off x="7063079" y="2611733"/>
            <a:ext cx="1948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1F1F"/>
                </a:solidFill>
                <a:effectLst/>
                <a:latin typeface="Google Sans Text"/>
              </a:rPr>
              <a:t>Di </a:t>
            </a:r>
            <a:r>
              <a:rPr lang="en-US" sz="2400" b="1" dirty="0" err="1">
                <a:solidFill>
                  <a:srgbClr val="1F1F1F"/>
                </a:solidFill>
                <a:effectLst/>
                <a:latin typeface="Google Sans Text"/>
              </a:rPr>
              <a:t>sebelah</a:t>
            </a:r>
            <a:r>
              <a:rPr lang="en-US" sz="2400" b="1" dirty="0">
                <a:solidFill>
                  <a:srgbClr val="1F1F1F"/>
                </a:solidFill>
                <a:effectLst/>
                <a:latin typeface="Google Sans Text"/>
              </a:rPr>
              <a:t> /</a:t>
            </a:r>
          </a:p>
          <a:p>
            <a:r>
              <a:rPr lang="en-US" sz="2400" b="1" dirty="0" err="1">
                <a:solidFill>
                  <a:srgbClr val="1F1F1F"/>
                </a:solidFill>
                <a:effectLst/>
                <a:latin typeface="Google Sans Text"/>
              </a:rPr>
              <a:t>bagian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700376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0988-27A1-EFB2-3698-5A58E9BC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EDA2B0E-DDF0-1EEF-D327-7528C70E3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3" r="22105"/>
          <a:stretch/>
        </p:blipFill>
        <p:spPr bwMode="auto">
          <a:xfrm>
            <a:off x="-349856" y="0"/>
            <a:ext cx="3355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6A7E8E-7BD0-BA4A-E60F-9ED1D1544716}"/>
              </a:ext>
            </a:extLst>
          </p:cNvPr>
          <p:cNvSpPr/>
          <p:nvPr/>
        </p:nvSpPr>
        <p:spPr>
          <a:xfrm>
            <a:off x="3218213" y="683500"/>
            <a:ext cx="87645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600" b="1" dirty="0"/>
              <a:t>Baca </a:t>
            </a:r>
            <a:r>
              <a:rPr lang="en-ID" sz="3600" b="1" dirty="0" err="1"/>
              <a:t>teks</a:t>
            </a:r>
            <a:r>
              <a:rPr lang="en-ID" sz="3600" b="1" dirty="0"/>
              <a:t> di Microsoft word</a:t>
            </a:r>
          </a:p>
          <a:p>
            <a:r>
              <a:rPr lang="en-ID" sz="3600" b="1" dirty="0" err="1"/>
              <a:t>Praktik</a:t>
            </a:r>
            <a:r>
              <a:rPr lang="en-ID" sz="3600" b="1" dirty="0"/>
              <a:t> </a:t>
            </a:r>
            <a:r>
              <a:rPr lang="en-ID" sz="3600" b="1" dirty="0" err="1"/>
              <a:t>Bicara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2357993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573FDA3-AFD0-4DBD-A5AA-513779E132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24" t="474" r="44627" b="14287"/>
          <a:stretch/>
        </p:blipFill>
        <p:spPr bwMode="auto">
          <a:xfrm>
            <a:off x="0" y="0"/>
            <a:ext cx="4251366" cy="714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BF4B4F-C0DC-460E-B8FE-5A5425AD1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028301"/>
              </p:ext>
            </p:extLst>
          </p:nvPr>
        </p:nvGraphicFramePr>
        <p:xfrm>
          <a:off x="4503761" y="395785"/>
          <a:ext cx="7146118" cy="5622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73059">
                  <a:extLst>
                    <a:ext uri="{9D8B030D-6E8A-4147-A177-3AD203B41FA5}">
                      <a16:colId xmlns:a16="http://schemas.microsoft.com/office/drawing/2014/main" val="1478077578"/>
                    </a:ext>
                  </a:extLst>
                </a:gridCol>
                <a:gridCol w="3573059">
                  <a:extLst>
                    <a:ext uri="{9D8B030D-6E8A-4147-A177-3AD203B41FA5}">
                      <a16:colId xmlns:a16="http://schemas.microsoft.com/office/drawing/2014/main" val="1045578122"/>
                    </a:ext>
                  </a:extLst>
                </a:gridCol>
              </a:tblGrid>
              <a:tr h="5622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Bahasa Indonesia</a:t>
                      </a:r>
                      <a:endParaRPr lang="en-ID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Bahasa </a:t>
                      </a:r>
                      <a:r>
                        <a:rPr lang="en-ID" sz="3200" dirty="0" err="1">
                          <a:effectLst/>
                        </a:rPr>
                        <a:t>Inggris</a:t>
                      </a:r>
                      <a:endParaRPr lang="en-ID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89592255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 err="1">
                          <a:effectLst/>
                        </a:rPr>
                        <a:t>Kemeja</a:t>
                      </a:r>
                      <a:endParaRPr lang="en-ID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Shirt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7533331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Kaus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T-shirt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0833000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Gaun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Dress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6650447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Blus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Blouse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5968187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Jaket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Jacket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624968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Hoodie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Hoodie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5874026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Baju hangat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Sweater / Jumper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7591276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Rompi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Vest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8072370"/>
                  </a:ext>
                </a:extLst>
              </a:tr>
              <a:tr h="5622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 err="1">
                          <a:effectLst/>
                        </a:rPr>
                        <a:t>Dasi</a:t>
                      </a:r>
                      <a:endParaRPr lang="en-ID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Tie</a:t>
                      </a:r>
                      <a:endParaRPr lang="en-ID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329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47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AFED37F5-8865-4480-9A1C-5AC4BB8D6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3" r="10078"/>
          <a:stretch/>
        </p:blipFill>
        <p:spPr bwMode="auto">
          <a:xfrm>
            <a:off x="0" y="0"/>
            <a:ext cx="3633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D62A5B-C6A4-4155-BC2B-08D813008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84200"/>
              </p:ext>
            </p:extLst>
          </p:nvPr>
        </p:nvGraphicFramePr>
        <p:xfrm>
          <a:off x="3944203" y="559558"/>
          <a:ext cx="7929350" cy="55955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4675">
                  <a:extLst>
                    <a:ext uri="{9D8B030D-6E8A-4147-A177-3AD203B41FA5}">
                      <a16:colId xmlns:a16="http://schemas.microsoft.com/office/drawing/2014/main" val="519022517"/>
                    </a:ext>
                  </a:extLst>
                </a:gridCol>
                <a:gridCol w="3964675">
                  <a:extLst>
                    <a:ext uri="{9D8B030D-6E8A-4147-A177-3AD203B41FA5}">
                      <a16:colId xmlns:a16="http://schemas.microsoft.com/office/drawing/2014/main" val="2215852014"/>
                    </a:ext>
                  </a:extLst>
                </a:gridCol>
              </a:tblGrid>
              <a:tr h="5595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Bahasa Indonesia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Bahasa </a:t>
                      </a:r>
                      <a:r>
                        <a:rPr lang="en-ID" sz="3200" dirty="0" err="1">
                          <a:effectLst/>
                        </a:rPr>
                        <a:t>Inggris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3700918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Celana panjang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Pants / Trousers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17125604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Celana pendek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Shorts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63365943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Rok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Skirt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8491917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Celana ketat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Tights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0648833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Sepatu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Shoes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2215229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Sandal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Sandals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8308115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Sepatu bot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Boots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252985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Sandal 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Flip-flops / Slippers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9223142"/>
                  </a:ext>
                </a:extLst>
              </a:tr>
              <a:tr h="559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Kaus kaki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Socks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5273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4598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D6C058-5AD5-4EAF-837D-3EF9C60AB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126768"/>
              </p:ext>
            </p:extLst>
          </p:nvPr>
        </p:nvGraphicFramePr>
        <p:xfrm>
          <a:off x="3425588" y="341194"/>
          <a:ext cx="8338782" cy="59367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69391">
                  <a:extLst>
                    <a:ext uri="{9D8B030D-6E8A-4147-A177-3AD203B41FA5}">
                      <a16:colId xmlns:a16="http://schemas.microsoft.com/office/drawing/2014/main" val="415159014"/>
                    </a:ext>
                  </a:extLst>
                </a:gridCol>
                <a:gridCol w="4169391">
                  <a:extLst>
                    <a:ext uri="{9D8B030D-6E8A-4147-A177-3AD203B41FA5}">
                      <a16:colId xmlns:a16="http://schemas.microsoft.com/office/drawing/2014/main" val="1964760541"/>
                    </a:ext>
                  </a:extLst>
                </a:gridCol>
              </a:tblGrid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Mantel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Coat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71453352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Jas hujan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Raincoat / Trench coat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3719212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Topi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Hat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2578970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Syal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Scarf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5297959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Sarung tangan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Gloves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3606180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Ikat pinggang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Belt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12382219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Kacamata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Glasses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7526832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Kacamata hitam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Sunglasses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16346465"/>
                  </a:ext>
                </a:extLst>
              </a:tr>
              <a:tr h="6596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>
                          <a:effectLst/>
                        </a:rPr>
                        <a:t>Jam tangan</a:t>
                      </a:r>
                      <a:endParaRPr lang="en-ID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3200" dirty="0">
                          <a:effectLst/>
                        </a:rPr>
                        <a:t>Wristwatch</a:t>
                      </a:r>
                      <a:endParaRPr lang="en-ID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7462328"/>
                  </a:ext>
                </a:extLst>
              </a:tr>
            </a:tbl>
          </a:graphicData>
        </a:graphic>
      </p:graphicFrame>
      <p:pic>
        <p:nvPicPr>
          <p:cNvPr id="5124" name="Picture 4">
            <a:extLst>
              <a:ext uri="{FF2B5EF4-FFF2-40B4-BE49-F238E27FC236}">
                <a16:creationId xmlns:a16="http://schemas.microsoft.com/office/drawing/2014/main" id="{480C79A8-680B-4796-B3FD-449834959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17910"/>
          <a:stretch/>
        </p:blipFill>
        <p:spPr bwMode="auto">
          <a:xfrm>
            <a:off x="0" y="0"/>
            <a:ext cx="283873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639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BD3D638-BAFA-4E63-A8DD-1805C6A95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3" r="22105"/>
          <a:stretch/>
        </p:blipFill>
        <p:spPr bwMode="auto">
          <a:xfrm>
            <a:off x="0" y="0"/>
            <a:ext cx="3218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B05279-9C15-426F-8DA3-D483F87F2B60}"/>
              </a:ext>
            </a:extLst>
          </p:cNvPr>
          <p:cNvSpPr/>
          <p:nvPr/>
        </p:nvSpPr>
        <p:spPr>
          <a:xfrm>
            <a:off x="3218213" y="683500"/>
            <a:ext cx="8764521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Saya punya 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baju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kemeja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celana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panjang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favorit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Merek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bajunya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Versace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Warnanya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kuning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celananya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hitam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Ukuran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bajunya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ukuran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celananya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32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Saya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biasa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pakai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baju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saat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pergi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Harganya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sekitar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350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ribu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rupiah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Saya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beli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baju dan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celana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 </a:t>
            </a:r>
            <a:r>
              <a:rPr lang="en-ID" sz="30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toko</a:t>
            </a:r>
            <a:r>
              <a:rPr lang="en-ID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Versace Surabaya</a:t>
            </a:r>
            <a:r>
              <a:rPr lang="en-ID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461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F6A26-8DE4-4103-B06F-A58675D8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406" y="265597"/>
            <a:ext cx="6508668" cy="830879"/>
          </a:xfrm>
        </p:spPr>
        <p:txBody>
          <a:bodyPr/>
          <a:lstStyle/>
          <a:p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Bicara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0245C-8304-4ED9-8060-C2EFBD408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9737" y="1392072"/>
            <a:ext cx="7314063" cy="4784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/>
              <a:t>Jelaskan</a:t>
            </a:r>
            <a:r>
              <a:rPr lang="en-US" sz="3200" b="1" dirty="0"/>
              <a:t> </a:t>
            </a:r>
            <a:r>
              <a:rPr lang="en-US" sz="3200" b="1" dirty="0" err="1"/>
              <a:t>pakaian</a:t>
            </a:r>
            <a:r>
              <a:rPr lang="en-US" sz="3200" b="1" dirty="0"/>
              <a:t> </a:t>
            </a:r>
            <a:r>
              <a:rPr lang="en-US" sz="3200" b="1" dirty="0" err="1"/>
              <a:t>favorit</a:t>
            </a:r>
            <a:r>
              <a:rPr lang="en-US" sz="3200" b="1" dirty="0"/>
              <a:t> :</a:t>
            </a:r>
          </a:p>
          <a:p>
            <a:pPr marL="0" indent="0">
              <a:buNone/>
            </a:pPr>
            <a:r>
              <a:rPr lang="en-ID" sz="3200" b="1" dirty="0"/>
              <a:t>(baju, </a:t>
            </a:r>
            <a:r>
              <a:rPr lang="en-ID" sz="3200" b="1" dirty="0" err="1"/>
              <a:t>celana</a:t>
            </a:r>
            <a:r>
              <a:rPr lang="en-ID" sz="3200" b="1" dirty="0"/>
              <a:t> dan </a:t>
            </a:r>
            <a:r>
              <a:rPr lang="en-ID" sz="3200" b="1" dirty="0" err="1"/>
              <a:t>sepatu</a:t>
            </a:r>
            <a:r>
              <a:rPr lang="en-ID" sz="3200" b="1" dirty="0"/>
              <a:t>)</a:t>
            </a:r>
          </a:p>
          <a:p>
            <a:pPr marL="0" indent="0">
              <a:buNone/>
            </a:pPr>
            <a:r>
              <a:rPr lang="en-ID" sz="3200" b="1" dirty="0"/>
              <a:t>- </a:t>
            </a:r>
            <a:r>
              <a:rPr lang="en-ID" sz="3200" b="1" dirty="0" err="1"/>
              <a:t>merek</a:t>
            </a:r>
            <a:r>
              <a:rPr lang="en-ID" sz="3200" b="1" dirty="0"/>
              <a:t> (brand)</a:t>
            </a:r>
          </a:p>
          <a:p>
            <a:pPr>
              <a:buFontTx/>
              <a:buChar char="-"/>
            </a:pPr>
            <a:r>
              <a:rPr lang="en-US" sz="3200" b="1" dirty="0" err="1"/>
              <a:t>Warna</a:t>
            </a:r>
            <a:endParaRPr lang="en-US" sz="3200" b="1" dirty="0"/>
          </a:p>
          <a:p>
            <a:pPr>
              <a:buFontTx/>
              <a:buChar char="-"/>
            </a:pPr>
            <a:r>
              <a:rPr lang="en-US" sz="3200" b="1" dirty="0" err="1"/>
              <a:t>Ukuran</a:t>
            </a:r>
            <a:endParaRPr lang="en-US" sz="3200" b="1" dirty="0"/>
          </a:p>
          <a:p>
            <a:pPr>
              <a:buFontTx/>
              <a:buChar char="-"/>
            </a:pPr>
            <a:r>
              <a:rPr lang="en-US" sz="3200" b="1" dirty="0" err="1"/>
              <a:t>Harga</a:t>
            </a:r>
            <a:endParaRPr lang="en-US" sz="3200" b="1" dirty="0"/>
          </a:p>
          <a:p>
            <a:pPr>
              <a:buFontTx/>
              <a:buChar char="-"/>
            </a:pPr>
            <a:r>
              <a:rPr lang="en-US" sz="3200" b="1" dirty="0" err="1"/>
              <a:t>Beli</a:t>
            </a:r>
            <a:r>
              <a:rPr lang="en-US" sz="3200" b="1" dirty="0"/>
              <a:t> </a:t>
            </a:r>
            <a:r>
              <a:rPr lang="en-US" sz="3200" b="1" dirty="0" err="1"/>
              <a:t>dimana</a:t>
            </a:r>
            <a:endParaRPr lang="en-US" sz="3200" b="1" dirty="0"/>
          </a:p>
          <a:p>
            <a:pPr>
              <a:buFontTx/>
              <a:buChar char="-"/>
            </a:pPr>
            <a:r>
              <a:rPr lang="en-US" sz="3200" b="1" dirty="0"/>
              <a:t>Untuk acara </a:t>
            </a:r>
            <a:r>
              <a:rPr lang="en-US" sz="3200" b="1" dirty="0" err="1"/>
              <a:t>apa</a:t>
            </a:r>
            <a:endParaRPr lang="en-US" sz="3200" b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FED37F5-8865-4480-9A1C-5AC4BB8D69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3" r="10078"/>
          <a:stretch/>
        </p:blipFill>
        <p:spPr bwMode="auto">
          <a:xfrm>
            <a:off x="0" y="0"/>
            <a:ext cx="3633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109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B7CD-DC8E-48ED-94A9-840D866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100" name="Picture 4" descr="STORE - Inditex Careers">
            <a:extLst>
              <a:ext uri="{FF2B5EF4-FFF2-40B4-BE49-F238E27FC236}">
                <a16:creationId xmlns:a16="http://schemas.microsoft.com/office/drawing/2014/main" id="{59839DA2-B0E8-4C1E-99C1-6E67748C2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03"/>
            <a:ext cx="12192000" cy="685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39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771</Words>
  <Application>Microsoft Office PowerPoint</Application>
  <PresentationFormat>Widescreen</PresentationFormat>
  <Paragraphs>228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Google Sans Text</vt:lpstr>
      <vt:lpstr>Arial</vt:lpstr>
      <vt:lpstr>Calibri</vt:lpstr>
      <vt:lpstr>Calibri Light</vt:lpstr>
      <vt:lpstr>Constantia</vt:lpstr>
      <vt:lpstr>Times New Roman</vt:lpstr>
      <vt:lpstr>Office Theme</vt:lpstr>
      <vt:lpstr>PowerPoint Presentation</vt:lpstr>
      <vt:lpstr>PowerPoint Presentation</vt:lpstr>
      <vt:lpstr>PowerPoint Presentation</vt:lpstr>
      <vt:lpstr>Apa pakaian favoritmu?  Warna apa? Untuk acara apa? Pakaian favoritku adalah jas, jas warna coklat, untuk acara kerja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Praktik Bicara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ytabrianrizky@gmail.com</cp:lastModifiedBy>
  <cp:revision>3</cp:revision>
  <dcterms:created xsi:type="dcterms:W3CDTF">2025-10-19T12:48:29Z</dcterms:created>
  <dcterms:modified xsi:type="dcterms:W3CDTF">2026-02-16T02:57:27Z</dcterms:modified>
</cp:coreProperties>
</file>