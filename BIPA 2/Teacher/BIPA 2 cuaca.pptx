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50" autoAdjust="0"/>
    <p:restoredTop sz="94660"/>
  </p:normalViewPr>
  <p:slideViewPr>
    <p:cSldViewPr snapToGrid="0">
      <p:cViewPr varScale="1">
        <p:scale>
          <a:sx n="81" d="100"/>
          <a:sy n="81" d="100"/>
        </p:scale>
        <p:origin x="61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EB83-0848-491D-8F5C-0C6004A69E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4E67300C-083D-4002-844C-FD7001C6B7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0E00B0C5-A249-4F3E-833A-F777211AF6CE}"/>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5" name="Footer Placeholder 4">
            <a:extLst>
              <a:ext uri="{FF2B5EF4-FFF2-40B4-BE49-F238E27FC236}">
                <a16:creationId xmlns:a16="http://schemas.microsoft.com/office/drawing/2014/main" id="{FC85B5B3-9D4C-4904-9C90-2FD047CA49D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B7747BA-4D25-49D4-9909-A4376CC88CA5}"/>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487570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FCE99-C535-46A1-B67B-EE03E98039E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911C613B-0293-4FFE-9A60-49A1642E8A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622A4AB-1A78-46EB-B026-DD5825AD90D3}"/>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5" name="Footer Placeholder 4">
            <a:extLst>
              <a:ext uri="{FF2B5EF4-FFF2-40B4-BE49-F238E27FC236}">
                <a16:creationId xmlns:a16="http://schemas.microsoft.com/office/drawing/2014/main" id="{7A3912FD-0C01-4582-9FE0-43B1065CC40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0E631FE-5118-49DF-9004-A70FE84CCC7F}"/>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8001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F2CDD-1252-44F5-AD17-46395D6458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7C68CBDA-AFBD-4F4C-8025-E155DEB9D5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E40A89-5260-4BAD-B5AA-34328565E162}"/>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5" name="Footer Placeholder 4">
            <a:extLst>
              <a:ext uri="{FF2B5EF4-FFF2-40B4-BE49-F238E27FC236}">
                <a16:creationId xmlns:a16="http://schemas.microsoft.com/office/drawing/2014/main" id="{2D0A5782-B77A-4134-9871-B7B0F230C06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EF5F0FB-3198-473E-8C92-3E088EF1B07D}"/>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1612664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D52B-69C2-493B-A2F4-667AE787B5D7}"/>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0CD17FD-46BA-4A50-9389-08DED899CC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065F81F4-8788-4B44-9BA7-E44DE73E49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13554FE4-F45E-4928-93CF-02E4916242EC}"/>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6" name="Footer Placeholder 5">
            <a:extLst>
              <a:ext uri="{FF2B5EF4-FFF2-40B4-BE49-F238E27FC236}">
                <a16:creationId xmlns:a16="http://schemas.microsoft.com/office/drawing/2014/main" id="{F39FC637-BC79-4C15-BEB4-42113DBA57FF}"/>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BC3A6400-14C0-47CF-8DC5-678C4721A022}"/>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3041365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8C86-88D6-44B2-B164-C2574605961F}"/>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4E7CC2AA-8980-43C9-AE09-24813CF07C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6EAF0A-F173-4251-9CAB-B5FCFA1BBD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FA33D8B9-7FDB-4FFF-8D8B-8A89D4F117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F62003-59D6-4908-A8F4-8D4CD16D50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0FC86A94-E701-4D36-921A-59EBFF6ED510}"/>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8" name="Footer Placeholder 7">
            <a:extLst>
              <a:ext uri="{FF2B5EF4-FFF2-40B4-BE49-F238E27FC236}">
                <a16:creationId xmlns:a16="http://schemas.microsoft.com/office/drawing/2014/main" id="{6FD452F7-01CE-4DD6-AD6D-7C4F222B344E}"/>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E7DA0DC7-423E-4A2F-8985-158BB8DC4DDD}"/>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1358366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E12F-9E6E-463F-A8D7-6269A6016D06}"/>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AA36B5B2-6555-4984-820E-C811F15F7484}"/>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4" name="Footer Placeholder 3">
            <a:extLst>
              <a:ext uri="{FF2B5EF4-FFF2-40B4-BE49-F238E27FC236}">
                <a16:creationId xmlns:a16="http://schemas.microsoft.com/office/drawing/2014/main" id="{CA8876D4-E4D7-4EB9-AE89-CFA45621A869}"/>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A3938BD3-6817-4AB9-9A34-CAFB81B182FC}"/>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163096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7D08D3-B13D-4490-B11B-B48D2482F5E0}"/>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3" name="Footer Placeholder 2">
            <a:extLst>
              <a:ext uri="{FF2B5EF4-FFF2-40B4-BE49-F238E27FC236}">
                <a16:creationId xmlns:a16="http://schemas.microsoft.com/office/drawing/2014/main" id="{0D5A4BF7-CAA7-448B-BF22-00D9061684B5}"/>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841206C5-9178-40F9-825E-5CCEA3D0AF05}"/>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3508739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CAE15-6900-4AAA-B9E8-8D0EFF779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63293AD2-DFE7-40A7-896C-0694C66E44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5E14CC15-3AAE-4BBB-8886-37B5523A10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CE23A4-C1AF-44CC-9FAE-381B60949204}"/>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6" name="Footer Placeholder 5">
            <a:extLst>
              <a:ext uri="{FF2B5EF4-FFF2-40B4-BE49-F238E27FC236}">
                <a16:creationId xmlns:a16="http://schemas.microsoft.com/office/drawing/2014/main" id="{B6DBE2C0-C89E-4B1D-8845-171FC202CC0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8226EEF-E4F9-4A47-A657-55FC6C69B51C}"/>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429222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72D0-BB96-4631-B58A-3D8377EE6B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F55A2170-CEA5-422F-8DE7-C173381A1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8BB0E2C4-35A8-4475-87BF-9C5630C513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03B9A4-E2D6-4B47-A82B-60A307639060}"/>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6" name="Footer Placeholder 5">
            <a:extLst>
              <a:ext uri="{FF2B5EF4-FFF2-40B4-BE49-F238E27FC236}">
                <a16:creationId xmlns:a16="http://schemas.microsoft.com/office/drawing/2014/main" id="{C4E3B877-2C3C-4C2A-A77C-D5AE835BBA6D}"/>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300D8F7-247A-4F26-95B9-09CE1FE6C2EC}"/>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3051619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5688-3AF1-4615-9AB9-E5E4060F37A4}"/>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29D2AEE6-3B63-40B8-9462-FC43E8239D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0D253FB-5F2F-43D4-B12C-9F8F2EE6286B}"/>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5" name="Footer Placeholder 4">
            <a:extLst>
              <a:ext uri="{FF2B5EF4-FFF2-40B4-BE49-F238E27FC236}">
                <a16:creationId xmlns:a16="http://schemas.microsoft.com/office/drawing/2014/main" id="{214340BF-1D31-4463-AAB6-E817FEA59AB1}"/>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84EA3478-5008-4B63-BE3D-879225823745}"/>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122545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152D8F-7DA3-4474-9AD9-DAC4D9C513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15900317-849A-40B7-877C-3BA54DB794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844CEF74-E009-41CA-ABE3-C688914AF78D}"/>
              </a:ext>
            </a:extLst>
          </p:cNvPr>
          <p:cNvSpPr>
            <a:spLocks noGrp="1"/>
          </p:cNvSpPr>
          <p:nvPr>
            <p:ph type="dt" sz="half" idx="10"/>
          </p:nvPr>
        </p:nvSpPr>
        <p:spPr/>
        <p:txBody>
          <a:bodyPr/>
          <a:lstStyle/>
          <a:p>
            <a:fld id="{FFE837A2-F233-498C-85E3-169E2EE5EFE0}" type="datetimeFigureOut">
              <a:rPr lang="en-ID" smtClean="0"/>
              <a:t>14/10/2025</a:t>
            </a:fld>
            <a:endParaRPr lang="en-ID"/>
          </a:p>
        </p:txBody>
      </p:sp>
      <p:sp>
        <p:nvSpPr>
          <p:cNvPr id="5" name="Footer Placeholder 4">
            <a:extLst>
              <a:ext uri="{FF2B5EF4-FFF2-40B4-BE49-F238E27FC236}">
                <a16:creationId xmlns:a16="http://schemas.microsoft.com/office/drawing/2014/main" id="{E38BF122-A826-43B6-8DCF-A66F49E4EFF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D036C14-2DE9-4FD4-84F4-9E6AD49458A9}"/>
              </a:ext>
            </a:extLst>
          </p:cNvPr>
          <p:cNvSpPr>
            <a:spLocks noGrp="1"/>
          </p:cNvSpPr>
          <p:nvPr>
            <p:ph type="sldNum" sz="quarter" idx="12"/>
          </p:nvPr>
        </p:nvSpPr>
        <p:spPr/>
        <p:txBody>
          <a:bodyPr/>
          <a:lstStyle/>
          <a:p>
            <a:fld id="{0FC5B0BB-9E7A-417F-A8AD-5E0D148882DE}" type="slidenum">
              <a:rPr lang="en-ID" smtClean="0"/>
              <a:t>‹#›</a:t>
            </a:fld>
            <a:endParaRPr lang="en-ID"/>
          </a:p>
        </p:txBody>
      </p:sp>
    </p:spTree>
    <p:extLst>
      <p:ext uri="{BB962C8B-B14F-4D97-AF65-F5344CB8AC3E}">
        <p14:creationId xmlns:p14="http://schemas.microsoft.com/office/powerpoint/2010/main" val="1997055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B3D5D-9940-4CD8-A255-57E947CC82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151CFA0E-203D-4E91-9EFD-5723A0540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9488B34-BAE2-4BFE-B8E0-19BD9D5FA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E837A2-F233-498C-85E3-169E2EE5EFE0}" type="datetimeFigureOut">
              <a:rPr lang="en-ID" smtClean="0"/>
              <a:t>14/10/2025</a:t>
            </a:fld>
            <a:endParaRPr lang="en-ID"/>
          </a:p>
        </p:txBody>
      </p:sp>
      <p:sp>
        <p:nvSpPr>
          <p:cNvPr id="5" name="Footer Placeholder 4">
            <a:extLst>
              <a:ext uri="{FF2B5EF4-FFF2-40B4-BE49-F238E27FC236}">
                <a16:creationId xmlns:a16="http://schemas.microsoft.com/office/drawing/2014/main" id="{853E3F96-42A4-40D5-B263-57FFBD4D9B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5A2A78B5-331E-412E-82AD-0EE6FAED2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C5B0BB-9E7A-417F-A8AD-5E0D148882DE}" type="slidenum">
              <a:rPr lang="en-ID" smtClean="0"/>
              <a:t>‹#›</a:t>
            </a:fld>
            <a:endParaRPr lang="en-ID"/>
          </a:p>
        </p:txBody>
      </p:sp>
    </p:spTree>
    <p:extLst>
      <p:ext uri="{BB962C8B-B14F-4D97-AF65-F5344CB8AC3E}">
        <p14:creationId xmlns:p14="http://schemas.microsoft.com/office/powerpoint/2010/main" val="1156690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F0A88-8306-49DA-9B7E-414F06E366B8}"/>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933DAD24-292E-4685-8EA4-6A21B75728EA}"/>
              </a:ext>
            </a:extLst>
          </p:cNvPr>
          <p:cNvSpPr>
            <a:spLocks noGrp="1"/>
          </p:cNvSpPr>
          <p:nvPr>
            <p:ph idx="1"/>
          </p:nvPr>
        </p:nvSpPr>
        <p:spPr/>
        <p:txBody>
          <a:bodyPr/>
          <a:lstStyle/>
          <a:p>
            <a:endParaRPr lang="en-ID"/>
          </a:p>
        </p:txBody>
      </p:sp>
      <p:pic>
        <p:nvPicPr>
          <p:cNvPr id="1026" name="Picture 2" descr="My Favorite Weather 4K UHD Wallpaper for UltraHD Desktop and TV :  Widescreen and UltraWide Display : Smartphone and Tablet Devices">
            <a:extLst>
              <a:ext uri="{FF2B5EF4-FFF2-40B4-BE49-F238E27FC236}">
                <a16:creationId xmlns:a16="http://schemas.microsoft.com/office/drawing/2014/main" id="{7F2A72F1-59B9-491D-B90A-A5364874E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833D3C9-8D41-4811-9D05-4BC225A40390}"/>
              </a:ext>
            </a:extLst>
          </p:cNvPr>
          <p:cNvSpPr/>
          <p:nvPr/>
        </p:nvSpPr>
        <p:spPr>
          <a:xfrm>
            <a:off x="5572720" y="481641"/>
            <a:ext cx="6407395" cy="1785104"/>
          </a:xfrm>
          <a:prstGeom prst="rect">
            <a:avLst/>
          </a:prstGeom>
        </p:spPr>
        <p:txBody>
          <a:bodyPr wrap="none">
            <a:spAutoFit/>
          </a:bodyPr>
          <a:lstStyle/>
          <a:p>
            <a:pPr algn="r"/>
            <a:r>
              <a:rPr lang="en-GB" sz="6600" b="1" dirty="0" err="1"/>
              <a:t>Cuaca</a:t>
            </a:r>
            <a:r>
              <a:rPr lang="en-GB" sz="6600" b="1" dirty="0"/>
              <a:t> dan </a:t>
            </a:r>
            <a:r>
              <a:rPr lang="en-GB" sz="6600" b="1" dirty="0" err="1"/>
              <a:t>Musim</a:t>
            </a:r>
            <a:endParaRPr lang="en-GB" sz="6600" b="1" dirty="0"/>
          </a:p>
          <a:p>
            <a:pPr algn="r"/>
            <a:r>
              <a:rPr lang="en-GB" sz="4400" b="1" dirty="0"/>
              <a:t>BIPA 2 </a:t>
            </a:r>
            <a:r>
              <a:rPr lang="en-GB" sz="4400" b="1" dirty="0" err="1"/>
              <a:t>Kopenhagen</a:t>
            </a:r>
            <a:endParaRPr lang="en-ID" sz="6600" b="1" dirty="0"/>
          </a:p>
        </p:txBody>
      </p:sp>
    </p:spTree>
    <p:extLst>
      <p:ext uri="{BB962C8B-B14F-4D97-AF65-F5344CB8AC3E}">
        <p14:creationId xmlns:p14="http://schemas.microsoft.com/office/powerpoint/2010/main" val="4165345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Tes Kepribadian, Dari Pilihan Musim Ini Pilihanmu Akan Menggambarkan  Karakter Asli - Tribun-bali.com">
            <a:extLst>
              <a:ext uri="{FF2B5EF4-FFF2-40B4-BE49-F238E27FC236}">
                <a16:creationId xmlns:a16="http://schemas.microsoft.com/office/drawing/2014/main" id="{31696EB0-3500-401B-B5B0-4C36CF57B4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132" t="3572" r="20315" b="6971"/>
          <a:stretch/>
        </p:blipFill>
        <p:spPr bwMode="auto">
          <a:xfrm>
            <a:off x="3202534" y="947154"/>
            <a:ext cx="5786932" cy="4963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03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Rain Cloud Vector Art, Icons, and Graphics for Free Download">
            <a:extLst>
              <a:ext uri="{FF2B5EF4-FFF2-40B4-BE49-F238E27FC236}">
                <a16:creationId xmlns:a16="http://schemas.microsoft.com/office/drawing/2014/main" id="{FC3161F8-82DE-487C-8F43-2C20DEEBD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328" y="902854"/>
            <a:ext cx="2159765" cy="215976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Cloudy vector illustration weather vector kids illustration weather clipart  baby element kawaii | Premium Vector">
            <a:extLst>
              <a:ext uri="{FF2B5EF4-FFF2-40B4-BE49-F238E27FC236}">
                <a16:creationId xmlns:a16="http://schemas.microsoft.com/office/drawing/2014/main" id="{3777D448-CE8F-4504-9696-A8FEFF999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795" y="653677"/>
            <a:ext cx="2252972" cy="225297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Snow Flake Icon, Snow Sign, Symbol of Winter, Frozen, Christmas, New Year,  Vector, Illustration Stock Vector - Illustration of background, weather:  190920986">
            <a:extLst>
              <a:ext uri="{FF2B5EF4-FFF2-40B4-BE49-F238E27FC236}">
                <a16:creationId xmlns:a16="http://schemas.microsoft.com/office/drawing/2014/main" id="{3138A7AB-5E50-40AB-A43F-61F42992DC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6109" y="867122"/>
            <a:ext cx="1573481" cy="1573481"/>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1,905 Rolling Fog Stock Photos, High-Res Pictures, and Images - Getty  Images | Rolling fog on black">
            <a:extLst>
              <a:ext uri="{FF2B5EF4-FFF2-40B4-BE49-F238E27FC236}">
                <a16:creationId xmlns:a16="http://schemas.microsoft.com/office/drawing/2014/main" id="{3E17BE0B-2599-42E8-BEE1-C3D02EF6E3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2375" y="244486"/>
            <a:ext cx="3005693" cy="2003795"/>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What is wind shear? | Fox Weather">
            <a:extLst>
              <a:ext uri="{FF2B5EF4-FFF2-40B4-BE49-F238E27FC236}">
                <a16:creationId xmlns:a16="http://schemas.microsoft.com/office/drawing/2014/main" id="{3ECAF804-4567-47B6-9522-95A9B7D5AA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735" y="3857890"/>
            <a:ext cx="3172678" cy="1785819"/>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Thunderstorm Vectors - Download Free High-Quality Vectors from Freepik |  Freepik">
            <a:extLst>
              <a:ext uri="{FF2B5EF4-FFF2-40B4-BE49-F238E27FC236}">
                <a16:creationId xmlns:a16="http://schemas.microsoft.com/office/drawing/2014/main" id="{E83AF7C4-3215-4B1B-9F2B-F2AA68B746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1748" y="3815536"/>
            <a:ext cx="2926280" cy="1799709"/>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Heat wave Images - Free Download on Freepik">
            <a:extLst>
              <a:ext uri="{FF2B5EF4-FFF2-40B4-BE49-F238E27FC236}">
                <a16:creationId xmlns:a16="http://schemas.microsoft.com/office/drawing/2014/main" id="{461B851E-BD82-4256-95DB-E74BC09A84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80841" y="3577494"/>
            <a:ext cx="2236343" cy="223634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CAE7E35-E08C-419F-9E9F-0DC7CB3352D9}"/>
              </a:ext>
            </a:extLst>
          </p:cNvPr>
          <p:cNvSpPr/>
          <p:nvPr/>
        </p:nvSpPr>
        <p:spPr>
          <a:xfrm>
            <a:off x="251102" y="86011"/>
            <a:ext cx="4348563" cy="781111"/>
          </a:xfrm>
          <a:prstGeom prst="rect">
            <a:avLst/>
          </a:prstGeom>
        </p:spPr>
        <p:txBody>
          <a:bodyPr wrap="none">
            <a:spAutoFit/>
          </a:bodyPr>
          <a:lstStyle/>
          <a:p>
            <a:pPr marL="228600">
              <a:lnSpc>
                <a:spcPct val="107000"/>
              </a:lnSpc>
              <a:spcAft>
                <a:spcPts val="800"/>
              </a:spcAft>
            </a:pPr>
            <a:r>
              <a:rPr lang="en-ID" sz="4400" b="1" dirty="0" err="1">
                <a:latin typeface="Times New Roman" panose="02020603050405020304" pitchFamily="18" charset="0"/>
                <a:ea typeface="Times New Roman" panose="02020603050405020304" pitchFamily="18" charset="0"/>
                <a:cs typeface="Times New Roman" panose="02020603050405020304" pitchFamily="18" charset="0"/>
              </a:rPr>
              <a:t>Fenomena</a:t>
            </a:r>
            <a:r>
              <a:rPr lang="en-ID" sz="4400" b="1" dirty="0">
                <a:latin typeface="Times New Roman" panose="02020603050405020304" pitchFamily="18" charset="0"/>
                <a:ea typeface="Times New Roman" panose="02020603050405020304" pitchFamily="18" charset="0"/>
                <a:cs typeface="Times New Roman" panose="02020603050405020304" pitchFamily="18" charset="0"/>
              </a:rPr>
              <a:t> </a:t>
            </a:r>
            <a:r>
              <a:rPr lang="en-ID" sz="4400" b="1" dirty="0" err="1">
                <a:latin typeface="Times New Roman" panose="02020603050405020304" pitchFamily="18" charset="0"/>
                <a:ea typeface="Times New Roman" panose="02020603050405020304" pitchFamily="18" charset="0"/>
                <a:cs typeface="Times New Roman" panose="02020603050405020304" pitchFamily="18" charset="0"/>
              </a:rPr>
              <a:t>Alam</a:t>
            </a:r>
            <a:endParaRPr lang="en-ID"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40D45BEE-39B1-498B-8B65-97499C923594}"/>
              </a:ext>
            </a:extLst>
          </p:cNvPr>
          <p:cNvSpPr/>
          <p:nvPr/>
        </p:nvSpPr>
        <p:spPr>
          <a:xfrm>
            <a:off x="497825" y="2679143"/>
            <a:ext cx="1830848" cy="781111"/>
          </a:xfrm>
          <a:prstGeom prst="rect">
            <a:avLst/>
          </a:prstGeom>
        </p:spPr>
        <p:txBody>
          <a:bodyPr wrap="square">
            <a:spAutoFit/>
          </a:bodyPr>
          <a:lstStyle/>
          <a:p>
            <a:pPr marL="228600">
              <a:lnSpc>
                <a:spcPct val="107000"/>
              </a:lnSpc>
              <a:spcAft>
                <a:spcPts val="800"/>
              </a:spcAft>
            </a:pPr>
            <a:r>
              <a:rPr lang="en-ID" sz="4400" b="1" dirty="0" err="1">
                <a:latin typeface="Times New Roman" panose="02020603050405020304" pitchFamily="18" charset="0"/>
                <a:ea typeface="Times New Roman" panose="02020603050405020304" pitchFamily="18" charset="0"/>
                <a:cs typeface="Times New Roman" panose="02020603050405020304" pitchFamily="18" charset="0"/>
              </a:rPr>
              <a:t>hujan</a:t>
            </a:r>
            <a:endParaRPr lang="en-ID"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Rectangle 18">
            <a:extLst>
              <a:ext uri="{FF2B5EF4-FFF2-40B4-BE49-F238E27FC236}">
                <a16:creationId xmlns:a16="http://schemas.microsoft.com/office/drawing/2014/main" id="{900872A7-E4ED-4D5B-9068-5023F904D897}"/>
              </a:ext>
            </a:extLst>
          </p:cNvPr>
          <p:cNvSpPr/>
          <p:nvPr/>
        </p:nvSpPr>
        <p:spPr>
          <a:xfrm>
            <a:off x="2866983" y="2726384"/>
            <a:ext cx="2762252" cy="655885"/>
          </a:xfrm>
          <a:prstGeom prst="rect">
            <a:avLst/>
          </a:prstGeom>
        </p:spPr>
        <p:txBody>
          <a:bodyPr wrap="square">
            <a:spAutoFit/>
          </a:bodyPr>
          <a:lstStyle/>
          <a:p>
            <a:pPr marL="228600">
              <a:lnSpc>
                <a:spcPct val="107000"/>
              </a:lnSpc>
              <a:spcAft>
                <a:spcPts val="800"/>
              </a:spcAft>
            </a:pPr>
            <a:r>
              <a:rPr lang="en-ID" sz="3600" b="1" dirty="0" err="1">
                <a:latin typeface="Times New Roman" panose="02020603050405020304" pitchFamily="18" charset="0"/>
                <a:ea typeface="Times New Roman" panose="02020603050405020304" pitchFamily="18" charset="0"/>
                <a:cs typeface="Times New Roman" panose="02020603050405020304" pitchFamily="18" charset="0"/>
              </a:rPr>
              <a:t>mendung</a:t>
            </a:r>
            <a:endParaRPr lang="en-ID"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Rectangle 19">
            <a:extLst>
              <a:ext uri="{FF2B5EF4-FFF2-40B4-BE49-F238E27FC236}">
                <a16:creationId xmlns:a16="http://schemas.microsoft.com/office/drawing/2014/main" id="{C795B2DA-8E17-412D-ABF3-5FE0B1D4D467}"/>
              </a:ext>
            </a:extLst>
          </p:cNvPr>
          <p:cNvSpPr/>
          <p:nvPr/>
        </p:nvSpPr>
        <p:spPr>
          <a:xfrm>
            <a:off x="8937549" y="2450974"/>
            <a:ext cx="2117431" cy="781111"/>
          </a:xfrm>
          <a:prstGeom prst="rect">
            <a:avLst/>
          </a:prstGeom>
        </p:spPr>
        <p:txBody>
          <a:bodyPr wrap="square">
            <a:spAutoFit/>
          </a:bodyPr>
          <a:lstStyle/>
          <a:p>
            <a:pPr marL="228600">
              <a:lnSpc>
                <a:spcPct val="107000"/>
              </a:lnSpc>
              <a:spcAft>
                <a:spcPts val="800"/>
              </a:spcAft>
            </a:pPr>
            <a:r>
              <a:rPr lang="en-ID" sz="4400" b="1" dirty="0" err="1">
                <a:latin typeface="Times New Roman" panose="02020603050405020304" pitchFamily="18" charset="0"/>
                <a:ea typeface="Times New Roman" panose="02020603050405020304" pitchFamily="18" charset="0"/>
                <a:cs typeface="Times New Roman" panose="02020603050405020304" pitchFamily="18" charset="0"/>
              </a:rPr>
              <a:t>kabut</a:t>
            </a:r>
            <a:endParaRPr lang="en-ID"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B85F5EEC-4D04-4723-B5C6-1B92D0BD5DDC}"/>
              </a:ext>
            </a:extLst>
          </p:cNvPr>
          <p:cNvSpPr/>
          <p:nvPr/>
        </p:nvSpPr>
        <p:spPr>
          <a:xfrm>
            <a:off x="1275711" y="5813839"/>
            <a:ext cx="1830848" cy="781111"/>
          </a:xfrm>
          <a:prstGeom prst="rect">
            <a:avLst/>
          </a:prstGeom>
        </p:spPr>
        <p:txBody>
          <a:bodyPr wrap="square">
            <a:spAutoFit/>
          </a:bodyPr>
          <a:lstStyle/>
          <a:p>
            <a:pPr marL="228600">
              <a:lnSpc>
                <a:spcPct val="107000"/>
              </a:lnSpc>
              <a:spcAft>
                <a:spcPts val="800"/>
              </a:spcAft>
            </a:pPr>
            <a:r>
              <a:rPr lang="en-ID" sz="4400" b="1" dirty="0" err="1">
                <a:latin typeface="Times New Roman" panose="02020603050405020304" pitchFamily="18" charset="0"/>
                <a:ea typeface="Times New Roman" panose="02020603050405020304" pitchFamily="18" charset="0"/>
                <a:cs typeface="Times New Roman" panose="02020603050405020304" pitchFamily="18" charset="0"/>
              </a:rPr>
              <a:t>badai</a:t>
            </a:r>
            <a:endParaRPr lang="en-ID"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78888357-74AB-4BD8-A312-B6E2F424A47B}"/>
              </a:ext>
            </a:extLst>
          </p:cNvPr>
          <p:cNvSpPr/>
          <p:nvPr/>
        </p:nvSpPr>
        <p:spPr>
          <a:xfrm>
            <a:off x="5522203" y="5813838"/>
            <a:ext cx="1830848" cy="781111"/>
          </a:xfrm>
          <a:prstGeom prst="rect">
            <a:avLst/>
          </a:prstGeom>
        </p:spPr>
        <p:txBody>
          <a:bodyPr wrap="square">
            <a:spAutoFit/>
          </a:bodyPr>
          <a:lstStyle/>
          <a:p>
            <a:pPr marL="228600">
              <a:lnSpc>
                <a:spcPct val="107000"/>
              </a:lnSpc>
              <a:spcAft>
                <a:spcPts val="800"/>
              </a:spcAft>
            </a:pPr>
            <a:r>
              <a:rPr lang="en-ID" sz="4400" b="1" dirty="0" err="1">
                <a:latin typeface="Times New Roman" panose="02020603050405020304" pitchFamily="18" charset="0"/>
                <a:ea typeface="Times New Roman" panose="02020603050405020304" pitchFamily="18" charset="0"/>
                <a:cs typeface="Times New Roman" panose="02020603050405020304" pitchFamily="18" charset="0"/>
              </a:rPr>
              <a:t>petir</a:t>
            </a:r>
            <a:endParaRPr lang="en-ID"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36BFFC8B-B603-4C85-AC59-B45B386A1417}"/>
              </a:ext>
            </a:extLst>
          </p:cNvPr>
          <p:cNvSpPr/>
          <p:nvPr/>
        </p:nvSpPr>
        <p:spPr>
          <a:xfrm>
            <a:off x="8342375" y="5831303"/>
            <a:ext cx="3654056" cy="655885"/>
          </a:xfrm>
          <a:prstGeom prst="rect">
            <a:avLst/>
          </a:prstGeom>
        </p:spPr>
        <p:txBody>
          <a:bodyPr wrap="square">
            <a:spAutoFit/>
          </a:bodyPr>
          <a:lstStyle/>
          <a:p>
            <a:pPr marL="228600">
              <a:lnSpc>
                <a:spcPct val="107000"/>
              </a:lnSpc>
              <a:spcAft>
                <a:spcPts val="800"/>
              </a:spcAft>
            </a:pPr>
            <a:r>
              <a:rPr lang="en-US" sz="3600" b="1" dirty="0" err="1">
                <a:effectLst/>
                <a:latin typeface="Times New Roman" panose="02020603050405020304" pitchFamily="18" charset="0"/>
                <a:ea typeface="Calibri" panose="020F0502020204030204" pitchFamily="34" charset="0"/>
                <a:cs typeface="Times New Roman" panose="02020603050405020304" pitchFamily="18" charset="0"/>
              </a:rPr>
              <a:t>Serangan</a:t>
            </a: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3600" b="1" dirty="0" err="1">
                <a:effectLst/>
                <a:latin typeface="Times New Roman" panose="02020603050405020304" pitchFamily="18" charset="0"/>
                <a:ea typeface="Calibri" panose="020F0502020204030204" pitchFamily="34" charset="0"/>
                <a:cs typeface="Times New Roman" panose="02020603050405020304" pitchFamily="18" charset="0"/>
              </a:rPr>
              <a:t>panas</a:t>
            </a:r>
            <a:endParaRPr lang="en-ID"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60FF4CE3-A8D3-4348-94BB-83F3A887593A}"/>
              </a:ext>
            </a:extLst>
          </p:cNvPr>
          <p:cNvSpPr/>
          <p:nvPr/>
        </p:nvSpPr>
        <p:spPr>
          <a:xfrm>
            <a:off x="5886109" y="2714521"/>
            <a:ext cx="1573481" cy="655885"/>
          </a:xfrm>
          <a:prstGeom prst="rect">
            <a:avLst/>
          </a:prstGeom>
        </p:spPr>
        <p:txBody>
          <a:bodyPr wrap="square">
            <a:spAutoFit/>
          </a:bodyPr>
          <a:lstStyle/>
          <a:p>
            <a:pPr marL="228600">
              <a:lnSpc>
                <a:spcPct val="107000"/>
              </a:lnSpc>
              <a:spcAft>
                <a:spcPts val="800"/>
              </a:spcAft>
            </a:pPr>
            <a:r>
              <a:rPr lang="en-ID" sz="3600" b="1" dirty="0" err="1">
                <a:latin typeface="Times New Roman" panose="02020603050405020304" pitchFamily="18" charset="0"/>
                <a:ea typeface="Times New Roman" panose="02020603050405020304" pitchFamily="18" charset="0"/>
                <a:cs typeface="Times New Roman" panose="02020603050405020304" pitchFamily="18" charset="0"/>
              </a:rPr>
              <a:t>salju</a:t>
            </a:r>
            <a:endParaRPr lang="en-ID"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6620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243CF0-E4CB-4144-A9A9-C87383BF9613}"/>
              </a:ext>
            </a:extLst>
          </p:cNvPr>
          <p:cNvSpPr/>
          <p:nvPr/>
        </p:nvSpPr>
        <p:spPr>
          <a:xfrm>
            <a:off x="145542" y="145733"/>
            <a:ext cx="3393305" cy="6542047"/>
          </a:xfrm>
          <a:prstGeom prst="rect">
            <a:avLst/>
          </a:prstGeom>
        </p:spPr>
        <p:txBody>
          <a:bodyPr wrap="square" numCol="1">
            <a:spAutoFit/>
          </a:bodyPr>
          <a:lstStyle/>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Panas</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hot</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Dingin</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cold</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Hangat</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warm</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Sejuk</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cool, fresh</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Lembap</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humid</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Kering</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dry</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Berangin</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windy</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Mendung</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cloudy</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Terang</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bright</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Gelap</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dark</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Cerah</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clear, sunny</a:t>
            </a: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Hujan</a:t>
            </a:r>
            <a:r>
              <a:rPr lang="en-ID"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angin</a:t>
            </a:r>
            <a:r>
              <a:rPr lang="en-ID" sz="2400" b="1"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stormy</a:t>
            </a:r>
          </a:p>
          <a:p>
            <a:pPr marL="228600">
              <a:spcAft>
                <a:spcPts val="800"/>
              </a:spcAft>
            </a:pP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Basah</a:t>
            </a:r>
            <a:r>
              <a:rPr lang="en-ID" sz="2400" b="1"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i="1" dirty="0">
                <a:latin typeface="Times New Roman" panose="02020603050405020304" pitchFamily="18" charset="0"/>
                <a:ea typeface="Times New Roman" panose="02020603050405020304" pitchFamily="18" charset="0"/>
                <a:cs typeface="Times New Roman" panose="02020603050405020304" pitchFamily="18" charset="0"/>
              </a:rPr>
              <a:t>wet  </a:t>
            </a:r>
          </a:p>
          <a:p>
            <a:pPr marL="228600">
              <a:lnSpc>
                <a:spcPct val="107000"/>
              </a:lnSpc>
              <a:spcAft>
                <a:spcPts val="800"/>
              </a:spcAft>
            </a:pP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076" name="Picture 4" descr="17,200+ Dry Climate Stock Illustrations, Royalty-Free Vector Graphics &amp;  Clip Art - iStock | Humid climate, Tropical, Sun">
            <a:extLst>
              <a:ext uri="{FF2B5EF4-FFF2-40B4-BE49-F238E27FC236}">
                <a16:creationId xmlns:a16="http://schemas.microsoft.com/office/drawing/2014/main" id="{45E2997C-4CAD-47AD-A66C-82910E19A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6486" y="3696972"/>
            <a:ext cx="5255514" cy="316102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9410458-1D19-4500-919A-256D4442F098}"/>
              </a:ext>
            </a:extLst>
          </p:cNvPr>
          <p:cNvSpPr/>
          <p:nvPr/>
        </p:nvSpPr>
        <p:spPr>
          <a:xfrm>
            <a:off x="6731978" y="149698"/>
            <a:ext cx="5664529" cy="2009909"/>
          </a:xfrm>
          <a:prstGeom prst="rect">
            <a:avLst/>
          </a:prstGeom>
        </p:spPr>
        <p:txBody>
          <a:bodyPr wrap="square" numCol="1">
            <a:spAutoFit/>
          </a:bodyPr>
          <a:lstStyle/>
          <a:p>
            <a:pPr marL="228600">
              <a:lnSpc>
                <a:spcPct val="107000"/>
              </a:lnSpc>
              <a:spcAft>
                <a:spcPts val="800"/>
              </a:spcAft>
            </a:pPr>
            <a:r>
              <a:rPr lang="en-ID" sz="3600" dirty="0" err="1"/>
              <a:t>bagaimana</a:t>
            </a:r>
            <a:r>
              <a:rPr lang="en-ID" sz="3600" dirty="0"/>
              <a:t> </a:t>
            </a:r>
            <a:r>
              <a:rPr lang="en-ID" sz="3600" dirty="0" err="1"/>
              <a:t>cuaca</a:t>
            </a:r>
            <a:r>
              <a:rPr lang="en-ID" sz="3600" dirty="0"/>
              <a:t> di </a:t>
            </a:r>
            <a:r>
              <a:rPr lang="en-ID" sz="3600" dirty="0" err="1"/>
              <a:t>tempatmu</a:t>
            </a:r>
            <a:r>
              <a:rPr lang="en-ID" sz="3600" dirty="0"/>
              <a:t>?</a:t>
            </a:r>
          </a:p>
          <a:p>
            <a:pPr marL="228600">
              <a:lnSpc>
                <a:spcPct val="107000"/>
              </a:lnSpc>
              <a:spcAft>
                <a:spcPts val="800"/>
              </a:spcAft>
            </a:pPr>
            <a:r>
              <a:rPr lang="en-ID" sz="3600" dirty="0" err="1">
                <a:effectLst/>
                <a:latin typeface="Calibri" panose="020F0502020204030204" pitchFamily="34" charset="0"/>
                <a:ea typeface="Calibri" panose="020F0502020204030204" pitchFamily="34" charset="0"/>
                <a:cs typeface="Times New Roman" panose="02020603050405020304" pitchFamily="18" charset="0"/>
              </a:rPr>
              <a:t>Cuaca</a:t>
            </a:r>
            <a:r>
              <a:rPr lang="en-ID" sz="3600" dirty="0">
                <a:effectLst/>
                <a:latin typeface="Calibri" panose="020F0502020204030204" pitchFamily="34" charset="0"/>
                <a:ea typeface="Calibri" panose="020F0502020204030204" pitchFamily="34" charset="0"/>
                <a:cs typeface="Times New Roman" panose="02020603050405020304" pitchFamily="18" charset="0"/>
              </a:rPr>
              <a:t> di </a:t>
            </a:r>
            <a:r>
              <a:rPr lang="en-ID" sz="3600" dirty="0" err="1">
                <a:effectLst/>
                <a:latin typeface="Calibri" panose="020F0502020204030204" pitchFamily="34" charset="0"/>
                <a:ea typeface="Calibri" panose="020F0502020204030204" pitchFamily="34" charset="0"/>
                <a:cs typeface="Times New Roman" panose="02020603050405020304" pitchFamily="18" charset="0"/>
              </a:rPr>
              <a:t>sini</a:t>
            </a:r>
            <a:r>
              <a:rPr lang="en-ID" sz="3600" dirty="0">
                <a:effectLst/>
                <a:latin typeface="Calibri" panose="020F0502020204030204" pitchFamily="34" charset="0"/>
                <a:ea typeface="Calibri" panose="020F0502020204030204" pitchFamily="34" charset="0"/>
                <a:cs typeface="Times New Roman" panose="02020603050405020304" pitchFamily="18" charset="0"/>
              </a:rPr>
              <a:t> …..</a:t>
            </a:r>
            <a:endParaRPr lang="en-ID" sz="4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5F8B8292-CB3B-41FA-A075-7DC79B837D7D}"/>
              </a:ext>
            </a:extLst>
          </p:cNvPr>
          <p:cNvSpPr/>
          <p:nvPr/>
        </p:nvSpPr>
        <p:spPr>
          <a:xfrm>
            <a:off x="2983216" y="170220"/>
            <a:ext cx="3393305" cy="1350883"/>
          </a:xfrm>
          <a:prstGeom prst="rect">
            <a:avLst/>
          </a:prstGeom>
        </p:spPr>
        <p:txBody>
          <a:bodyPr wrap="square" numCol="1">
            <a:spAutoFit/>
          </a:bodyPr>
          <a:lstStyle/>
          <a:p>
            <a:pPr marL="228600">
              <a:spcAft>
                <a:spcPts val="800"/>
              </a:spcAft>
            </a:pPr>
            <a:r>
              <a:rPr lang="en-ID"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ID" sz="2400" b="1" dirty="0" err="1">
                <a:latin typeface="Times New Roman" panose="02020603050405020304" pitchFamily="18" charset="0"/>
                <a:ea typeface="Times New Roman" panose="02020603050405020304" pitchFamily="18" charset="0"/>
                <a:cs typeface="Times New Roman" panose="02020603050405020304" pitchFamily="18" charset="0"/>
              </a:rPr>
              <a:t>gerimis</a:t>
            </a:r>
            <a:r>
              <a:rPr lang="en-ID" sz="2400" b="1" dirty="0">
                <a:latin typeface="Times New Roman" panose="02020603050405020304" pitchFamily="18" charset="0"/>
                <a:ea typeface="Times New Roman" panose="02020603050405020304" pitchFamily="18" charset="0"/>
                <a:cs typeface="Times New Roman" panose="02020603050405020304" pitchFamily="18" charset="0"/>
              </a:rPr>
              <a:t> – </a:t>
            </a:r>
            <a:r>
              <a:rPr lang="en-ID" sz="2400" dirty="0">
                <a:latin typeface="Times New Roman" panose="02020603050405020304" pitchFamily="18" charset="0"/>
                <a:ea typeface="Times New Roman" panose="02020603050405020304" pitchFamily="18" charset="0"/>
                <a:cs typeface="Times New Roman" panose="02020603050405020304" pitchFamily="18" charset="0"/>
              </a:rPr>
              <a:t>drizzle</a:t>
            </a:r>
          </a:p>
          <a:p>
            <a:pPr marL="228600">
              <a:spcAft>
                <a:spcPts val="800"/>
              </a:spcAft>
            </a:pPr>
            <a:endParaRPr lang="en-ID" sz="2400" i="1" dirty="0">
              <a:latin typeface="Times New Roman" panose="02020603050405020304" pitchFamily="18" charset="0"/>
              <a:ea typeface="Times New Roman" panose="02020603050405020304" pitchFamily="18" charset="0"/>
              <a:cs typeface="Times New Roman" panose="02020603050405020304" pitchFamily="18" charset="0"/>
            </a:endParaRPr>
          </a:p>
          <a:p>
            <a:pPr marL="228600">
              <a:lnSpc>
                <a:spcPct val="107000"/>
              </a:lnSpc>
              <a:spcAft>
                <a:spcPts val="800"/>
              </a:spcAft>
            </a:pP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8328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27581-0F10-41DE-8E05-0F341D6635B3}"/>
              </a:ext>
            </a:extLst>
          </p:cNvPr>
          <p:cNvSpPr>
            <a:spLocks noGrp="1"/>
          </p:cNvSpPr>
          <p:nvPr>
            <p:ph type="title"/>
          </p:nvPr>
        </p:nvSpPr>
        <p:spPr>
          <a:xfrm>
            <a:off x="838200" y="85535"/>
            <a:ext cx="10515600" cy="776098"/>
          </a:xfrm>
        </p:spPr>
        <p:txBody>
          <a:bodyPr/>
          <a:lstStyle/>
          <a:p>
            <a:pPr algn="ctr"/>
            <a:r>
              <a:rPr lang="en-US" b="1" dirty="0" err="1"/>
              <a:t>Cuaca</a:t>
            </a:r>
            <a:r>
              <a:rPr lang="en-US" b="1" dirty="0"/>
              <a:t> </a:t>
            </a:r>
            <a:r>
              <a:rPr lang="en-US" b="1" dirty="0" err="1"/>
              <a:t>hari</a:t>
            </a:r>
            <a:r>
              <a:rPr lang="en-US" b="1" dirty="0"/>
              <a:t> ini</a:t>
            </a:r>
            <a:endParaRPr lang="en-ID" b="1" dirty="0"/>
          </a:p>
        </p:txBody>
      </p:sp>
      <p:sp>
        <p:nvSpPr>
          <p:cNvPr id="3" name="Content Placeholder 2">
            <a:extLst>
              <a:ext uri="{FF2B5EF4-FFF2-40B4-BE49-F238E27FC236}">
                <a16:creationId xmlns:a16="http://schemas.microsoft.com/office/drawing/2014/main" id="{00D55E7E-EB77-497A-8BD4-60E252FE4B86}"/>
              </a:ext>
            </a:extLst>
          </p:cNvPr>
          <p:cNvSpPr>
            <a:spLocks noGrp="1"/>
          </p:cNvSpPr>
          <p:nvPr>
            <p:ph idx="1"/>
          </p:nvPr>
        </p:nvSpPr>
        <p:spPr>
          <a:xfrm>
            <a:off x="838200" y="861633"/>
            <a:ext cx="10515600" cy="2567367"/>
          </a:xfrm>
        </p:spPr>
        <p:txBody>
          <a:bodyPr/>
          <a:lstStyle/>
          <a:p>
            <a:pPr marL="0" indent="0" algn="just">
              <a:buNone/>
            </a:pPr>
            <a:r>
              <a:rPr lang="en-ID" dirty="0"/>
              <a:t>Hari </a:t>
            </a:r>
            <a:r>
              <a:rPr lang="en-ID" dirty="0" err="1"/>
              <a:t>ini</a:t>
            </a:r>
            <a:r>
              <a:rPr lang="en-ID" dirty="0"/>
              <a:t> </a:t>
            </a:r>
            <a:r>
              <a:rPr lang="en-ID" dirty="0" err="1"/>
              <a:t>cuaca</a:t>
            </a:r>
            <a:r>
              <a:rPr lang="en-ID" dirty="0"/>
              <a:t> </a:t>
            </a:r>
            <a:r>
              <a:rPr lang="en-ID" b="1" dirty="0" err="1"/>
              <a:t>membuat</a:t>
            </a:r>
            <a:r>
              <a:rPr lang="en-ID" dirty="0"/>
              <a:t> </a:t>
            </a:r>
            <a:r>
              <a:rPr lang="en-ID" dirty="0" err="1"/>
              <a:t>saya</a:t>
            </a:r>
            <a:r>
              <a:rPr lang="en-ID" dirty="0"/>
              <a:t> </a:t>
            </a:r>
            <a:r>
              <a:rPr lang="en-ID" dirty="0" err="1"/>
              <a:t>senang</a:t>
            </a:r>
            <a:r>
              <a:rPr lang="en-ID" dirty="0"/>
              <a:t>. </a:t>
            </a:r>
            <a:r>
              <a:rPr lang="en-ID" dirty="0" err="1"/>
              <a:t>Pagi</a:t>
            </a:r>
            <a:r>
              <a:rPr lang="en-ID" dirty="0"/>
              <a:t> </a:t>
            </a:r>
            <a:r>
              <a:rPr lang="en-ID" dirty="0" err="1"/>
              <a:t>tadi</a:t>
            </a:r>
            <a:r>
              <a:rPr lang="en-ID" dirty="0"/>
              <a:t>, </a:t>
            </a:r>
            <a:r>
              <a:rPr lang="en-ID" dirty="0" err="1"/>
              <a:t>matahari</a:t>
            </a:r>
            <a:r>
              <a:rPr lang="en-ID" dirty="0"/>
              <a:t> </a:t>
            </a:r>
            <a:r>
              <a:rPr lang="en-ID" b="1" dirty="0" err="1"/>
              <a:t>menyinar</a:t>
            </a:r>
            <a:r>
              <a:rPr lang="en-ID" dirty="0"/>
              <a:t> </a:t>
            </a:r>
            <a:r>
              <a:rPr lang="en-ID" dirty="0" err="1"/>
              <a:t>terang</a:t>
            </a:r>
            <a:r>
              <a:rPr lang="en-ID" dirty="0"/>
              <a:t> dan </a:t>
            </a:r>
            <a:r>
              <a:rPr lang="en-ID" dirty="0" err="1"/>
              <a:t>burung-burung</a:t>
            </a:r>
            <a:r>
              <a:rPr lang="en-ID" dirty="0"/>
              <a:t> </a:t>
            </a:r>
            <a:r>
              <a:rPr lang="en-ID" b="1" dirty="0" err="1"/>
              <a:t>menyanyi</a:t>
            </a:r>
            <a:r>
              <a:rPr lang="en-ID" dirty="0"/>
              <a:t> di </a:t>
            </a:r>
            <a:r>
              <a:rPr lang="en-ID" dirty="0" err="1"/>
              <a:t>pohon</a:t>
            </a:r>
            <a:r>
              <a:rPr lang="en-ID" dirty="0"/>
              <a:t>. Saya </a:t>
            </a:r>
            <a:r>
              <a:rPr lang="en-ID" b="1" dirty="0" err="1"/>
              <a:t>mendengar</a:t>
            </a:r>
            <a:r>
              <a:rPr lang="en-ID" dirty="0"/>
              <a:t> </a:t>
            </a:r>
            <a:r>
              <a:rPr lang="en-ID" dirty="0" err="1"/>
              <a:t>suara</a:t>
            </a:r>
            <a:r>
              <a:rPr lang="en-ID" dirty="0"/>
              <a:t> </a:t>
            </a:r>
            <a:r>
              <a:rPr lang="en-ID" dirty="0" err="1"/>
              <a:t>angin</a:t>
            </a:r>
            <a:r>
              <a:rPr lang="en-ID" dirty="0"/>
              <a:t> yang </a:t>
            </a:r>
            <a:r>
              <a:rPr lang="en-ID" dirty="0" err="1"/>
              <a:t>lembut</a:t>
            </a:r>
            <a:r>
              <a:rPr lang="en-ID" dirty="0"/>
              <a:t> </a:t>
            </a:r>
            <a:r>
              <a:rPr lang="en-ID" b="1" dirty="0" err="1"/>
              <a:t>meniup</a:t>
            </a:r>
            <a:r>
              <a:rPr lang="en-ID" dirty="0"/>
              <a:t> </a:t>
            </a:r>
            <a:r>
              <a:rPr lang="en-ID" dirty="0" err="1"/>
              <a:t>daun-daun</a:t>
            </a:r>
            <a:r>
              <a:rPr lang="en-ID" dirty="0"/>
              <a:t>. </a:t>
            </a:r>
            <a:r>
              <a:rPr lang="en-ID" dirty="0" err="1"/>
              <a:t>Namun</a:t>
            </a:r>
            <a:r>
              <a:rPr lang="en-ID" dirty="0"/>
              <a:t>, </a:t>
            </a:r>
            <a:r>
              <a:rPr lang="en-ID" dirty="0" err="1"/>
              <a:t>siang</a:t>
            </a:r>
            <a:r>
              <a:rPr lang="en-ID" dirty="0"/>
              <a:t> </a:t>
            </a:r>
            <a:r>
              <a:rPr lang="en-ID" dirty="0" err="1"/>
              <a:t>hari</a:t>
            </a:r>
            <a:r>
              <a:rPr lang="en-ID" dirty="0"/>
              <a:t> </a:t>
            </a:r>
            <a:r>
              <a:rPr lang="en-ID" dirty="0" err="1"/>
              <a:t>langit</a:t>
            </a:r>
            <a:r>
              <a:rPr lang="en-ID" dirty="0"/>
              <a:t> </a:t>
            </a:r>
            <a:r>
              <a:rPr lang="en-ID" dirty="0" err="1"/>
              <a:t>mulai</a:t>
            </a:r>
            <a:r>
              <a:rPr lang="en-ID" dirty="0"/>
              <a:t> </a:t>
            </a:r>
            <a:r>
              <a:rPr lang="en-ID" dirty="0" err="1"/>
              <a:t>gelap</a:t>
            </a:r>
            <a:r>
              <a:rPr lang="en-ID" dirty="0"/>
              <a:t> </a:t>
            </a:r>
            <a:r>
              <a:rPr lang="en-ID" dirty="0" err="1"/>
              <a:t>karena</a:t>
            </a:r>
            <a:r>
              <a:rPr lang="en-ID" dirty="0"/>
              <a:t> </a:t>
            </a:r>
            <a:r>
              <a:rPr lang="en-ID" dirty="0" err="1"/>
              <a:t>mendung</a:t>
            </a:r>
            <a:r>
              <a:rPr lang="en-ID" dirty="0"/>
              <a:t> </a:t>
            </a:r>
            <a:r>
              <a:rPr lang="en-ID" dirty="0" err="1"/>
              <a:t>datang</a:t>
            </a:r>
            <a:r>
              <a:rPr lang="en-ID" dirty="0"/>
              <a:t>. </a:t>
            </a:r>
            <a:r>
              <a:rPr lang="en-ID" dirty="0" err="1"/>
              <a:t>Tidak</a:t>
            </a:r>
            <a:r>
              <a:rPr lang="en-ID" dirty="0"/>
              <a:t> lama </a:t>
            </a:r>
            <a:r>
              <a:rPr lang="en-ID" dirty="0" err="1"/>
              <a:t>kemudian</a:t>
            </a:r>
            <a:r>
              <a:rPr lang="en-ID" dirty="0"/>
              <a:t>, </a:t>
            </a:r>
            <a:r>
              <a:rPr lang="en-ID" dirty="0" err="1"/>
              <a:t>hujan</a:t>
            </a:r>
            <a:r>
              <a:rPr lang="en-ID" dirty="0"/>
              <a:t> </a:t>
            </a:r>
            <a:r>
              <a:rPr lang="en-ID" b="1" dirty="0" err="1"/>
              <a:t>mengalir</a:t>
            </a:r>
            <a:r>
              <a:rPr lang="en-ID" dirty="0"/>
              <a:t> </a:t>
            </a:r>
            <a:r>
              <a:rPr lang="en-ID" dirty="0" err="1"/>
              <a:t>deras</a:t>
            </a:r>
            <a:r>
              <a:rPr lang="en-ID" dirty="0"/>
              <a:t> di </a:t>
            </a:r>
            <a:r>
              <a:rPr lang="en-ID" dirty="0" err="1"/>
              <a:t>jalan</a:t>
            </a:r>
            <a:r>
              <a:rPr lang="en-ID" dirty="0"/>
              <a:t>. Saya </a:t>
            </a:r>
            <a:r>
              <a:rPr lang="en-ID" b="1" dirty="0" err="1"/>
              <a:t>membawa</a:t>
            </a:r>
            <a:r>
              <a:rPr lang="en-ID" dirty="0"/>
              <a:t> </a:t>
            </a:r>
            <a:r>
              <a:rPr lang="en-ID" dirty="0" err="1"/>
              <a:t>payung</a:t>
            </a:r>
            <a:r>
              <a:rPr lang="en-ID" dirty="0"/>
              <a:t> dan </a:t>
            </a:r>
            <a:r>
              <a:rPr lang="en-ID" b="1" dirty="0" err="1"/>
              <a:t>menunggu</a:t>
            </a:r>
            <a:r>
              <a:rPr lang="en-ID" dirty="0"/>
              <a:t> </a:t>
            </a:r>
            <a:r>
              <a:rPr lang="en-ID" dirty="0" err="1"/>
              <a:t>hujan</a:t>
            </a:r>
            <a:r>
              <a:rPr lang="en-ID" dirty="0"/>
              <a:t> </a:t>
            </a:r>
            <a:r>
              <a:rPr lang="en-ID" dirty="0" err="1"/>
              <a:t>berhenti</a:t>
            </a:r>
            <a:r>
              <a:rPr lang="en-ID" dirty="0"/>
              <a:t> di </a:t>
            </a:r>
            <a:r>
              <a:rPr lang="en-ID" dirty="0" err="1"/>
              <a:t>halte</a:t>
            </a:r>
            <a:r>
              <a:rPr lang="en-ID" dirty="0"/>
              <a:t>. Setelah </a:t>
            </a:r>
            <a:r>
              <a:rPr lang="en-ID" dirty="0" err="1"/>
              <a:t>hujan</a:t>
            </a:r>
            <a:r>
              <a:rPr lang="en-ID" dirty="0"/>
              <a:t> </a:t>
            </a:r>
            <a:r>
              <a:rPr lang="en-ID" dirty="0" err="1"/>
              <a:t>reda</a:t>
            </a:r>
            <a:r>
              <a:rPr lang="en-ID" dirty="0"/>
              <a:t>, </a:t>
            </a:r>
            <a:r>
              <a:rPr lang="en-ID" dirty="0" err="1"/>
              <a:t>udara</a:t>
            </a:r>
            <a:r>
              <a:rPr lang="en-ID" dirty="0"/>
              <a:t> </a:t>
            </a:r>
            <a:r>
              <a:rPr lang="en-ID" b="1" dirty="0" err="1"/>
              <a:t>menjadi</a:t>
            </a:r>
            <a:r>
              <a:rPr lang="en-ID" dirty="0"/>
              <a:t> </a:t>
            </a:r>
            <a:r>
              <a:rPr lang="en-ID" dirty="0" err="1"/>
              <a:t>sejuk</a:t>
            </a:r>
            <a:r>
              <a:rPr lang="en-ID" dirty="0"/>
              <a:t> dan </a:t>
            </a:r>
            <a:r>
              <a:rPr lang="en-ID" dirty="0" err="1"/>
              <a:t>segar</a:t>
            </a:r>
            <a:r>
              <a:rPr lang="en-ID" dirty="0"/>
              <a:t>.</a:t>
            </a:r>
          </a:p>
        </p:txBody>
      </p:sp>
      <p:sp>
        <p:nvSpPr>
          <p:cNvPr id="4" name="Rectangle 3">
            <a:extLst>
              <a:ext uri="{FF2B5EF4-FFF2-40B4-BE49-F238E27FC236}">
                <a16:creationId xmlns:a16="http://schemas.microsoft.com/office/drawing/2014/main" id="{34B60FBF-0C47-46BE-A312-4C5337C5E408}"/>
              </a:ext>
            </a:extLst>
          </p:cNvPr>
          <p:cNvSpPr/>
          <p:nvPr/>
        </p:nvSpPr>
        <p:spPr>
          <a:xfrm>
            <a:off x="838200" y="3429000"/>
            <a:ext cx="8220456" cy="1815882"/>
          </a:xfrm>
          <a:prstGeom prst="rect">
            <a:avLst/>
          </a:prstGeom>
        </p:spPr>
        <p:txBody>
          <a:bodyPr wrap="square">
            <a:spAutoFit/>
          </a:bodyPr>
          <a:lstStyle/>
          <a:p>
            <a:pPr marL="342900" indent="-342900">
              <a:buFont typeface="+mj-lt"/>
              <a:buAutoNum type="arabicPeriod"/>
            </a:pPr>
            <a:r>
              <a:rPr lang="en-ID" sz="2800" b="1" dirty="0" err="1"/>
              <a:t>Bagaimana</a:t>
            </a:r>
            <a:r>
              <a:rPr lang="en-ID" sz="2800" b="1" dirty="0"/>
              <a:t> </a:t>
            </a:r>
            <a:r>
              <a:rPr lang="en-ID" sz="2800" b="1" dirty="0" err="1"/>
              <a:t>cuaca</a:t>
            </a:r>
            <a:r>
              <a:rPr lang="en-ID" sz="2800" b="1" dirty="0"/>
              <a:t> pada </a:t>
            </a:r>
            <a:r>
              <a:rPr lang="en-ID" sz="2800" b="1" dirty="0" err="1"/>
              <a:t>pagi</a:t>
            </a:r>
            <a:r>
              <a:rPr lang="en-ID" sz="2800" b="1" dirty="0"/>
              <a:t> </a:t>
            </a:r>
            <a:r>
              <a:rPr lang="en-ID" sz="2800" b="1" dirty="0" err="1"/>
              <a:t>hari</a:t>
            </a:r>
            <a:r>
              <a:rPr lang="en-ID" sz="2800" b="1" dirty="0"/>
              <a:t>?</a:t>
            </a:r>
          </a:p>
          <a:p>
            <a:pPr marL="342900" indent="-342900">
              <a:buFont typeface="+mj-lt"/>
              <a:buAutoNum type="arabicPeriod"/>
            </a:pPr>
            <a:r>
              <a:rPr lang="en-ID" sz="2800" b="1" dirty="0" err="1"/>
              <a:t>Apa</a:t>
            </a:r>
            <a:r>
              <a:rPr lang="en-ID" sz="2800" b="1" dirty="0"/>
              <a:t> yang </a:t>
            </a:r>
            <a:r>
              <a:rPr lang="en-ID" sz="2800" b="1" dirty="0" err="1"/>
              <a:t>terjadi</a:t>
            </a:r>
            <a:r>
              <a:rPr lang="en-ID" sz="2800" b="1" dirty="0"/>
              <a:t> pada </a:t>
            </a:r>
            <a:r>
              <a:rPr lang="en-ID" sz="2800" b="1" dirty="0" err="1"/>
              <a:t>siang</a:t>
            </a:r>
            <a:r>
              <a:rPr lang="en-ID" sz="2800" b="1" dirty="0"/>
              <a:t> </a:t>
            </a:r>
            <a:r>
              <a:rPr lang="en-ID" sz="2800" b="1" dirty="0" err="1"/>
              <a:t>hari</a:t>
            </a:r>
            <a:r>
              <a:rPr lang="en-ID" sz="2800" b="1" dirty="0"/>
              <a:t>?</a:t>
            </a:r>
          </a:p>
          <a:p>
            <a:pPr marL="342900" indent="-342900">
              <a:buFont typeface="+mj-lt"/>
              <a:buAutoNum type="arabicPeriod"/>
            </a:pPr>
            <a:r>
              <a:rPr lang="en-ID" sz="2800" b="1" dirty="0"/>
              <a:t>Di mana </a:t>
            </a:r>
            <a:r>
              <a:rPr lang="en-ID" sz="2800" b="1" dirty="0" err="1"/>
              <a:t>penulis</a:t>
            </a:r>
            <a:r>
              <a:rPr lang="en-ID" sz="2800" b="1" dirty="0"/>
              <a:t> </a:t>
            </a:r>
            <a:r>
              <a:rPr lang="en-ID" sz="2800" b="1" dirty="0" err="1"/>
              <a:t>menunggu</a:t>
            </a:r>
            <a:r>
              <a:rPr lang="en-ID" sz="2800" b="1" dirty="0"/>
              <a:t> </a:t>
            </a:r>
            <a:r>
              <a:rPr lang="en-ID" sz="2800" b="1" dirty="0" err="1"/>
              <a:t>hujan</a:t>
            </a:r>
            <a:r>
              <a:rPr lang="en-ID" sz="2800" b="1" dirty="0"/>
              <a:t> </a:t>
            </a:r>
            <a:r>
              <a:rPr lang="en-ID" sz="2800" b="1" dirty="0" err="1"/>
              <a:t>berhenti</a:t>
            </a:r>
            <a:r>
              <a:rPr lang="en-ID" sz="2800" b="1" dirty="0"/>
              <a:t>?</a:t>
            </a:r>
          </a:p>
          <a:p>
            <a:pPr marL="342900" indent="-342900">
              <a:buFont typeface="+mj-lt"/>
              <a:buAutoNum type="arabicPeriod"/>
            </a:pPr>
            <a:r>
              <a:rPr lang="en-ID" sz="2800" b="1" dirty="0" err="1"/>
              <a:t>Bagaimana</a:t>
            </a:r>
            <a:r>
              <a:rPr lang="en-ID" sz="2800" b="1" dirty="0"/>
              <a:t> </a:t>
            </a:r>
            <a:r>
              <a:rPr lang="en-ID" sz="2800" b="1" dirty="0" err="1"/>
              <a:t>keadaan</a:t>
            </a:r>
            <a:r>
              <a:rPr lang="en-ID" sz="2800" b="1" dirty="0"/>
              <a:t> </a:t>
            </a:r>
            <a:r>
              <a:rPr lang="en-ID" sz="2800" b="1" dirty="0" err="1"/>
              <a:t>udara</a:t>
            </a:r>
            <a:r>
              <a:rPr lang="en-ID" sz="2800" b="1" dirty="0"/>
              <a:t> </a:t>
            </a:r>
            <a:r>
              <a:rPr lang="en-ID" sz="2800" b="1" dirty="0" err="1"/>
              <a:t>setelah</a:t>
            </a:r>
            <a:r>
              <a:rPr lang="en-ID" sz="2800" b="1" dirty="0"/>
              <a:t> </a:t>
            </a:r>
            <a:r>
              <a:rPr lang="en-ID" sz="2800" b="1" dirty="0" err="1"/>
              <a:t>hujan</a:t>
            </a:r>
            <a:r>
              <a:rPr lang="en-ID" sz="2800" b="1" dirty="0"/>
              <a:t> </a:t>
            </a:r>
            <a:r>
              <a:rPr lang="en-ID" sz="2800" b="1" dirty="0" err="1"/>
              <a:t>reda</a:t>
            </a:r>
            <a:r>
              <a:rPr lang="en-ID" sz="2800" b="1" dirty="0"/>
              <a:t>?</a:t>
            </a:r>
          </a:p>
        </p:txBody>
      </p:sp>
      <p:pic>
        <p:nvPicPr>
          <p:cNvPr id="4100" name="Picture 4" descr="Page 11 | Forest Road Environment Vector Art, Icons, and Graphics for Free  Download">
            <a:extLst>
              <a:ext uri="{FF2B5EF4-FFF2-40B4-BE49-F238E27FC236}">
                <a16:creationId xmlns:a16="http://schemas.microsoft.com/office/drawing/2014/main" id="{8D31979D-69F3-4773-B735-448B12102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6688" y="5449889"/>
            <a:ext cx="5925312" cy="18158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age 11 | Forest Road Environment Vector Art, Icons, and Graphics for Free  Download">
            <a:extLst>
              <a:ext uri="{FF2B5EF4-FFF2-40B4-BE49-F238E27FC236}">
                <a16:creationId xmlns:a16="http://schemas.microsoft.com/office/drawing/2014/main" id="{CBBD1220-5018-45B4-AE9F-DD4F62FBD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5449889"/>
            <a:ext cx="6266690" cy="1815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355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0459E18-5A2D-4A73-B3B6-8ED7AEEA7098}"/>
              </a:ext>
            </a:extLst>
          </p:cNvPr>
          <p:cNvGraphicFramePr>
            <a:graphicFrameLocks noGrp="1"/>
          </p:cNvGraphicFramePr>
          <p:nvPr>
            <p:extLst>
              <p:ext uri="{D42A27DB-BD31-4B8C-83A1-F6EECF244321}">
                <p14:modId xmlns:p14="http://schemas.microsoft.com/office/powerpoint/2010/main" val="1924938424"/>
              </p:ext>
            </p:extLst>
          </p:nvPr>
        </p:nvGraphicFramePr>
        <p:xfrm>
          <a:off x="838200" y="1846516"/>
          <a:ext cx="10515600" cy="3749040"/>
        </p:xfrm>
        <a:graphic>
          <a:graphicData uri="http://schemas.openxmlformats.org/drawingml/2006/table">
            <a:tbl>
              <a:tblPr/>
              <a:tblGrid>
                <a:gridCol w="1916875">
                  <a:extLst>
                    <a:ext uri="{9D8B030D-6E8A-4147-A177-3AD203B41FA5}">
                      <a16:colId xmlns:a16="http://schemas.microsoft.com/office/drawing/2014/main" val="1416828328"/>
                    </a:ext>
                  </a:extLst>
                </a:gridCol>
                <a:gridCol w="3340925">
                  <a:extLst>
                    <a:ext uri="{9D8B030D-6E8A-4147-A177-3AD203B41FA5}">
                      <a16:colId xmlns:a16="http://schemas.microsoft.com/office/drawing/2014/main" val="2760040326"/>
                    </a:ext>
                  </a:extLst>
                </a:gridCol>
                <a:gridCol w="2628900">
                  <a:extLst>
                    <a:ext uri="{9D8B030D-6E8A-4147-A177-3AD203B41FA5}">
                      <a16:colId xmlns:a16="http://schemas.microsoft.com/office/drawing/2014/main" val="3735792896"/>
                    </a:ext>
                  </a:extLst>
                </a:gridCol>
                <a:gridCol w="2628900">
                  <a:extLst>
                    <a:ext uri="{9D8B030D-6E8A-4147-A177-3AD203B41FA5}">
                      <a16:colId xmlns:a16="http://schemas.microsoft.com/office/drawing/2014/main" val="1160214094"/>
                    </a:ext>
                  </a:extLst>
                </a:gridCol>
              </a:tblGrid>
              <a:tr h="0">
                <a:tc>
                  <a:txBody>
                    <a:bodyPr/>
                    <a:lstStyle/>
                    <a:p>
                      <a:pPr algn="l"/>
                      <a:r>
                        <a:rPr lang="en-ID" b="1" dirty="0" err="1"/>
                        <a:t>Bentuk</a:t>
                      </a:r>
                      <a:endParaRPr lang="en-ID"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en-US" b="1" dirty="0"/>
                        <a:t>Used for basic words that start with the letter</a:t>
                      </a:r>
                      <a:endParaRPr lang="en-ID"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en-ID" b="1" dirty="0" err="1"/>
                        <a:t>Contoh</a:t>
                      </a:r>
                      <a:endParaRPr lang="en-ID"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en-ID" b="1" dirty="0"/>
                        <a:t>Arti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63765689"/>
                  </a:ext>
                </a:extLst>
              </a:tr>
              <a:tr h="0">
                <a:tc>
                  <a:txBody>
                    <a:bodyPr/>
                    <a:lstStyle/>
                    <a:p>
                      <a:pPr algn="l"/>
                      <a:r>
                        <a:rPr lang="en-ID" sz="2400" b="1" dirty="0"/>
                        <a:t>mem-</a:t>
                      </a:r>
                      <a:endParaRPr lang="en-ID"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b, p, f, v </a:t>
                      </a:r>
                      <a:r>
                        <a:rPr lang="en-US" dirty="0"/>
                        <a:t>(the letter p is soft)</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i="1" dirty="0" err="1"/>
                        <a:t>membaca</a:t>
                      </a:r>
                      <a:r>
                        <a:rPr lang="en-ID" dirty="0"/>
                        <a:t>, </a:t>
                      </a:r>
                      <a:r>
                        <a:rPr lang="en-ID" i="1" dirty="0" err="1"/>
                        <a:t>memukul</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to read, to hit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3438906"/>
                  </a:ext>
                </a:extLst>
              </a:tr>
              <a:tr h="0">
                <a:tc>
                  <a:txBody>
                    <a:bodyPr/>
                    <a:lstStyle/>
                    <a:p>
                      <a:pPr algn="l"/>
                      <a:r>
                        <a:rPr lang="en-ID" sz="2400" b="1" dirty="0"/>
                        <a:t>men-</a:t>
                      </a:r>
                      <a:endParaRPr lang="en-ID"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c, d, j, t </a:t>
                      </a:r>
                      <a:r>
                        <a:rPr lang="en-US" dirty="0"/>
                        <a:t>(the letter t is softened)</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i="1" dirty="0" err="1"/>
                        <a:t>menulis</a:t>
                      </a:r>
                      <a:r>
                        <a:rPr lang="en-ID" dirty="0"/>
                        <a:t>, </a:t>
                      </a:r>
                      <a:r>
                        <a:rPr lang="en-ID" i="1" dirty="0" err="1"/>
                        <a:t>mencari</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to write, to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32180"/>
                  </a:ext>
                </a:extLst>
              </a:tr>
              <a:tr h="0">
                <a:tc>
                  <a:txBody>
                    <a:bodyPr/>
                    <a:lstStyle/>
                    <a:p>
                      <a:pPr algn="l"/>
                      <a:r>
                        <a:rPr lang="en-ID" sz="2400" b="1" dirty="0" err="1"/>
                        <a:t>meng</a:t>
                      </a:r>
                      <a:r>
                        <a:rPr lang="en-ID" sz="2400" b="1" dirty="0"/>
                        <a:t>-</a:t>
                      </a:r>
                      <a:endParaRPr lang="en-ID"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BR" dirty="0"/>
                        <a:t>a, i, u, e, o, g, h, k, q, x (the letter </a:t>
                      </a:r>
                      <a:r>
                        <a:rPr lang="pt-BR" i="0" dirty="0"/>
                        <a:t>is soft</a:t>
                      </a:r>
                      <a:r>
                        <a:rPr lang="pt-B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i="1" dirty="0" err="1"/>
                        <a:t>mengambil</a:t>
                      </a:r>
                      <a:r>
                        <a:rPr lang="en-ID" dirty="0"/>
                        <a:t>, </a:t>
                      </a:r>
                      <a:r>
                        <a:rPr lang="en-ID" i="1" dirty="0" err="1"/>
                        <a:t>menghidupkan</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to take, to turn 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1944388"/>
                  </a:ext>
                </a:extLst>
              </a:tr>
              <a:tr h="0">
                <a:tc>
                  <a:txBody>
                    <a:bodyPr/>
                    <a:lstStyle/>
                    <a:p>
                      <a:pPr algn="l"/>
                      <a:r>
                        <a:rPr lang="en-ID" sz="2400" b="1" dirty="0" err="1"/>
                        <a:t>meny</a:t>
                      </a:r>
                      <a:r>
                        <a:rPr lang="en-ID" sz="2400" b="1" dirty="0"/>
                        <a:t>-</a:t>
                      </a:r>
                      <a:endParaRPr lang="en-ID"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S </a:t>
                      </a:r>
                      <a:r>
                        <a:rPr lang="en-US" dirty="0"/>
                        <a:t>(the letter s is soft)</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i="1" dirty="0" err="1"/>
                        <a:t>menyapu</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to sweep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378824"/>
                  </a:ext>
                </a:extLst>
              </a:tr>
              <a:tr h="0">
                <a:tc>
                  <a:txBody>
                    <a:bodyPr/>
                    <a:lstStyle/>
                    <a:p>
                      <a:pPr algn="l"/>
                      <a:r>
                        <a:rPr lang="en-ID" sz="2400" b="1" dirty="0" err="1"/>
                        <a:t>menge</a:t>
                      </a:r>
                      <a:r>
                        <a:rPr lang="en-ID" sz="2400" b="1" dirty="0"/>
                        <a:t>-</a:t>
                      </a:r>
                      <a:endParaRPr lang="en-ID"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i-FI"/>
                        <a:t>one-syllable root 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i="1" dirty="0" err="1"/>
                        <a:t>mengecat</a:t>
                      </a:r>
                      <a:r>
                        <a:rPr lang="en-ID" dirty="0"/>
                        <a:t>, </a:t>
                      </a:r>
                      <a:r>
                        <a:rPr lang="en-ID" i="1" dirty="0" err="1"/>
                        <a:t>mengebom</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to paint, to bomb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4223891"/>
                  </a:ext>
                </a:extLst>
              </a:tr>
              <a:tr h="0">
                <a:tc>
                  <a:txBody>
                    <a:bodyPr/>
                    <a:lstStyle/>
                    <a:p>
                      <a:pPr algn="l"/>
                      <a:r>
                        <a:rPr lang="en-ID" sz="2400" b="1" dirty="0"/>
                        <a:t>me-</a:t>
                      </a:r>
                      <a:r>
                        <a:rPr lang="en-ID" sz="2400" dirty="0"/>
                        <a:t> (</a:t>
                      </a:r>
                      <a:r>
                        <a:rPr lang="en-ID" sz="2400" dirty="0" err="1"/>
                        <a:t>tetap</a:t>
                      </a:r>
                      <a:r>
                        <a:rPr lang="en-ID" sz="2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dirty="0"/>
                        <a:t>l, m, n,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D" i="1" dirty="0" err="1"/>
                        <a:t>melihat</a:t>
                      </a:r>
                      <a:r>
                        <a:rPr lang="en-ID" dirty="0"/>
                        <a:t>, </a:t>
                      </a:r>
                      <a:r>
                        <a:rPr lang="en-ID" i="1" dirty="0" err="1"/>
                        <a:t>memasak</a:t>
                      </a:r>
                      <a:r>
                        <a:rPr lang="en-ID" dirty="0"/>
                        <a:t>, </a:t>
                      </a:r>
                      <a:r>
                        <a:rPr lang="en-ID" i="1" dirty="0" err="1"/>
                        <a:t>menulis</a:t>
                      </a:r>
                      <a:r>
                        <a:rPr lang="en-ID" dirty="0"/>
                        <a:t>, </a:t>
                      </a:r>
                      <a:r>
                        <a:rPr lang="en-ID" i="1" dirty="0" err="1"/>
                        <a:t>merasa</a:t>
                      </a:r>
                      <a:endParaRPr lang="en-ID"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to see, to cook, to write, to feel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677356"/>
                  </a:ext>
                </a:extLst>
              </a:tr>
            </a:tbl>
          </a:graphicData>
        </a:graphic>
      </p:graphicFrame>
      <p:sp>
        <p:nvSpPr>
          <p:cNvPr id="5" name="Rectangle 1">
            <a:extLst>
              <a:ext uri="{FF2B5EF4-FFF2-40B4-BE49-F238E27FC236}">
                <a16:creationId xmlns:a16="http://schemas.microsoft.com/office/drawing/2014/main" id="{6FEB4A21-1461-484F-A5CE-AA4D45E0F4DE}"/>
              </a:ext>
            </a:extLst>
          </p:cNvPr>
          <p:cNvSpPr>
            <a:spLocks noChangeArrowheads="1"/>
          </p:cNvSpPr>
          <p:nvPr/>
        </p:nvSpPr>
        <p:spPr bwMode="auto">
          <a:xfrm>
            <a:off x="838200" y="547194"/>
            <a:ext cx="675745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D" sz="3200" b="1" dirty="0" err="1"/>
              <a:t>Perubahan</a:t>
            </a:r>
            <a:r>
              <a:rPr lang="en-ID" sz="3200" b="1" dirty="0"/>
              <a:t> </a:t>
            </a:r>
            <a:r>
              <a:rPr lang="en-ID" sz="3200" b="1" dirty="0" err="1"/>
              <a:t>Bentuk</a:t>
            </a:r>
            <a:r>
              <a:rPr lang="en-ID" sz="3200" b="1" dirty="0"/>
              <a:t> </a:t>
            </a:r>
            <a:r>
              <a:rPr lang="en-ID" sz="3200" b="1" dirty="0" err="1"/>
              <a:t>Imbuhan</a:t>
            </a:r>
            <a:r>
              <a:rPr lang="en-ID" sz="3200" b="1" dirty="0"/>
              <a:t> Me-</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i="1" u="none" strike="noStrike" cap="none" normalizeH="0" baseline="0" dirty="0">
                <a:ln>
                  <a:noFill/>
                </a:ln>
                <a:solidFill>
                  <a:schemeClr val="tx1"/>
                </a:solidFill>
                <a:effectLst/>
                <a:latin typeface="Arial" panose="020B0604020202020204" pitchFamily="34" charset="0"/>
              </a:rPr>
              <a:t>Changes in the Form of the Suffix Me-</a:t>
            </a:r>
          </a:p>
        </p:txBody>
      </p:sp>
      <p:sp>
        <p:nvSpPr>
          <p:cNvPr id="6" name="Rectangle 5">
            <a:extLst>
              <a:ext uri="{FF2B5EF4-FFF2-40B4-BE49-F238E27FC236}">
                <a16:creationId xmlns:a16="http://schemas.microsoft.com/office/drawing/2014/main" id="{04A02604-0799-4EC6-A0E2-075156D58C7E}"/>
              </a:ext>
            </a:extLst>
          </p:cNvPr>
          <p:cNvSpPr/>
          <p:nvPr/>
        </p:nvSpPr>
        <p:spPr>
          <a:xfrm>
            <a:off x="838200" y="5756105"/>
            <a:ext cx="2937535" cy="369332"/>
          </a:xfrm>
          <a:prstGeom prst="rect">
            <a:avLst/>
          </a:prstGeom>
        </p:spPr>
        <p:txBody>
          <a:bodyPr wrap="none">
            <a:spAutoFit/>
          </a:bodyPr>
          <a:lstStyle/>
          <a:p>
            <a:pPr lvl="0" eaLnBrk="0" fontAlgn="base" hangingPunct="0">
              <a:spcBef>
                <a:spcPct val="0"/>
              </a:spcBef>
              <a:spcAft>
                <a:spcPct val="0"/>
              </a:spcAft>
            </a:pPr>
            <a:r>
              <a:rPr lang="en-US" altLang="en-US" i="1" dirty="0" err="1">
                <a:latin typeface="Arial" panose="020B0604020202020204" pitchFamily="34" charset="0"/>
              </a:rPr>
              <a:t>Tulis</a:t>
            </a:r>
            <a:r>
              <a:rPr lang="en-US" altLang="en-US" i="1" dirty="0">
                <a:latin typeface="Arial" panose="020B0604020202020204" pitchFamily="34" charset="0"/>
              </a:rPr>
              <a:t> 5 </a:t>
            </a:r>
            <a:r>
              <a:rPr lang="en-US" altLang="en-US" i="1" dirty="0" err="1">
                <a:latin typeface="Arial" panose="020B0604020202020204" pitchFamily="34" charset="0"/>
              </a:rPr>
              <a:t>kalimat</a:t>
            </a:r>
            <a:r>
              <a:rPr lang="en-US" altLang="en-US" i="1" dirty="0">
                <a:latin typeface="Arial" panose="020B0604020202020204" pitchFamily="34" charset="0"/>
              </a:rPr>
              <a:t> dengan me-</a:t>
            </a:r>
          </a:p>
        </p:txBody>
      </p:sp>
    </p:spTree>
    <p:extLst>
      <p:ext uri="{BB962C8B-B14F-4D97-AF65-F5344CB8AC3E}">
        <p14:creationId xmlns:p14="http://schemas.microsoft.com/office/powerpoint/2010/main" val="929569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53ED5F-26C8-4495-96B4-65F8533E35D7}"/>
              </a:ext>
            </a:extLst>
          </p:cNvPr>
          <p:cNvGraphicFramePr>
            <a:graphicFrameLocks noGrp="1"/>
          </p:cNvGraphicFramePr>
          <p:nvPr>
            <p:extLst>
              <p:ext uri="{D42A27DB-BD31-4B8C-83A1-F6EECF244321}">
                <p14:modId xmlns:p14="http://schemas.microsoft.com/office/powerpoint/2010/main" val="522283180"/>
              </p:ext>
            </p:extLst>
          </p:nvPr>
        </p:nvGraphicFramePr>
        <p:xfrm>
          <a:off x="300842" y="1566511"/>
          <a:ext cx="11590316" cy="4482497"/>
        </p:xfrm>
        <a:graphic>
          <a:graphicData uri="http://schemas.openxmlformats.org/drawingml/2006/table">
            <a:tbl>
              <a:tblPr/>
              <a:tblGrid>
                <a:gridCol w="2660074">
                  <a:extLst>
                    <a:ext uri="{9D8B030D-6E8A-4147-A177-3AD203B41FA5}">
                      <a16:colId xmlns:a16="http://schemas.microsoft.com/office/drawing/2014/main" val="1389165316"/>
                    </a:ext>
                  </a:extLst>
                </a:gridCol>
                <a:gridCol w="3360717">
                  <a:extLst>
                    <a:ext uri="{9D8B030D-6E8A-4147-A177-3AD203B41FA5}">
                      <a16:colId xmlns:a16="http://schemas.microsoft.com/office/drawing/2014/main" val="2106623528"/>
                    </a:ext>
                  </a:extLst>
                </a:gridCol>
                <a:gridCol w="3253839">
                  <a:extLst>
                    <a:ext uri="{9D8B030D-6E8A-4147-A177-3AD203B41FA5}">
                      <a16:colId xmlns:a16="http://schemas.microsoft.com/office/drawing/2014/main" val="1352950295"/>
                    </a:ext>
                  </a:extLst>
                </a:gridCol>
                <a:gridCol w="2315686">
                  <a:extLst>
                    <a:ext uri="{9D8B030D-6E8A-4147-A177-3AD203B41FA5}">
                      <a16:colId xmlns:a16="http://schemas.microsoft.com/office/drawing/2014/main" val="3050488022"/>
                    </a:ext>
                  </a:extLst>
                </a:gridCol>
              </a:tblGrid>
              <a:tr h="609187">
                <a:tc>
                  <a:txBody>
                    <a:bodyPr/>
                    <a:lstStyle/>
                    <a:p>
                      <a:r>
                        <a:rPr lang="en-ID" sz="2000" b="1"/>
                        <a:t>Fungsi Imbuhan </a:t>
                      </a:r>
                      <a:r>
                        <a:rPr lang="en-ID" sz="2000" b="1" i="1"/>
                        <a:t>me-</a:t>
                      </a:r>
                      <a:endParaRPr lang="en-ID"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D" sz="2000" b="1" dirty="0"/>
                        <a:t>Explanation (in English)</a:t>
                      </a:r>
                      <a:endParaRPr lang="en-ID" sz="2000" dirty="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D" sz="2000" b="1"/>
                        <a:t>Contoh (Bahasa Indonesia)</a:t>
                      </a:r>
                      <a:endParaRPr lang="en-ID"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D" sz="2000" b="1" dirty="0"/>
                        <a:t>Translation (English)</a:t>
                      </a:r>
                      <a:endParaRPr lang="en-ID" sz="2000" dirty="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700837737"/>
                  </a:ext>
                </a:extLst>
              </a:tr>
              <a:tr h="870268">
                <a:tc>
                  <a:txBody>
                    <a:bodyPr/>
                    <a:lstStyle/>
                    <a:p>
                      <a:r>
                        <a:rPr lang="fi-FI" sz="2000" b="1"/>
                        <a:t>1. Melakukan aksi atau pekerjaan</a:t>
                      </a:r>
                      <a:endParaRPr lang="fi-FI"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Used to show an action or activity.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i-FI" sz="2000"/>
                        <a:t>- Melihat (dari kata </a:t>
                      </a:r>
                      <a:r>
                        <a:rPr lang="fi-FI" sz="2000" i="1"/>
                        <a:t>lihat</a:t>
                      </a:r>
                      <a:r>
                        <a:rPr lang="fi-FI" sz="2000"/>
                        <a:t>)- Memotong (dari kata </a:t>
                      </a:r>
                      <a:r>
                        <a:rPr lang="fi-FI" sz="2000" i="1"/>
                        <a:t>potong</a:t>
                      </a:r>
                      <a:r>
                        <a:rPr lang="fi-FI" sz="2000"/>
                        <a: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D" sz="2000"/>
                        <a:t>- To see- To cut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2673887"/>
                  </a:ext>
                </a:extLst>
              </a:tr>
              <a:tr h="1131348">
                <a:tc>
                  <a:txBody>
                    <a:bodyPr/>
                    <a:lstStyle/>
                    <a:p>
                      <a:r>
                        <a:rPr lang="en-ID" sz="2000" b="1"/>
                        <a:t>2. Membentuk atau menjadikan sesuatu</a:t>
                      </a:r>
                      <a:endParaRPr lang="en-ID"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Used to form or create something; changes a noun or adjective into a verb.</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i-FI" sz="2000"/>
                        <a:t>- Mengecat (dari kata </a:t>
                      </a:r>
                      <a:r>
                        <a:rPr lang="fi-FI" sz="2000" i="1"/>
                        <a:t>cat</a:t>
                      </a:r>
                      <a:r>
                        <a:rPr lang="fi-FI" sz="2000"/>
                        <a:t>)- Menginspirasi (dari kata </a:t>
                      </a:r>
                      <a:r>
                        <a:rPr lang="fi-FI" sz="2000" i="1"/>
                        <a:t>inspirasi</a:t>
                      </a:r>
                      <a:r>
                        <a:rPr lang="fi-FI" sz="2000"/>
                        <a: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D" sz="2000"/>
                        <a:t>- To paint- To inspire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6375"/>
                  </a:ext>
                </a:extLst>
              </a:tr>
              <a:tr h="870268">
                <a:tc>
                  <a:txBody>
                    <a:bodyPr/>
                    <a:lstStyle/>
                    <a:p>
                      <a:r>
                        <a:rPr lang="en-ID" sz="2000" b="1"/>
                        <a:t>3. Menyatakan perasaan</a:t>
                      </a:r>
                      <a:endParaRPr lang="en-ID"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Used to express emotions or feelings.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i-FI" sz="2000" dirty="0"/>
                        <a:t>- Menangis (dari kata </a:t>
                      </a:r>
                      <a:r>
                        <a:rPr lang="fi-FI" sz="2000" i="1" dirty="0"/>
                        <a:t>tangis</a:t>
                      </a:r>
                      <a:r>
                        <a:rPr lang="fi-FI" sz="2000" dirty="0"/>
                        <a:t>)- menyesal (dari kata sesal)</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To cry - To regret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67828"/>
                  </a:ext>
                </a:extLst>
              </a:tr>
              <a:tr h="870268">
                <a:tc>
                  <a:txBody>
                    <a:bodyPr/>
                    <a:lstStyle/>
                    <a:p>
                      <a:r>
                        <a:rPr lang="fi-FI" sz="2000" b="1"/>
                        <a:t>4. Menyatakan peristiwa atau memperingati sesuatu</a:t>
                      </a:r>
                      <a:endParaRPr lang="fi-FI"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Used to indicate an event or to commemorate something.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D" sz="2000"/>
                        <a:t>- Mengingat (dari kata </a:t>
                      </a:r>
                      <a:r>
                        <a:rPr lang="en-ID" sz="2000" i="1"/>
                        <a:t>ingat</a:t>
                      </a:r>
                      <a:r>
                        <a:rPr lang="en-ID" sz="2000"/>
                        <a:t>)- Mengenang (dari kata </a:t>
                      </a:r>
                      <a:r>
                        <a:rPr lang="en-ID" sz="2000" i="1"/>
                        <a:t>kenang</a:t>
                      </a:r>
                      <a:r>
                        <a:rPr lang="en-ID" sz="2000"/>
                        <a: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D" sz="2000" dirty="0"/>
                        <a:t>- To remember- To commemorate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9812359"/>
                  </a:ext>
                </a:extLst>
              </a:tr>
            </a:tbl>
          </a:graphicData>
        </a:graphic>
      </p:graphicFrame>
      <p:sp>
        <p:nvSpPr>
          <p:cNvPr id="5" name="Rectangle 4">
            <a:extLst>
              <a:ext uri="{FF2B5EF4-FFF2-40B4-BE49-F238E27FC236}">
                <a16:creationId xmlns:a16="http://schemas.microsoft.com/office/drawing/2014/main" id="{E9691D3D-CF39-48DF-9FF9-046931176508}"/>
              </a:ext>
            </a:extLst>
          </p:cNvPr>
          <p:cNvSpPr/>
          <p:nvPr/>
        </p:nvSpPr>
        <p:spPr>
          <a:xfrm>
            <a:off x="477224" y="287379"/>
            <a:ext cx="4481996" cy="1138773"/>
          </a:xfrm>
          <a:prstGeom prst="rect">
            <a:avLst/>
          </a:prstGeom>
        </p:spPr>
        <p:txBody>
          <a:bodyPr wrap="none">
            <a:spAutoFit/>
          </a:bodyPr>
          <a:lstStyle/>
          <a:p>
            <a:r>
              <a:rPr lang="en-ID" sz="4000" b="1" dirty="0" err="1"/>
              <a:t>Fungsi</a:t>
            </a:r>
            <a:r>
              <a:rPr lang="en-ID" sz="4000" b="1" dirty="0"/>
              <a:t> </a:t>
            </a:r>
            <a:r>
              <a:rPr lang="en-ID" sz="4000" b="1" dirty="0" err="1"/>
              <a:t>imbuhan</a:t>
            </a:r>
            <a:r>
              <a:rPr lang="en-ID" sz="4000" b="1" dirty="0"/>
              <a:t> me</a:t>
            </a:r>
          </a:p>
          <a:p>
            <a:r>
              <a:rPr lang="en-ID" sz="2800" i="1" dirty="0"/>
              <a:t>The function of the prefix me-</a:t>
            </a:r>
          </a:p>
        </p:txBody>
      </p:sp>
      <p:sp>
        <p:nvSpPr>
          <p:cNvPr id="6" name="Rectangle 5">
            <a:extLst>
              <a:ext uri="{FF2B5EF4-FFF2-40B4-BE49-F238E27FC236}">
                <a16:creationId xmlns:a16="http://schemas.microsoft.com/office/drawing/2014/main" id="{4FF1B500-7B13-4249-86B8-271FBF9E910B}"/>
              </a:ext>
            </a:extLst>
          </p:cNvPr>
          <p:cNvSpPr/>
          <p:nvPr/>
        </p:nvSpPr>
        <p:spPr>
          <a:xfrm>
            <a:off x="300842" y="6189368"/>
            <a:ext cx="2937535" cy="369332"/>
          </a:xfrm>
          <a:prstGeom prst="rect">
            <a:avLst/>
          </a:prstGeom>
        </p:spPr>
        <p:txBody>
          <a:bodyPr wrap="none">
            <a:spAutoFit/>
          </a:bodyPr>
          <a:lstStyle/>
          <a:p>
            <a:pPr lvl="0" eaLnBrk="0" fontAlgn="base" hangingPunct="0">
              <a:spcBef>
                <a:spcPct val="0"/>
              </a:spcBef>
              <a:spcAft>
                <a:spcPct val="0"/>
              </a:spcAft>
            </a:pPr>
            <a:r>
              <a:rPr lang="en-US" altLang="en-US" i="1" dirty="0" err="1">
                <a:latin typeface="Arial" panose="020B0604020202020204" pitchFamily="34" charset="0"/>
              </a:rPr>
              <a:t>Tulis</a:t>
            </a:r>
            <a:r>
              <a:rPr lang="en-US" altLang="en-US" i="1" dirty="0">
                <a:latin typeface="Arial" panose="020B0604020202020204" pitchFamily="34" charset="0"/>
              </a:rPr>
              <a:t> 4 </a:t>
            </a:r>
            <a:r>
              <a:rPr lang="en-US" altLang="en-US" i="1" dirty="0" err="1">
                <a:latin typeface="Arial" panose="020B0604020202020204" pitchFamily="34" charset="0"/>
              </a:rPr>
              <a:t>kalimat</a:t>
            </a:r>
            <a:r>
              <a:rPr lang="en-US" altLang="en-US" i="1" dirty="0">
                <a:latin typeface="Arial" panose="020B0604020202020204" pitchFamily="34" charset="0"/>
              </a:rPr>
              <a:t> dengan me-</a:t>
            </a:r>
          </a:p>
        </p:txBody>
      </p:sp>
    </p:spTree>
    <p:extLst>
      <p:ext uri="{BB962C8B-B14F-4D97-AF65-F5344CB8AC3E}">
        <p14:creationId xmlns:p14="http://schemas.microsoft.com/office/powerpoint/2010/main" val="3733499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196B5-34D2-4965-A7E9-3B499FA1EB3C}"/>
              </a:ext>
            </a:extLst>
          </p:cNvPr>
          <p:cNvSpPr>
            <a:spLocks noGrp="1"/>
          </p:cNvSpPr>
          <p:nvPr>
            <p:ph type="title"/>
          </p:nvPr>
        </p:nvSpPr>
        <p:spPr>
          <a:xfrm>
            <a:off x="170213" y="1840676"/>
            <a:ext cx="11851574" cy="3966358"/>
          </a:xfrm>
        </p:spPr>
        <p:txBody>
          <a:bodyPr>
            <a:noAutofit/>
          </a:bodyPr>
          <a:lstStyle/>
          <a:p>
            <a:r>
              <a:rPr lang="en-ID" sz="2800" dirty="0"/>
              <a:t>1. Di </a:t>
            </a:r>
            <a:r>
              <a:rPr lang="en-ID" sz="2800" dirty="0" err="1"/>
              <a:t>negaraku</a:t>
            </a:r>
            <a:r>
              <a:rPr lang="en-ID" sz="2800" dirty="0"/>
              <a:t> </a:t>
            </a:r>
            <a:r>
              <a:rPr lang="en-ID" sz="2800" dirty="0" err="1"/>
              <a:t>saat</a:t>
            </a:r>
            <a:r>
              <a:rPr lang="en-ID" sz="2800" dirty="0"/>
              <a:t> </a:t>
            </a:r>
            <a:r>
              <a:rPr lang="en-ID" sz="2800" dirty="0" err="1"/>
              <a:t>ini</a:t>
            </a:r>
            <a:r>
              <a:rPr lang="en-ID" sz="2800" dirty="0"/>
              <a:t> </a:t>
            </a:r>
            <a:r>
              <a:rPr lang="en-ID" sz="2800" b="1" dirty="0" err="1">
                <a:highlight>
                  <a:srgbClr val="FFFF00"/>
                </a:highlight>
              </a:rPr>
              <a:t>musim</a:t>
            </a:r>
            <a:r>
              <a:rPr lang="en-ID" sz="2800" b="1" dirty="0">
                <a:highlight>
                  <a:srgbClr val="FFFF00"/>
                </a:highlight>
              </a:rPr>
              <a:t> </a:t>
            </a:r>
            <a:r>
              <a:rPr lang="en-ID" sz="2800" b="1" dirty="0" err="1">
                <a:highlight>
                  <a:srgbClr val="FFFF00"/>
                </a:highlight>
              </a:rPr>
              <a:t>dingin</a:t>
            </a:r>
            <a:r>
              <a:rPr lang="en-ID" sz="2800" dirty="0"/>
              <a:t>. </a:t>
            </a:r>
            <a:r>
              <a:rPr lang="en-ID" sz="2800" i="1" dirty="0"/>
              <a:t>(explain weather)</a:t>
            </a:r>
            <a:br>
              <a:rPr lang="en-ID" sz="2800" i="1" dirty="0"/>
            </a:br>
            <a:r>
              <a:rPr lang="en-ID" sz="2800" dirty="0"/>
              <a:t>2</a:t>
            </a:r>
            <a:r>
              <a:rPr lang="en-ID" sz="2800" i="1" dirty="0"/>
              <a:t>. </a:t>
            </a:r>
            <a:r>
              <a:rPr lang="en-ID" sz="2800" dirty="0" err="1"/>
              <a:t>Musim</a:t>
            </a:r>
            <a:r>
              <a:rPr lang="en-ID" sz="2800" dirty="0"/>
              <a:t> </a:t>
            </a:r>
            <a:r>
              <a:rPr lang="en-ID" sz="2800" dirty="0" err="1">
                <a:highlight>
                  <a:srgbClr val="FFFF00"/>
                </a:highlight>
              </a:rPr>
              <a:t>dingin</a:t>
            </a:r>
            <a:r>
              <a:rPr lang="en-ID" sz="2800" dirty="0"/>
              <a:t> </a:t>
            </a:r>
            <a:r>
              <a:rPr lang="en-ID" sz="2800" dirty="0" err="1"/>
              <a:t>biasanya</a:t>
            </a:r>
            <a:r>
              <a:rPr lang="en-ID" sz="2800" dirty="0"/>
              <a:t> </a:t>
            </a:r>
            <a:r>
              <a:rPr lang="en-ID" sz="2800" b="1" dirty="0" err="1">
                <a:highlight>
                  <a:srgbClr val="FFFF00"/>
                </a:highlight>
              </a:rPr>
              <a:t>mulai</a:t>
            </a:r>
            <a:r>
              <a:rPr lang="en-ID" sz="2800" b="1" dirty="0">
                <a:highlight>
                  <a:srgbClr val="FFFF00"/>
                </a:highlight>
              </a:rPr>
              <a:t> </a:t>
            </a:r>
            <a:r>
              <a:rPr lang="en-ID" sz="2800" b="1" dirty="0" err="1">
                <a:highlight>
                  <a:srgbClr val="FFFF00"/>
                </a:highlight>
              </a:rPr>
              <a:t>bulan</a:t>
            </a:r>
            <a:r>
              <a:rPr lang="en-ID" sz="2800" b="1" dirty="0">
                <a:highlight>
                  <a:srgbClr val="FFFF00"/>
                </a:highlight>
              </a:rPr>
              <a:t> September </a:t>
            </a:r>
            <a:r>
              <a:rPr lang="en-ID" sz="2800" b="1" dirty="0" err="1">
                <a:highlight>
                  <a:srgbClr val="FFFF00"/>
                </a:highlight>
              </a:rPr>
              <a:t>sampai</a:t>
            </a:r>
            <a:r>
              <a:rPr lang="en-ID" sz="2800" b="1" dirty="0">
                <a:highlight>
                  <a:srgbClr val="FFFF00"/>
                </a:highlight>
              </a:rPr>
              <a:t> </a:t>
            </a:r>
            <a:r>
              <a:rPr lang="en-ID" sz="2800" b="1" dirty="0" err="1">
                <a:highlight>
                  <a:srgbClr val="FFFF00"/>
                </a:highlight>
              </a:rPr>
              <a:t>desember</a:t>
            </a:r>
            <a:r>
              <a:rPr lang="en-ID" sz="2800" dirty="0"/>
              <a:t>. </a:t>
            </a:r>
            <a:r>
              <a:rPr lang="en-ID" sz="2800" i="1" dirty="0"/>
              <a:t>(when it happen)</a:t>
            </a:r>
            <a:br>
              <a:rPr lang="en-ID" sz="2800" dirty="0"/>
            </a:br>
            <a:r>
              <a:rPr lang="en-ID" sz="2800" dirty="0"/>
              <a:t>3. Di </a:t>
            </a:r>
            <a:r>
              <a:rPr lang="en-ID" sz="2800" dirty="0" err="1"/>
              <a:t>musim</a:t>
            </a:r>
            <a:r>
              <a:rPr lang="en-ID" sz="2800" dirty="0"/>
              <a:t> </a:t>
            </a:r>
            <a:r>
              <a:rPr lang="en-ID" sz="2800" dirty="0" err="1"/>
              <a:t>itu</a:t>
            </a:r>
            <a:r>
              <a:rPr lang="en-ID" sz="2800" dirty="0"/>
              <a:t>, </a:t>
            </a:r>
            <a:r>
              <a:rPr lang="en-ID" sz="2800" dirty="0" err="1"/>
              <a:t>biasanya</a:t>
            </a:r>
            <a:r>
              <a:rPr lang="en-ID" sz="2800" dirty="0"/>
              <a:t> </a:t>
            </a:r>
            <a:r>
              <a:rPr lang="en-ID" sz="2800" b="1" dirty="0" err="1">
                <a:highlight>
                  <a:srgbClr val="FFFF00"/>
                </a:highlight>
              </a:rPr>
              <a:t>cuaca</a:t>
            </a:r>
            <a:r>
              <a:rPr lang="en-ID" sz="2800" b="1" dirty="0">
                <a:highlight>
                  <a:srgbClr val="FFFF00"/>
                </a:highlight>
              </a:rPr>
              <a:t> </a:t>
            </a:r>
            <a:r>
              <a:rPr lang="en-ID" sz="2800" b="1" dirty="0" err="1">
                <a:highlight>
                  <a:srgbClr val="FFFF00"/>
                </a:highlight>
              </a:rPr>
              <a:t>akan</a:t>
            </a:r>
            <a:r>
              <a:rPr lang="en-ID" sz="2800" b="1" dirty="0">
                <a:highlight>
                  <a:srgbClr val="FFFF00"/>
                </a:highlight>
              </a:rPr>
              <a:t> </a:t>
            </a:r>
            <a:r>
              <a:rPr lang="en-ID" sz="2800" b="1" dirty="0" err="1">
                <a:highlight>
                  <a:srgbClr val="FFFF00"/>
                </a:highlight>
              </a:rPr>
              <a:t>dingin</a:t>
            </a:r>
            <a:r>
              <a:rPr lang="en-ID" sz="2800" b="1" dirty="0">
                <a:highlight>
                  <a:srgbClr val="FFFF00"/>
                </a:highlight>
              </a:rPr>
              <a:t> dan </a:t>
            </a:r>
            <a:r>
              <a:rPr lang="en-ID" sz="2800" b="1" dirty="0" err="1">
                <a:highlight>
                  <a:srgbClr val="FFFF00"/>
                </a:highlight>
              </a:rPr>
              <a:t>banyak</a:t>
            </a:r>
            <a:r>
              <a:rPr lang="en-ID" sz="2800" b="1" dirty="0">
                <a:highlight>
                  <a:srgbClr val="FFFF00"/>
                </a:highlight>
              </a:rPr>
              <a:t> </a:t>
            </a:r>
            <a:r>
              <a:rPr lang="en-ID" sz="2800" b="1" dirty="0" err="1">
                <a:highlight>
                  <a:srgbClr val="FFFF00"/>
                </a:highlight>
              </a:rPr>
              <a:t>salju</a:t>
            </a:r>
            <a:r>
              <a:rPr lang="en-ID" sz="2800" dirty="0"/>
              <a:t>. </a:t>
            </a:r>
            <a:r>
              <a:rPr lang="en-ID" sz="2800" i="1" dirty="0"/>
              <a:t>(describe condition during weather)</a:t>
            </a:r>
            <a:br>
              <a:rPr lang="en-ID" sz="2800" dirty="0"/>
            </a:br>
            <a:r>
              <a:rPr lang="en-ID" sz="2800" dirty="0"/>
              <a:t>4. </a:t>
            </a:r>
            <a:r>
              <a:rPr lang="en-ID" sz="2800" dirty="0" err="1"/>
              <a:t>Saat</a:t>
            </a:r>
            <a:r>
              <a:rPr lang="en-ID" sz="2800" dirty="0"/>
              <a:t> </a:t>
            </a:r>
            <a:r>
              <a:rPr lang="en-ID" sz="2800" dirty="0" err="1"/>
              <a:t>musim</a:t>
            </a:r>
            <a:r>
              <a:rPr lang="en-ID" sz="2800" dirty="0"/>
              <a:t> </a:t>
            </a:r>
            <a:r>
              <a:rPr lang="en-ID" sz="2800" dirty="0" err="1"/>
              <a:t>dingin</a:t>
            </a:r>
            <a:r>
              <a:rPr lang="en-ID" sz="2800" dirty="0"/>
              <a:t> orang-orang </a:t>
            </a:r>
            <a:r>
              <a:rPr lang="en-ID" sz="2800" dirty="0" err="1"/>
              <a:t>biasanya</a:t>
            </a:r>
            <a:r>
              <a:rPr lang="en-ID" sz="2800" dirty="0"/>
              <a:t> </a:t>
            </a:r>
            <a:r>
              <a:rPr lang="en-ID" sz="2800" b="1" dirty="0" err="1">
                <a:highlight>
                  <a:srgbClr val="FFFF00"/>
                </a:highlight>
              </a:rPr>
              <a:t>memakai</a:t>
            </a:r>
            <a:r>
              <a:rPr lang="en-ID" sz="2800" b="1" dirty="0">
                <a:highlight>
                  <a:srgbClr val="FFFF00"/>
                </a:highlight>
              </a:rPr>
              <a:t> </a:t>
            </a:r>
            <a:r>
              <a:rPr lang="en-ID" sz="2800" b="1" dirty="0" err="1">
                <a:highlight>
                  <a:srgbClr val="FFFF00"/>
                </a:highlight>
              </a:rPr>
              <a:t>jaket</a:t>
            </a:r>
            <a:r>
              <a:rPr lang="en-ID" sz="2800" b="1" dirty="0">
                <a:highlight>
                  <a:srgbClr val="FFFF00"/>
                </a:highlight>
              </a:rPr>
              <a:t> dan </a:t>
            </a:r>
            <a:r>
              <a:rPr lang="en-ID" sz="2800" b="1" dirty="0" err="1">
                <a:highlight>
                  <a:srgbClr val="FFFF00"/>
                </a:highlight>
              </a:rPr>
              <a:t>sarung</a:t>
            </a:r>
            <a:r>
              <a:rPr lang="en-ID" sz="2800" b="1" dirty="0">
                <a:highlight>
                  <a:srgbClr val="FFFF00"/>
                </a:highlight>
              </a:rPr>
              <a:t> </a:t>
            </a:r>
            <a:r>
              <a:rPr lang="en-ID" sz="2800" b="1" dirty="0" err="1">
                <a:highlight>
                  <a:srgbClr val="FFFF00"/>
                </a:highlight>
              </a:rPr>
              <a:t>tangan</a:t>
            </a:r>
            <a:r>
              <a:rPr lang="en-ID" sz="2800" dirty="0"/>
              <a:t>. </a:t>
            </a:r>
            <a:r>
              <a:rPr lang="en-ID" sz="2800" i="1" dirty="0"/>
              <a:t>(what people do)</a:t>
            </a:r>
            <a:r>
              <a:rPr lang="en-ID" sz="2800" dirty="0"/>
              <a:t> </a:t>
            </a:r>
            <a:br>
              <a:rPr lang="en-ID" sz="2800" dirty="0"/>
            </a:br>
            <a:r>
              <a:rPr lang="en-ID" sz="2800" dirty="0"/>
              <a:t>5. </a:t>
            </a:r>
            <a:r>
              <a:rPr lang="en-ID" sz="2800" dirty="0" err="1"/>
              <a:t>Selain</a:t>
            </a:r>
            <a:r>
              <a:rPr lang="en-ID" sz="2800" dirty="0"/>
              <a:t> </a:t>
            </a:r>
            <a:r>
              <a:rPr lang="en-ID" sz="2800" dirty="0" err="1"/>
              <a:t>itu</a:t>
            </a:r>
            <a:r>
              <a:rPr lang="en-ID" sz="2800" dirty="0"/>
              <a:t> orang-orang </a:t>
            </a:r>
            <a:r>
              <a:rPr lang="en-ID" sz="2800" b="1" dirty="0" err="1">
                <a:highlight>
                  <a:srgbClr val="FFFF00"/>
                </a:highlight>
              </a:rPr>
              <a:t>akan</a:t>
            </a:r>
            <a:r>
              <a:rPr lang="en-ID" sz="2800" b="1" dirty="0">
                <a:highlight>
                  <a:srgbClr val="FFFF00"/>
                </a:highlight>
              </a:rPr>
              <a:t> </a:t>
            </a:r>
            <a:r>
              <a:rPr lang="en-ID" sz="2800" b="1" dirty="0" err="1">
                <a:highlight>
                  <a:srgbClr val="FFFF00"/>
                </a:highlight>
              </a:rPr>
              <a:t>meminum</a:t>
            </a:r>
            <a:r>
              <a:rPr lang="en-ID" sz="2800" b="1" dirty="0">
                <a:highlight>
                  <a:srgbClr val="FFFF00"/>
                </a:highlight>
              </a:rPr>
              <a:t> </a:t>
            </a:r>
            <a:r>
              <a:rPr lang="en-ID" sz="2800" b="1" dirty="0" err="1">
                <a:highlight>
                  <a:srgbClr val="FFFF00"/>
                </a:highlight>
              </a:rPr>
              <a:t>minuman</a:t>
            </a:r>
            <a:r>
              <a:rPr lang="en-ID" sz="2800" b="1" dirty="0">
                <a:highlight>
                  <a:srgbClr val="FFFF00"/>
                </a:highlight>
              </a:rPr>
              <a:t> </a:t>
            </a:r>
            <a:r>
              <a:rPr lang="en-ID" sz="2800" b="1" dirty="0" err="1">
                <a:highlight>
                  <a:srgbClr val="FFFF00"/>
                </a:highlight>
              </a:rPr>
              <a:t>hangat</a:t>
            </a:r>
            <a:r>
              <a:rPr lang="en-ID" sz="2800" b="1" dirty="0"/>
              <a:t>.</a:t>
            </a:r>
            <a:r>
              <a:rPr lang="en-ID" sz="2800" dirty="0"/>
              <a:t> </a:t>
            </a:r>
            <a:r>
              <a:rPr lang="en-ID" sz="2800" i="1" dirty="0"/>
              <a:t>(what people do)</a:t>
            </a:r>
            <a:br>
              <a:rPr lang="en-ID" dirty="0"/>
            </a:br>
            <a:endParaRPr lang="en-ID" dirty="0"/>
          </a:p>
        </p:txBody>
      </p:sp>
      <p:sp>
        <p:nvSpPr>
          <p:cNvPr id="4" name="Rectangle 3">
            <a:extLst>
              <a:ext uri="{FF2B5EF4-FFF2-40B4-BE49-F238E27FC236}">
                <a16:creationId xmlns:a16="http://schemas.microsoft.com/office/drawing/2014/main" id="{E4BFE42D-877E-459C-892A-C3B66741C16D}"/>
              </a:ext>
            </a:extLst>
          </p:cNvPr>
          <p:cNvSpPr/>
          <p:nvPr/>
        </p:nvSpPr>
        <p:spPr>
          <a:xfrm>
            <a:off x="423260" y="231569"/>
            <a:ext cx="10045635" cy="1200329"/>
          </a:xfrm>
          <a:prstGeom prst="rect">
            <a:avLst/>
          </a:prstGeom>
        </p:spPr>
        <p:txBody>
          <a:bodyPr wrap="none">
            <a:spAutoFit/>
          </a:bodyPr>
          <a:lstStyle/>
          <a:p>
            <a:r>
              <a:rPr lang="en-ID" sz="3600" b="1" dirty="0" err="1"/>
              <a:t>Praktik</a:t>
            </a:r>
            <a:r>
              <a:rPr lang="en-ID" sz="3600" b="1" dirty="0"/>
              <a:t> </a:t>
            </a:r>
            <a:r>
              <a:rPr lang="en-ID" sz="3600" b="1" dirty="0" err="1"/>
              <a:t>menulis</a:t>
            </a:r>
            <a:r>
              <a:rPr lang="en-ID" sz="3600" b="1" dirty="0"/>
              <a:t> dan </a:t>
            </a:r>
            <a:r>
              <a:rPr lang="en-ID" sz="3600" b="1" dirty="0" err="1"/>
              <a:t>bicara</a:t>
            </a:r>
            <a:endParaRPr lang="en-ID" sz="3600" b="1" dirty="0"/>
          </a:p>
          <a:p>
            <a:r>
              <a:rPr lang="en-ID" sz="3600" i="1" dirty="0"/>
              <a:t>Explain one season based on the following examples.</a:t>
            </a:r>
          </a:p>
        </p:txBody>
      </p:sp>
      <p:pic>
        <p:nvPicPr>
          <p:cNvPr id="5" name="Picture 4" descr="Page 11 | Forest Road Environment Vector Art, Icons, and Graphics for Free  Download">
            <a:extLst>
              <a:ext uri="{FF2B5EF4-FFF2-40B4-BE49-F238E27FC236}">
                <a16:creationId xmlns:a16="http://schemas.microsoft.com/office/drawing/2014/main" id="{2009A3D2-AD8D-4E5A-8557-97D795DD9A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6688" y="5449889"/>
            <a:ext cx="5925312" cy="181588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age 11 | Forest Road Environment Vector Art, Icons, and Graphics for Free  Download">
            <a:extLst>
              <a:ext uri="{FF2B5EF4-FFF2-40B4-BE49-F238E27FC236}">
                <a16:creationId xmlns:a16="http://schemas.microsoft.com/office/drawing/2014/main" id="{33B439A3-F44E-4F91-BE8F-B9816CDE4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5449889"/>
            <a:ext cx="6266690" cy="1815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669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603</Words>
  <Application>Microsoft Office PowerPoint</Application>
  <PresentationFormat>Widescreen</PresentationFormat>
  <Paragraphs>89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Cuaca hari ini</vt:lpstr>
      <vt:lpstr>PowerPoint Presentation</vt:lpstr>
      <vt:lpstr>PowerPoint Presentation</vt:lpstr>
      <vt:lpstr>1. Di negaraku saat ini musim dingin. (explain weather) 2. Musim dingin biasanya mulai bulan September sampai desember. (when it happen) 3. Di musim itu, biasanya cuaca akan dingin dan banyak salju. (describe condition during weather) 4. Saat musim dingin orang-orang biasanya memakai jaket dan sarung tangan. (what people do)  5. Selain itu orang-orang akan meminum minuman hangat. (what people do)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cp:revision>
  <dcterms:created xsi:type="dcterms:W3CDTF">2025-10-13T15:07:09Z</dcterms:created>
  <dcterms:modified xsi:type="dcterms:W3CDTF">2025-10-14T16:19:47Z</dcterms:modified>
</cp:coreProperties>
</file>