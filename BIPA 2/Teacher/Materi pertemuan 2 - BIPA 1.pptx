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360" r:id="rId3"/>
    <p:sldId id="289" r:id="rId4"/>
    <p:sldId id="290" r:id="rId5"/>
    <p:sldId id="293" r:id="rId6"/>
    <p:sldId id="294" r:id="rId7"/>
    <p:sldId id="295" r:id="rId8"/>
    <p:sldId id="296" r:id="rId9"/>
    <p:sldId id="362" r:id="rId10"/>
    <p:sldId id="352" r:id="rId11"/>
    <p:sldId id="353" r:id="rId12"/>
    <p:sldId id="346" r:id="rId13"/>
    <p:sldId id="338" r:id="rId14"/>
    <p:sldId id="354" r:id="rId15"/>
    <p:sldId id="356" r:id="rId16"/>
    <p:sldId id="358" r:id="rId17"/>
    <p:sldId id="29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99C1-24D1-3142-A626-06FA259E0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872CB-F948-F347-AF3B-9C7DA7827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E4F00-6775-F243-8AB0-825FC09D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402D7-AF15-FF4F-9318-00FC1A5A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027B4-8A3E-F048-A21D-FD2D3A9B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86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12A6-2132-CC4A-878F-2B2A6035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1E19-63BB-4F46-BA3A-D2162F087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2114C-5877-EB42-B5AC-C14823A04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9F3E5-5E7E-2F4F-9F4C-BDC98681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71EF4-9BCD-DA47-A3B0-C1937210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4352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40A3-3CD5-8644-9B90-7BAC5700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FB537-F3FB-2141-B074-16B1D7D0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76DDC-C048-3B4E-BE45-5EC36B19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E18CE-468C-0345-9B6E-E0EACE60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BA0B6-DECC-8B41-8CEB-79858E46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72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2CE4-A9D9-9E42-8F6E-CF551A75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C18A-C51C-0E47-9B66-E07F26B6E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50C75-6E9F-CD48-BE43-7632712B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A7360-E9DD-3544-ADA5-3DFC55DC9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B8341-852D-8B40-9606-8CAC4F5A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1264A-3ADA-8A47-85E6-66A34A1E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11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DED1-5BB2-6547-B51E-A839FE90F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35DF2-CB78-EE4B-89D4-D837B660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5FF65-C8F9-D64D-A39F-7A5A892EE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A2A5A-91E0-6B45-826D-AF5FDE355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E1039-E378-A84B-9B53-1B9924D12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D3E09-0FFC-C94E-91A6-F17D2BFB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1FA606-DD2B-C74D-A50B-4C406257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3FCEB-1E61-B54C-A352-5C9A8C89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33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752A-2606-9A42-B7BC-6C4F06E9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72274-6624-9A42-9B7D-328FF488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44232-27BF-2143-B021-139B2DD1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BA4A2-32A7-AA47-9A5E-133CBB0C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59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ABD2C-423C-0A4B-8B5B-331DEBA8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98261-EA9E-AE46-90FB-88225954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F0F87-3296-EF4E-B638-819ECE5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31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CEBC-AA0F-D849-AAE0-DB55AC61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0A2DF-A923-E744-9B11-602D900A2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0C180-1450-2244-A536-EF17883BE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74F05-FF1C-7944-A1FF-C6C98944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D64D7-E1EE-D34D-ABC5-EE0DE8ED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D1CA8-BF3B-7F48-A389-C8034E83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264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C992-1781-F64F-A6D5-A8F8010A1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ED212E-B0B3-764E-9AF1-A90A781F1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B7ACF-D225-4942-8407-B014E6212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2DA57-7688-3F4F-A1AB-97FB7BDC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86AE2-C640-2546-87E4-B52B08D2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9F811-B855-4F45-B2FE-17F3CE00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25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4CF1-C67F-3C43-BDAF-6D836C48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32C7E-581D-564C-AECC-C1D8D6C3E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914FA-FE2A-F049-A7CD-4562E84D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BC4FF-A681-0346-B260-A6D3F772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58B9-668C-754D-B7F2-F997681E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461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E2608-EBBE-D649-9AD2-7CC04CA5E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5ECA9-5D06-D34C-97D2-F18C99598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A00F6-3FFD-1746-8AF6-B65AD213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AFC48-2D83-8348-ABA6-7F7FE40B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191D3-651A-F744-97D0-D295CDAD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21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19C046-774D-504E-B1D4-EEBCBC55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BEEF-8E96-4948-9831-66210557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1B32E-7395-8D48-81AD-6ADFA152F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6A5C-B9FE-4749-A166-98934CD13715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8C320-3E21-CA4F-AB67-B88AADECB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3B06-83CD-0C43-BD53-5CB4427A0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F044E-49A2-7644-8EA6-B01BEAAF8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35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https://i.pinimg.com/originals/3e/6a/24/3e6a24172b4f78228ce50719442eea3e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https://i.pinimg.com/originals/3e/6a/24/3e6a24172b4f78228ce50719442eea3e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https://i.pinimg.com/originals/3e/6a/24/3e6a24172b4f78228ce50719442eea3e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s://i.pinimg.com/originals/13/e6/a3/13e6a39632a7363f169e6f7102691959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FD4773-C575-EC42-A04D-7B55993D9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3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CE0FCE9-B692-0242-9F0A-57DC90DA55FD}"/>
              </a:ext>
            </a:extLst>
          </p:cNvPr>
          <p:cNvSpPr/>
          <p:nvPr/>
        </p:nvSpPr>
        <p:spPr>
          <a:xfrm>
            <a:off x="2579077" y="1852246"/>
            <a:ext cx="7033846" cy="23035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4800" b="1" dirty="0"/>
              <a:t>Perkenalan diri</a:t>
            </a:r>
            <a:endParaRPr lang="id-ID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F799BB-022C-7C42-A510-501147593C1A}"/>
              </a:ext>
            </a:extLst>
          </p:cNvPr>
          <p:cNvSpPr txBox="1"/>
          <p:nvPr/>
        </p:nvSpPr>
        <p:spPr>
          <a:xfrm>
            <a:off x="984738" y="679938"/>
            <a:ext cx="2318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i="1" dirty="0" err="1"/>
              <a:t>Kemampuan</a:t>
            </a:r>
            <a:r>
              <a:rPr lang="en-AU" i="1" dirty="0"/>
              <a:t> </a:t>
            </a:r>
            <a:r>
              <a:rPr lang="en-AU" i="1" dirty="0" err="1"/>
              <a:t>Berbicara</a:t>
            </a:r>
            <a:endParaRPr lang="en-AU" i="1" dirty="0"/>
          </a:p>
        </p:txBody>
      </p:sp>
    </p:spTree>
    <p:extLst>
      <p:ext uri="{BB962C8B-B14F-4D97-AF65-F5344CB8AC3E}">
        <p14:creationId xmlns:p14="http://schemas.microsoft.com/office/powerpoint/2010/main" val="97445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F2A6A9-C78B-D245-A836-5C64C1581F3B}"/>
              </a:ext>
            </a:extLst>
          </p:cNvPr>
          <p:cNvSpPr txBox="1"/>
          <p:nvPr/>
        </p:nvSpPr>
        <p:spPr>
          <a:xfrm>
            <a:off x="4371691" y="718709"/>
            <a:ext cx="3448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>
                <a:latin typeface="+mj-lt"/>
                <a:ea typeface="Ayuthaya" pitchFamily="2" charset="-34"/>
                <a:cs typeface="Al Bayan Plain" pitchFamily="2" charset="-78"/>
              </a:rPr>
              <a:t> Salam Sapa </a:t>
            </a:r>
            <a:endParaRPr lang="en-AU" sz="4800" b="1" dirty="0">
              <a:latin typeface="+mj-lt"/>
              <a:ea typeface="Ayuthaya" pitchFamily="2" charset="-34"/>
              <a:cs typeface="Al Bayan Plain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7DB8E-72CC-FF47-86A0-CC0A5792D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1025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B4AFA3C4-D885-2E46-8A3E-1889F5879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3" t="5833" r="2816" b="82664"/>
          <a:stretch>
            <a:fillRect/>
          </a:stretch>
        </p:blipFill>
        <p:spPr bwMode="auto">
          <a:xfrm>
            <a:off x="4371690" y="2268414"/>
            <a:ext cx="3448616" cy="116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91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1962AD-2A4F-AA47-A7EB-11773C08DC49}"/>
              </a:ext>
            </a:extLst>
          </p:cNvPr>
          <p:cNvSpPr/>
          <p:nvPr/>
        </p:nvSpPr>
        <p:spPr>
          <a:xfrm>
            <a:off x="1641231" y="893583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b="1" dirty="0"/>
              <a:t>Topik: Ungkapan Salam sapa Sederhana dalam bahasa Indonesia </a:t>
            </a:r>
          </a:p>
          <a:p>
            <a:endParaRPr lang="id-ID" sz="2400" b="1" dirty="0"/>
          </a:p>
          <a:p>
            <a:r>
              <a:rPr lang="id-ID" sz="2400" b="1" dirty="0"/>
              <a:t>Tujuan: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/>
              <a:t>Memperkenalkan kata dan frasa salam sederhana dalam bahasa Indonesia.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/>
              <a:t>Membiasakan siswa dengan ungkapan umum yang digunakan dalam percakapan sehari-hari.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369478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1505FBA-14C9-B445-8CA4-93D032BA7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2049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0487979A-CDC3-8F48-BEC3-FEC42DB7C6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34" r="63773" b="67425"/>
          <a:stretch>
            <a:fillRect/>
          </a:stretch>
        </p:blipFill>
        <p:spPr bwMode="auto">
          <a:xfrm>
            <a:off x="4267634" y="433753"/>
            <a:ext cx="3656732" cy="252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368BE451-ED0D-EC4C-8EF8-1581DFB1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2051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45C57474-BE3E-6A4D-AFA4-A613C25BEF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21" t="17160" b="66989"/>
          <a:stretch>
            <a:fillRect/>
          </a:stretch>
        </p:blipFill>
        <p:spPr bwMode="auto">
          <a:xfrm>
            <a:off x="4267635" y="3282456"/>
            <a:ext cx="3656731" cy="215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2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9665E9C-19C1-9648-9148-94FADBA6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73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0D83BFC6-1310-9B4E-A9B6-77872D6706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29" r="67048" b="46048"/>
          <a:stretch>
            <a:fillRect/>
          </a:stretch>
        </p:blipFill>
        <p:spPr bwMode="auto">
          <a:xfrm>
            <a:off x="726831" y="820616"/>
            <a:ext cx="1981200" cy="182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D9775F8D-9064-BB4C-A8DD-DB67F3E82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75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20D9CA49-C353-E741-8C77-73167DC0DE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8" t="31993" r="33072" b="54919"/>
          <a:stretch>
            <a:fillRect/>
          </a:stretch>
        </p:blipFill>
        <p:spPr bwMode="auto">
          <a:xfrm>
            <a:off x="3411415" y="820616"/>
            <a:ext cx="1981200" cy="105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A54E7416-8B10-E541-B81E-DBC30C89F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77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C90C2788-19ED-7A43-AAF8-F44C484A1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10" t="31993" b="46194"/>
          <a:stretch>
            <a:fillRect/>
          </a:stretch>
        </p:blipFill>
        <p:spPr bwMode="auto">
          <a:xfrm>
            <a:off x="5967045" y="820616"/>
            <a:ext cx="1981200" cy="175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9D6EE102-494B-434F-8268-8CD9BA6EB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79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303FB944-4968-214E-AE3B-24D111E17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34" r="63159" b="35369"/>
          <a:stretch>
            <a:fillRect/>
          </a:stretch>
        </p:blipFill>
        <p:spPr bwMode="auto">
          <a:xfrm>
            <a:off x="726831" y="3429001"/>
            <a:ext cx="2110154" cy="942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0">
            <a:extLst>
              <a:ext uri="{FF2B5EF4-FFF2-40B4-BE49-F238E27FC236}">
                <a16:creationId xmlns:a16="http://schemas.microsoft.com/office/drawing/2014/main" id="{B9BCBDA5-B88E-964D-8381-BE21F646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81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C733842F-2A4B-0B4B-8B53-E2171C3E6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4" t="52497" r="33890" b="25689"/>
          <a:stretch>
            <a:fillRect/>
          </a:stretch>
        </p:blipFill>
        <p:spPr bwMode="auto">
          <a:xfrm>
            <a:off x="3411415" y="3399693"/>
            <a:ext cx="1770185" cy="17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2">
            <a:extLst>
              <a:ext uri="{FF2B5EF4-FFF2-40B4-BE49-F238E27FC236}">
                <a16:creationId xmlns:a16="http://schemas.microsoft.com/office/drawing/2014/main" id="{10952EFA-45D6-EB49-A7CC-84E61F92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83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7FB4F510-A119-0D42-A605-67461BBD6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58" t="51916" b="27434"/>
          <a:stretch>
            <a:fillRect/>
          </a:stretch>
        </p:blipFill>
        <p:spPr bwMode="auto">
          <a:xfrm>
            <a:off x="5922595" y="3399689"/>
            <a:ext cx="2070100" cy="166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4">
            <a:extLst>
              <a:ext uri="{FF2B5EF4-FFF2-40B4-BE49-F238E27FC236}">
                <a16:creationId xmlns:a16="http://schemas.microsoft.com/office/drawing/2014/main" id="{2E483C66-B696-9543-8B21-3E7C19439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85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1D892657-BAFE-B94A-BE4C-09BD0ED205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2280" r="53129" b="7051"/>
          <a:stretch>
            <a:fillRect/>
          </a:stretch>
        </p:blipFill>
        <p:spPr bwMode="auto">
          <a:xfrm>
            <a:off x="8979877" y="820616"/>
            <a:ext cx="2684585" cy="166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6">
            <a:extLst>
              <a:ext uri="{FF2B5EF4-FFF2-40B4-BE49-F238E27FC236}">
                <a16:creationId xmlns:a16="http://schemas.microsoft.com/office/drawing/2014/main" id="{2C546B4B-DD22-064C-BB67-7BC3F972C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3087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56F9CA22-7165-4841-B925-71C6D8123E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1" t="72280" b="7051"/>
          <a:stretch>
            <a:fillRect/>
          </a:stretch>
        </p:blipFill>
        <p:spPr bwMode="auto">
          <a:xfrm>
            <a:off x="8876811" y="3142183"/>
            <a:ext cx="2890715" cy="166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94D656D2-AD9D-B24A-BD48-F642510D1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8" t="45859" r="33072" b="46194"/>
          <a:stretch>
            <a:fillRect/>
          </a:stretch>
        </p:blipFill>
        <p:spPr bwMode="auto">
          <a:xfrm>
            <a:off x="3411415" y="1954335"/>
            <a:ext cx="1981200" cy="64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" descr="90 BIPA ideas | indonesian language, malay language, english study">
            <a:extLst>
              <a:ext uri="{FF2B5EF4-FFF2-40B4-BE49-F238E27FC236}">
                <a16:creationId xmlns:a16="http://schemas.microsoft.com/office/drawing/2014/main" id="{B734482D-E361-D949-A6A0-52095743FC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89" r="63159" b="26416"/>
          <a:stretch>
            <a:fillRect/>
          </a:stretch>
        </p:blipFill>
        <p:spPr bwMode="auto">
          <a:xfrm>
            <a:off x="859203" y="4371975"/>
            <a:ext cx="2110154" cy="70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65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F9385C8-3E31-5B40-8A2B-DC2522142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097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93B6C2F2-90BF-0244-B0C9-5DCF16C267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0" t="783" b="90690"/>
          <a:stretch>
            <a:fillRect/>
          </a:stretch>
        </p:blipFill>
        <p:spPr bwMode="auto">
          <a:xfrm>
            <a:off x="3972043" y="211014"/>
            <a:ext cx="3862855" cy="92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BBFA7308-B5E2-B24A-A5F7-C6A470E8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099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5D22D0EA-0729-E642-8F30-ED7698B7E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7" t="10325" r="32558" b="67135"/>
          <a:stretch>
            <a:fillRect/>
          </a:stretch>
        </p:blipFill>
        <p:spPr bwMode="auto">
          <a:xfrm>
            <a:off x="882111" y="1365796"/>
            <a:ext cx="1963717" cy="181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71AB9B51-CFFE-CB44-B032-475C9D976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101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DC4125A3-41A3-494B-8C85-581AD3454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02" r="78029" b="47067"/>
          <a:stretch>
            <a:fillRect/>
          </a:stretch>
        </p:blipFill>
        <p:spPr bwMode="auto">
          <a:xfrm>
            <a:off x="3568136" y="1389126"/>
            <a:ext cx="1254369" cy="1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6BB17E3-8E40-D347-9A34-D8E76CCE8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103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B17F66A1-B76E-5547-8A95-C16C1A630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4" t="31266" r="49036" b="47502"/>
          <a:stretch>
            <a:fillRect/>
          </a:stretch>
        </p:blipFill>
        <p:spPr bwMode="auto">
          <a:xfrm>
            <a:off x="882111" y="3610704"/>
            <a:ext cx="1781908" cy="171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0">
            <a:extLst>
              <a:ext uri="{FF2B5EF4-FFF2-40B4-BE49-F238E27FC236}">
                <a16:creationId xmlns:a16="http://schemas.microsoft.com/office/drawing/2014/main" id="{FEA2BFA1-825C-1944-B35C-11CEBB7A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105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48641946-0E9D-7F47-8505-E722B65296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07" t="32429" r="24066" b="46339"/>
          <a:stretch>
            <a:fillRect/>
          </a:stretch>
        </p:blipFill>
        <p:spPr bwMode="auto">
          <a:xfrm>
            <a:off x="2664019" y="3610702"/>
            <a:ext cx="1570892" cy="171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2">
            <a:extLst>
              <a:ext uri="{FF2B5EF4-FFF2-40B4-BE49-F238E27FC236}">
                <a16:creationId xmlns:a16="http://schemas.microsoft.com/office/drawing/2014/main" id="{58D7D923-9B7F-804B-A590-0EF1FDF49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107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2CF69B25-6502-DC4A-AFB8-B547B3321E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97" t="31702" b="47067"/>
          <a:stretch>
            <a:fillRect/>
          </a:stretch>
        </p:blipFill>
        <p:spPr bwMode="auto">
          <a:xfrm>
            <a:off x="4234911" y="3610702"/>
            <a:ext cx="1472223" cy="171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4">
            <a:extLst>
              <a:ext uri="{FF2B5EF4-FFF2-40B4-BE49-F238E27FC236}">
                <a16:creationId xmlns:a16="http://schemas.microsoft.com/office/drawing/2014/main" id="{226DE1A6-325E-954A-BA30-74F5C886E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109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BC4BB05E-8316-2E45-A938-96FFD6521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60" r="57292" b="20308"/>
          <a:stretch>
            <a:fillRect/>
          </a:stretch>
        </p:blipFill>
        <p:spPr bwMode="auto">
          <a:xfrm>
            <a:off x="6611815" y="1389126"/>
            <a:ext cx="2446165" cy="1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6344762-4A12-CE45-858D-C160273D9837}"/>
              </a:ext>
            </a:extLst>
          </p:cNvPr>
          <p:cNvSpPr/>
          <p:nvPr/>
        </p:nvSpPr>
        <p:spPr>
          <a:xfrm>
            <a:off x="3027434" y="2086708"/>
            <a:ext cx="407428" cy="1876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6A1B0D4-BCE5-534C-878C-B7BA844267EE}"/>
              </a:ext>
            </a:extLst>
          </p:cNvPr>
          <p:cNvSpPr/>
          <p:nvPr/>
        </p:nvSpPr>
        <p:spPr>
          <a:xfrm>
            <a:off x="9252388" y="2028150"/>
            <a:ext cx="407428" cy="1876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AA1B48FC-B6CD-2441-B57E-3904E654A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4111" name="Picture 2" descr="90 BIPA ideas | indonesian language, malay language, english study">
            <a:extLst>
              <a:ext uri="{FF2B5EF4-FFF2-40B4-BE49-F238E27FC236}">
                <a16:creationId xmlns:a16="http://schemas.microsoft.com/office/drawing/2014/main" id="{BC744D42-956A-5846-8553-6574F834BC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90" t="57334" b="20126"/>
          <a:stretch>
            <a:fillRect/>
          </a:stretch>
        </p:blipFill>
        <p:spPr bwMode="auto">
          <a:xfrm>
            <a:off x="9854224" y="1389126"/>
            <a:ext cx="1781908" cy="181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543BE38-4EC1-5047-A765-12A4D19531E7}"/>
              </a:ext>
            </a:extLst>
          </p:cNvPr>
          <p:cNvSpPr/>
          <p:nvPr/>
        </p:nvSpPr>
        <p:spPr>
          <a:xfrm>
            <a:off x="7065057" y="4009285"/>
            <a:ext cx="3985846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“Sampai nanti” (See you later) can be used to end the conversation.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742299-4817-D144-84CF-9563222CBD78}"/>
              </a:ext>
            </a:extLst>
          </p:cNvPr>
          <p:cNvSpPr/>
          <p:nvPr/>
        </p:nvSpPr>
        <p:spPr>
          <a:xfrm>
            <a:off x="7065057" y="5128841"/>
            <a:ext cx="3985846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“</a:t>
            </a:r>
            <a:r>
              <a:rPr lang="en-AU" dirty="0" err="1"/>
              <a:t>denganmu</a:t>
            </a:r>
            <a:r>
              <a:rPr lang="en-AU" dirty="0"/>
              <a:t>” is a shortened form of ”</a:t>
            </a:r>
            <a:r>
              <a:rPr lang="en-AU" dirty="0" err="1"/>
              <a:t>dengan</a:t>
            </a:r>
            <a:r>
              <a:rPr lang="en-AU" dirty="0"/>
              <a:t> </a:t>
            </a:r>
            <a:r>
              <a:rPr lang="en-AU" dirty="0" err="1"/>
              <a:t>kamu</a:t>
            </a:r>
            <a:r>
              <a:rPr lang="en-AU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790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  <p:bldP spid="12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DB82C-7121-8A4B-9323-3D77C10A151A}"/>
              </a:ext>
            </a:extLst>
          </p:cNvPr>
          <p:cNvSpPr txBox="1"/>
          <p:nvPr/>
        </p:nvSpPr>
        <p:spPr>
          <a:xfrm>
            <a:off x="3544660" y="896761"/>
            <a:ext cx="51026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200" dirty="0"/>
              <a:t>Dialog Salam Sapa Sederhana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034AE8-D001-5842-BCDF-E94347C427EF}"/>
              </a:ext>
            </a:extLst>
          </p:cNvPr>
          <p:cNvSpPr/>
          <p:nvPr/>
        </p:nvSpPr>
        <p:spPr>
          <a:xfrm>
            <a:off x="3897921" y="2286000"/>
            <a:ext cx="4749417" cy="17350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id-ID" sz="2400" dirty="0">
                <a:solidFill>
                  <a:prstClr val="black"/>
                </a:solidFill>
              </a:rPr>
              <a:t>A: Selamat Pagi, apa kabar?</a:t>
            </a:r>
          </a:p>
          <a:p>
            <a:pPr lvl="0"/>
            <a:r>
              <a:rPr lang="id-ID" sz="2400" dirty="0">
                <a:solidFill>
                  <a:prstClr val="black"/>
                </a:solidFill>
              </a:rPr>
              <a:t>B: Baik, Bagaimana dengan kamu?</a:t>
            </a:r>
          </a:p>
          <a:p>
            <a:pPr lvl="0"/>
            <a:r>
              <a:rPr lang="id-ID" sz="2400" dirty="0">
                <a:solidFill>
                  <a:prstClr val="black"/>
                </a:solidFill>
              </a:rPr>
              <a:t>A: Saya juga baik. Sampai nanti.</a:t>
            </a:r>
          </a:p>
          <a:p>
            <a:pPr lvl="0"/>
            <a:r>
              <a:rPr lang="id-ID" sz="2400" dirty="0">
                <a:solidFill>
                  <a:prstClr val="black"/>
                </a:solidFill>
              </a:rPr>
              <a:t>B: Sampai nanti.</a:t>
            </a:r>
          </a:p>
        </p:txBody>
      </p:sp>
    </p:spTree>
    <p:extLst>
      <p:ext uri="{BB962C8B-B14F-4D97-AF65-F5344CB8AC3E}">
        <p14:creationId xmlns:p14="http://schemas.microsoft.com/office/powerpoint/2010/main" val="412776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4D20404-8163-EE48-841F-9E91FD799796}"/>
              </a:ext>
            </a:extLst>
          </p:cNvPr>
          <p:cNvSpPr/>
          <p:nvPr/>
        </p:nvSpPr>
        <p:spPr>
          <a:xfrm>
            <a:off x="733063" y="433412"/>
            <a:ext cx="2795583" cy="11823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AU" sz="2400" b="1" dirty="0">
                <a:solidFill>
                  <a:prstClr val="black"/>
                </a:solidFill>
              </a:rPr>
              <a:t>Pojok Tata Bahasa</a:t>
            </a:r>
          </a:p>
          <a:p>
            <a:pPr lvl="0"/>
            <a:r>
              <a:rPr lang="en-AU" dirty="0">
                <a:solidFill>
                  <a:prstClr val="black"/>
                </a:solidFill>
              </a:rPr>
              <a:t>(Grammar Corner)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45AD4-4E52-C343-A567-0E4B295933BB}"/>
              </a:ext>
            </a:extLst>
          </p:cNvPr>
          <p:cNvSpPr/>
          <p:nvPr/>
        </p:nvSpPr>
        <p:spPr>
          <a:xfrm>
            <a:off x="4697398" y="2605112"/>
            <a:ext cx="3880339" cy="21218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dirty="0"/>
              <a:t>Saya, </a:t>
            </a:r>
            <a:r>
              <a:rPr lang="en-AU" dirty="0" err="1"/>
              <a:t>Aku</a:t>
            </a:r>
            <a:r>
              <a:rPr lang="en-AU" dirty="0"/>
              <a:t> = I</a:t>
            </a:r>
          </a:p>
          <a:p>
            <a:r>
              <a:rPr lang="en-AU" dirty="0" err="1"/>
              <a:t>Kamu</a:t>
            </a:r>
            <a:r>
              <a:rPr lang="en-AU" dirty="0"/>
              <a:t> = You (one person)</a:t>
            </a:r>
          </a:p>
          <a:p>
            <a:r>
              <a:rPr lang="en-AU" dirty="0"/>
              <a:t>Kalian = You (more than one person)</a:t>
            </a:r>
          </a:p>
          <a:p>
            <a:r>
              <a:rPr lang="en-AU" dirty="0"/>
              <a:t>Kami, Kita = We</a:t>
            </a:r>
          </a:p>
          <a:p>
            <a:r>
              <a:rPr lang="en-AU" dirty="0" err="1"/>
              <a:t>Mereka</a:t>
            </a:r>
            <a:r>
              <a:rPr lang="en-AU" dirty="0"/>
              <a:t> = They</a:t>
            </a:r>
          </a:p>
          <a:p>
            <a:r>
              <a:rPr lang="en-AU" dirty="0" err="1"/>
              <a:t>Dia</a:t>
            </a:r>
            <a:r>
              <a:rPr lang="en-AU" dirty="0"/>
              <a:t> = He/She/It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4CD5A-292A-2C4F-BB05-D9B8FF3F68B0}"/>
              </a:ext>
            </a:extLst>
          </p:cNvPr>
          <p:cNvSpPr txBox="1"/>
          <p:nvPr/>
        </p:nvSpPr>
        <p:spPr>
          <a:xfrm>
            <a:off x="388389" y="3167390"/>
            <a:ext cx="2772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Kata </a:t>
            </a:r>
            <a:r>
              <a:rPr lang="en-AU" sz="2800" b="1" dirty="0" err="1"/>
              <a:t>Ganti</a:t>
            </a:r>
            <a:r>
              <a:rPr lang="en-AU" sz="2800" b="1" dirty="0"/>
              <a:t> </a:t>
            </a:r>
            <a:r>
              <a:rPr lang="en-AU" dirty="0"/>
              <a:t>(pronoun)</a:t>
            </a:r>
            <a:endParaRPr lang="en-AU" b="1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5D96AC8-E066-B64C-835A-C538F8214E0C}"/>
              </a:ext>
            </a:extLst>
          </p:cNvPr>
          <p:cNvSpPr/>
          <p:nvPr/>
        </p:nvSpPr>
        <p:spPr>
          <a:xfrm>
            <a:off x="3198093" y="3318664"/>
            <a:ext cx="661106" cy="2206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ADEFD-7E12-EC40-989E-90AABDAFED02}"/>
              </a:ext>
            </a:extLst>
          </p:cNvPr>
          <p:cNvSpPr/>
          <p:nvPr/>
        </p:nvSpPr>
        <p:spPr>
          <a:xfrm>
            <a:off x="1899138" y="5193322"/>
            <a:ext cx="2752989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dirty="0"/>
              <a:t>-</a:t>
            </a:r>
            <a:r>
              <a:rPr lang="en-AU" dirty="0" err="1"/>
              <a:t>ku</a:t>
            </a:r>
            <a:r>
              <a:rPr lang="en-AU" dirty="0"/>
              <a:t> = </a:t>
            </a:r>
            <a:r>
              <a:rPr lang="en-AU" dirty="0" err="1"/>
              <a:t>aku</a:t>
            </a:r>
            <a:r>
              <a:rPr lang="en-AU" dirty="0"/>
              <a:t> (my)</a:t>
            </a:r>
          </a:p>
          <a:p>
            <a:r>
              <a:rPr lang="en-AU" dirty="0" err="1"/>
              <a:t>Contoh</a:t>
            </a:r>
            <a:r>
              <a:rPr lang="en-AU" dirty="0"/>
              <a:t>: </a:t>
            </a:r>
            <a:r>
              <a:rPr lang="en-AU" dirty="0" err="1"/>
              <a:t>Buku</a:t>
            </a:r>
            <a:r>
              <a:rPr lang="en-AU" b="1" dirty="0" err="1"/>
              <a:t>ku</a:t>
            </a:r>
            <a:r>
              <a:rPr lang="en-AU" dirty="0"/>
              <a:t> = </a:t>
            </a:r>
            <a:r>
              <a:rPr lang="en-AU" dirty="0" err="1"/>
              <a:t>Buku</a:t>
            </a:r>
            <a:r>
              <a:rPr lang="en-AU" dirty="0"/>
              <a:t> </a:t>
            </a:r>
            <a:r>
              <a:rPr lang="en-AU" dirty="0" err="1"/>
              <a:t>aku</a:t>
            </a:r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B88927-3662-5C40-B221-A42A6AB71489}"/>
              </a:ext>
            </a:extLst>
          </p:cNvPr>
          <p:cNvSpPr/>
          <p:nvPr/>
        </p:nvSpPr>
        <p:spPr>
          <a:xfrm>
            <a:off x="4865077" y="5193322"/>
            <a:ext cx="281160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dirty="0"/>
              <a:t>-</a:t>
            </a:r>
            <a:r>
              <a:rPr lang="en-AU" dirty="0" err="1"/>
              <a:t>nya</a:t>
            </a:r>
            <a:r>
              <a:rPr lang="en-AU" dirty="0"/>
              <a:t> = </a:t>
            </a:r>
            <a:r>
              <a:rPr lang="en-AU" dirty="0" err="1"/>
              <a:t>dia</a:t>
            </a:r>
            <a:r>
              <a:rPr lang="en-AU" dirty="0"/>
              <a:t> (his/her/its)</a:t>
            </a:r>
          </a:p>
          <a:p>
            <a:r>
              <a:rPr lang="en-AU" dirty="0" err="1"/>
              <a:t>Contoh</a:t>
            </a:r>
            <a:r>
              <a:rPr lang="en-AU" dirty="0"/>
              <a:t>: </a:t>
            </a:r>
            <a:r>
              <a:rPr lang="en-AU" dirty="0" err="1"/>
              <a:t>Buku</a:t>
            </a:r>
            <a:r>
              <a:rPr lang="en-AU" b="1" dirty="0" err="1"/>
              <a:t>nya</a:t>
            </a:r>
            <a:r>
              <a:rPr lang="en-AU" dirty="0"/>
              <a:t> = </a:t>
            </a:r>
            <a:r>
              <a:rPr lang="en-AU" dirty="0" err="1"/>
              <a:t>Buku</a:t>
            </a:r>
            <a:r>
              <a:rPr lang="en-AU" dirty="0"/>
              <a:t> </a:t>
            </a:r>
            <a:r>
              <a:rPr lang="en-AU" dirty="0" err="1"/>
              <a:t>dia</a:t>
            </a:r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C258D7-56DD-A749-81F4-6C410BF91501}"/>
              </a:ext>
            </a:extLst>
          </p:cNvPr>
          <p:cNvSpPr/>
          <p:nvPr/>
        </p:nvSpPr>
        <p:spPr>
          <a:xfrm>
            <a:off x="7889631" y="5193321"/>
            <a:ext cx="307347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dirty="0"/>
              <a:t>-mu = </a:t>
            </a:r>
            <a:r>
              <a:rPr lang="en-AU" dirty="0" err="1"/>
              <a:t>kamu</a:t>
            </a:r>
            <a:r>
              <a:rPr lang="en-AU" dirty="0"/>
              <a:t> (your)</a:t>
            </a:r>
          </a:p>
          <a:p>
            <a:r>
              <a:rPr lang="en-AU" dirty="0" err="1"/>
              <a:t>Contoh</a:t>
            </a:r>
            <a:r>
              <a:rPr lang="en-AU" dirty="0"/>
              <a:t>: </a:t>
            </a:r>
            <a:r>
              <a:rPr lang="en-AU" dirty="0" err="1"/>
              <a:t>Buku</a:t>
            </a:r>
            <a:r>
              <a:rPr lang="en-AU" b="1" dirty="0" err="1"/>
              <a:t>mu</a:t>
            </a:r>
            <a:r>
              <a:rPr lang="en-AU" dirty="0"/>
              <a:t> = </a:t>
            </a:r>
            <a:r>
              <a:rPr lang="en-AU" dirty="0" err="1"/>
              <a:t>Buku</a:t>
            </a:r>
            <a:r>
              <a:rPr lang="en-AU" dirty="0"/>
              <a:t> </a:t>
            </a:r>
            <a:r>
              <a:rPr lang="en-AU" dirty="0" err="1"/>
              <a:t>kamu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600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26248-D3F4-724A-A4DC-8F012C2FC399}"/>
              </a:ext>
            </a:extLst>
          </p:cNvPr>
          <p:cNvSpPr/>
          <p:nvPr/>
        </p:nvSpPr>
        <p:spPr>
          <a:xfrm>
            <a:off x="1450694" y="9066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err="1"/>
              <a:t>Dalam</a:t>
            </a:r>
            <a:r>
              <a:rPr lang="en-AU" dirty="0"/>
              <a:t> </a:t>
            </a:r>
            <a:r>
              <a:rPr lang="en-AU" dirty="0" err="1"/>
              <a:t>bahasa</a:t>
            </a:r>
            <a:r>
              <a:rPr lang="en-AU" dirty="0"/>
              <a:t> Indonesia, </a:t>
            </a:r>
            <a:r>
              <a:rPr lang="en-AU" dirty="0" err="1"/>
              <a:t>kalimat</a:t>
            </a:r>
            <a:r>
              <a:rPr lang="en-AU" dirty="0"/>
              <a:t> paling </a:t>
            </a:r>
            <a:r>
              <a:rPr lang="en-AU" dirty="0" err="1"/>
              <a:t>sederhana</a:t>
            </a:r>
            <a:r>
              <a:rPr lang="en-AU" dirty="0"/>
              <a:t> </a:t>
            </a:r>
            <a:r>
              <a:rPr lang="en-AU" dirty="0" err="1"/>
              <a:t>bisa</a:t>
            </a:r>
            <a:r>
              <a:rPr lang="en-AU" dirty="0"/>
              <a:t> </a:t>
            </a:r>
            <a:r>
              <a:rPr lang="en-AU" dirty="0" err="1"/>
              <a:t>hanya</a:t>
            </a:r>
            <a:r>
              <a:rPr lang="en-AU" dirty="0"/>
              <a:t> </a:t>
            </a:r>
            <a:r>
              <a:rPr lang="en-AU" dirty="0" err="1"/>
              <a:t>terdiri</a:t>
            </a:r>
            <a:r>
              <a:rPr lang="en-AU" dirty="0"/>
              <a:t> </a:t>
            </a:r>
            <a:r>
              <a:rPr lang="en-AU" dirty="0" err="1"/>
              <a:t>dari</a:t>
            </a:r>
            <a:r>
              <a:rPr lang="en-AU" dirty="0"/>
              <a:t> </a:t>
            </a:r>
            <a:r>
              <a:rPr lang="en-AU" dirty="0" err="1"/>
              <a:t>Subjek</a:t>
            </a:r>
            <a:r>
              <a:rPr lang="en-AU" dirty="0"/>
              <a:t> + </a:t>
            </a:r>
            <a:r>
              <a:rPr lang="en-AU" dirty="0" err="1"/>
              <a:t>Predikat</a:t>
            </a:r>
            <a:r>
              <a:rPr lang="en-AU" dirty="0"/>
              <a:t>. </a:t>
            </a:r>
            <a:r>
              <a:rPr lang="en-AU" dirty="0" err="1"/>
              <a:t>Contoh</a:t>
            </a:r>
            <a:r>
              <a:rPr lang="en-AU" dirty="0"/>
              <a:t>: </a:t>
            </a:r>
            <a:r>
              <a:rPr lang="en-AU" dirty="0" err="1"/>
              <a:t>Dia</a:t>
            </a:r>
            <a:r>
              <a:rPr lang="en-AU" dirty="0"/>
              <a:t> </a:t>
            </a:r>
            <a:r>
              <a:rPr lang="en-AU" dirty="0" err="1"/>
              <a:t>tidur</a:t>
            </a:r>
            <a:r>
              <a:rPr lang="en-A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1FED1-1DC1-9C41-A6F7-406AE711A128}"/>
              </a:ext>
            </a:extLst>
          </p:cNvPr>
          <p:cNvSpPr txBox="1"/>
          <p:nvPr/>
        </p:nvSpPr>
        <p:spPr>
          <a:xfrm>
            <a:off x="1450694" y="1552976"/>
            <a:ext cx="5926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In Indonesian, the simplest sentence can consist of only a subject and a predicate. Example: </a:t>
            </a:r>
            <a:r>
              <a:rPr lang="en-AU" sz="1400" i="1" dirty="0" err="1"/>
              <a:t>Dia</a:t>
            </a:r>
            <a:r>
              <a:rPr lang="en-AU" sz="1400" i="1" dirty="0"/>
              <a:t> </a:t>
            </a:r>
            <a:r>
              <a:rPr lang="en-AU" sz="1400" i="1" dirty="0" err="1"/>
              <a:t>tidur</a:t>
            </a:r>
            <a:r>
              <a:rPr lang="en-AU" sz="1400" i="1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DDB21-A33F-3B46-BBFA-3286277A4C47}"/>
              </a:ext>
            </a:extLst>
          </p:cNvPr>
          <p:cNvSpPr txBox="1"/>
          <p:nvPr/>
        </p:nvSpPr>
        <p:spPr>
          <a:xfrm>
            <a:off x="1450694" y="2387390"/>
            <a:ext cx="8596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“</a:t>
            </a:r>
            <a:r>
              <a:rPr lang="en-AU" sz="2800" b="1" dirty="0" err="1"/>
              <a:t>Predikat</a:t>
            </a:r>
            <a:r>
              <a:rPr lang="en-AU" sz="2800" b="1" dirty="0"/>
              <a:t> </a:t>
            </a:r>
            <a:r>
              <a:rPr lang="en-AU" sz="2800" dirty="0"/>
              <a:t>can be </a:t>
            </a:r>
            <a:r>
              <a:rPr lang="en-AU" sz="2800" dirty="0" err="1"/>
              <a:t>Verba</a:t>
            </a:r>
            <a:r>
              <a:rPr lang="en-AU" sz="2800" dirty="0"/>
              <a:t>, </a:t>
            </a:r>
            <a:r>
              <a:rPr lang="en-AU" sz="2800" dirty="0" err="1"/>
              <a:t>Nomina</a:t>
            </a:r>
            <a:r>
              <a:rPr lang="en-AU" sz="2800" dirty="0"/>
              <a:t>, </a:t>
            </a:r>
            <a:r>
              <a:rPr lang="en-AU" sz="2800" dirty="0" err="1"/>
              <a:t>Adjektiva</a:t>
            </a:r>
            <a:r>
              <a:rPr lang="en-AU" sz="2800" dirty="0"/>
              <a:t>, </a:t>
            </a:r>
            <a:r>
              <a:rPr lang="en-AU" sz="2800" dirty="0" err="1"/>
              <a:t>Numeralia</a:t>
            </a:r>
            <a:r>
              <a:rPr lang="en-AU" sz="2800" dirty="0"/>
              <a:t>, dan </a:t>
            </a:r>
            <a:r>
              <a:rPr lang="en-AU" sz="2800" dirty="0" err="1"/>
              <a:t>Frasa</a:t>
            </a:r>
            <a:r>
              <a:rPr lang="en-AU" sz="2800" dirty="0"/>
              <a:t> </a:t>
            </a:r>
            <a:r>
              <a:rPr lang="en-AU" sz="2800" dirty="0" err="1"/>
              <a:t>preposisional</a:t>
            </a:r>
            <a:r>
              <a:rPr lang="en-AU" sz="2800" dirty="0"/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104402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923A0-381C-2541-8E66-3DB0E10DEA34}"/>
              </a:ext>
            </a:extLst>
          </p:cNvPr>
          <p:cNvSpPr/>
          <p:nvPr/>
        </p:nvSpPr>
        <p:spPr>
          <a:xfrm>
            <a:off x="2303584" y="561927"/>
            <a:ext cx="35549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“Saya guru.”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FF15D6E-1659-6544-B0F2-3CAF6EE230E9}"/>
              </a:ext>
            </a:extLst>
          </p:cNvPr>
          <p:cNvSpPr/>
          <p:nvPr/>
        </p:nvSpPr>
        <p:spPr>
          <a:xfrm>
            <a:off x="2801815" y="1085147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F19ED46-D792-9E46-A5FE-321845A6DFB7}"/>
              </a:ext>
            </a:extLst>
          </p:cNvPr>
          <p:cNvSpPr/>
          <p:nvPr/>
        </p:nvSpPr>
        <p:spPr>
          <a:xfrm>
            <a:off x="3561800" y="1085147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9EF0F-E67A-B247-ACC1-EADA00256037}"/>
              </a:ext>
            </a:extLst>
          </p:cNvPr>
          <p:cNvSpPr txBox="1"/>
          <p:nvPr/>
        </p:nvSpPr>
        <p:spPr>
          <a:xfrm>
            <a:off x="1526178" y="2681677"/>
            <a:ext cx="20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(pronomina)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AB775-1D3E-5D45-81CA-64CC67963F1F}"/>
              </a:ext>
            </a:extLst>
          </p:cNvPr>
          <p:cNvSpPr txBox="1"/>
          <p:nvPr/>
        </p:nvSpPr>
        <p:spPr>
          <a:xfrm>
            <a:off x="2889989" y="4170511"/>
            <a:ext cx="18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Predikat(nomina)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58090-BB54-4D46-ADD2-1350AB49F053}"/>
              </a:ext>
            </a:extLst>
          </p:cNvPr>
          <p:cNvSpPr txBox="1"/>
          <p:nvPr/>
        </p:nvSpPr>
        <p:spPr>
          <a:xfrm>
            <a:off x="2715101" y="3027565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DCEE-E323-654C-A8ED-70BFF263EE88}"/>
              </a:ext>
            </a:extLst>
          </p:cNvPr>
          <p:cNvSpPr txBox="1"/>
          <p:nvPr/>
        </p:nvSpPr>
        <p:spPr>
          <a:xfrm>
            <a:off x="3470278" y="4539843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69241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923A0-381C-2541-8E66-3DB0E10DEA34}"/>
              </a:ext>
            </a:extLst>
          </p:cNvPr>
          <p:cNvSpPr/>
          <p:nvPr/>
        </p:nvSpPr>
        <p:spPr>
          <a:xfrm>
            <a:off x="2303584" y="561927"/>
            <a:ext cx="35549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“Saya [seorang guru].”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FF15D6E-1659-6544-B0F2-3CAF6EE230E9}"/>
              </a:ext>
            </a:extLst>
          </p:cNvPr>
          <p:cNvSpPr/>
          <p:nvPr/>
        </p:nvSpPr>
        <p:spPr>
          <a:xfrm>
            <a:off x="2801815" y="1085147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F19ED46-D792-9E46-A5FE-321845A6DFB7}"/>
              </a:ext>
            </a:extLst>
          </p:cNvPr>
          <p:cNvSpPr/>
          <p:nvPr/>
        </p:nvSpPr>
        <p:spPr>
          <a:xfrm>
            <a:off x="4287972" y="1085145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9EF0F-E67A-B247-ACC1-EADA00256037}"/>
              </a:ext>
            </a:extLst>
          </p:cNvPr>
          <p:cNvSpPr txBox="1"/>
          <p:nvPr/>
        </p:nvSpPr>
        <p:spPr>
          <a:xfrm>
            <a:off x="2032222" y="2681678"/>
            <a:ext cx="20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(pronomina)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AB775-1D3E-5D45-81CA-64CC67963F1F}"/>
              </a:ext>
            </a:extLst>
          </p:cNvPr>
          <p:cNvSpPr txBox="1"/>
          <p:nvPr/>
        </p:nvSpPr>
        <p:spPr>
          <a:xfrm>
            <a:off x="3561800" y="4179326"/>
            <a:ext cx="2355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Predikat(Frasa nomina)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58090-BB54-4D46-ADD2-1350AB49F053}"/>
              </a:ext>
            </a:extLst>
          </p:cNvPr>
          <p:cNvSpPr txBox="1"/>
          <p:nvPr/>
        </p:nvSpPr>
        <p:spPr>
          <a:xfrm>
            <a:off x="2715101" y="3027565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DCEE-E323-654C-A8ED-70BFF263EE88}"/>
              </a:ext>
            </a:extLst>
          </p:cNvPr>
          <p:cNvSpPr txBox="1"/>
          <p:nvPr/>
        </p:nvSpPr>
        <p:spPr>
          <a:xfrm>
            <a:off x="4270916" y="4548658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831160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923A0-381C-2541-8E66-3DB0E10DEA34}"/>
              </a:ext>
            </a:extLst>
          </p:cNvPr>
          <p:cNvSpPr/>
          <p:nvPr/>
        </p:nvSpPr>
        <p:spPr>
          <a:xfrm>
            <a:off x="2303584" y="561927"/>
            <a:ext cx="32502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“Pasien beristirahat.”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FF15D6E-1659-6544-B0F2-3CAF6EE230E9}"/>
              </a:ext>
            </a:extLst>
          </p:cNvPr>
          <p:cNvSpPr/>
          <p:nvPr/>
        </p:nvSpPr>
        <p:spPr>
          <a:xfrm>
            <a:off x="2801815" y="1085147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F19ED46-D792-9E46-A5FE-321845A6DFB7}"/>
              </a:ext>
            </a:extLst>
          </p:cNvPr>
          <p:cNvSpPr/>
          <p:nvPr/>
        </p:nvSpPr>
        <p:spPr>
          <a:xfrm>
            <a:off x="4384430" y="1085146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9EF0F-E67A-B247-ACC1-EADA00256037}"/>
              </a:ext>
            </a:extLst>
          </p:cNvPr>
          <p:cNvSpPr txBox="1"/>
          <p:nvPr/>
        </p:nvSpPr>
        <p:spPr>
          <a:xfrm>
            <a:off x="2032222" y="2681678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(nomina)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AB775-1D3E-5D45-81CA-64CC67963F1F}"/>
              </a:ext>
            </a:extLst>
          </p:cNvPr>
          <p:cNvSpPr txBox="1"/>
          <p:nvPr/>
        </p:nvSpPr>
        <p:spPr>
          <a:xfrm>
            <a:off x="3561800" y="4179326"/>
            <a:ext cx="1645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Predikat(Verba)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58090-BB54-4D46-ADD2-1350AB49F053}"/>
              </a:ext>
            </a:extLst>
          </p:cNvPr>
          <p:cNvSpPr txBox="1"/>
          <p:nvPr/>
        </p:nvSpPr>
        <p:spPr>
          <a:xfrm>
            <a:off x="2715101" y="3027565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DCEE-E323-654C-A8ED-70BFF263EE88}"/>
              </a:ext>
            </a:extLst>
          </p:cNvPr>
          <p:cNvSpPr txBox="1"/>
          <p:nvPr/>
        </p:nvSpPr>
        <p:spPr>
          <a:xfrm>
            <a:off x="4270916" y="4548658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225954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923A0-381C-2541-8E66-3DB0E10DEA34}"/>
              </a:ext>
            </a:extLst>
          </p:cNvPr>
          <p:cNvSpPr/>
          <p:nvPr/>
        </p:nvSpPr>
        <p:spPr>
          <a:xfrm>
            <a:off x="2303584" y="561927"/>
            <a:ext cx="32502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“Rina cantik.”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FF15D6E-1659-6544-B0F2-3CAF6EE230E9}"/>
              </a:ext>
            </a:extLst>
          </p:cNvPr>
          <p:cNvSpPr/>
          <p:nvPr/>
        </p:nvSpPr>
        <p:spPr>
          <a:xfrm>
            <a:off x="2801815" y="1085147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F19ED46-D792-9E46-A5FE-321845A6DFB7}"/>
              </a:ext>
            </a:extLst>
          </p:cNvPr>
          <p:cNvSpPr/>
          <p:nvPr/>
        </p:nvSpPr>
        <p:spPr>
          <a:xfrm>
            <a:off x="3653971" y="1085147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9EF0F-E67A-B247-ACC1-EADA00256037}"/>
              </a:ext>
            </a:extLst>
          </p:cNvPr>
          <p:cNvSpPr txBox="1"/>
          <p:nvPr/>
        </p:nvSpPr>
        <p:spPr>
          <a:xfrm>
            <a:off x="2032222" y="2681678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(nomina)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AB775-1D3E-5D45-81CA-64CC67963F1F}"/>
              </a:ext>
            </a:extLst>
          </p:cNvPr>
          <p:cNvSpPr txBox="1"/>
          <p:nvPr/>
        </p:nvSpPr>
        <p:spPr>
          <a:xfrm>
            <a:off x="2925126" y="4179327"/>
            <a:ext cx="1966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Predikat(Adjektiva)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58090-BB54-4D46-ADD2-1350AB49F053}"/>
              </a:ext>
            </a:extLst>
          </p:cNvPr>
          <p:cNvSpPr txBox="1"/>
          <p:nvPr/>
        </p:nvSpPr>
        <p:spPr>
          <a:xfrm>
            <a:off x="2715101" y="3027565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DCEE-E323-654C-A8ED-70BFF263EE88}"/>
              </a:ext>
            </a:extLst>
          </p:cNvPr>
          <p:cNvSpPr txBox="1"/>
          <p:nvPr/>
        </p:nvSpPr>
        <p:spPr>
          <a:xfrm>
            <a:off x="3537698" y="4557475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779189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923A0-381C-2541-8E66-3DB0E10DEA34}"/>
              </a:ext>
            </a:extLst>
          </p:cNvPr>
          <p:cNvSpPr/>
          <p:nvPr/>
        </p:nvSpPr>
        <p:spPr>
          <a:xfrm>
            <a:off x="2303584" y="561927"/>
            <a:ext cx="32502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“Kita bertiga.”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FF15D6E-1659-6544-B0F2-3CAF6EE230E9}"/>
              </a:ext>
            </a:extLst>
          </p:cNvPr>
          <p:cNvSpPr/>
          <p:nvPr/>
        </p:nvSpPr>
        <p:spPr>
          <a:xfrm>
            <a:off x="2801815" y="1085147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F19ED46-D792-9E46-A5FE-321845A6DFB7}"/>
              </a:ext>
            </a:extLst>
          </p:cNvPr>
          <p:cNvSpPr/>
          <p:nvPr/>
        </p:nvSpPr>
        <p:spPr>
          <a:xfrm>
            <a:off x="3653971" y="1085147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9EF0F-E67A-B247-ACC1-EADA00256037}"/>
              </a:ext>
            </a:extLst>
          </p:cNvPr>
          <p:cNvSpPr txBox="1"/>
          <p:nvPr/>
        </p:nvSpPr>
        <p:spPr>
          <a:xfrm>
            <a:off x="2032222" y="2681678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(nomina)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AB775-1D3E-5D45-81CA-64CC67963F1F}"/>
              </a:ext>
            </a:extLst>
          </p:cNvPr>
          <p:cNvSpPr txBox="1"/>
          <p:nvPr/>
        </p:nvSpPr>
        <p:spPr>
          <a:xfrm>
            <a:off x="2925126" y="4179327"/>
            <a:ext cx="2043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Predikat(numeralia)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58090-BB54-4D46-ADD2-1350AB49F053}"/>
              </a:ext>
            </a:extLst>
          </p:cNvPr>
          <p:cNvSpPr txBox="1"/>
          <p:nvPr/>
        </p:nvSpPr>
        <p:spPr>
          <a:xfrm>
            <a:off x="2715101" y="3027565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DCEE-E323-654C-A8ED-70BFF263EE88}"/>
              </a:ext>
            </a:extLst>
          </p:cNvPr>
          <p:cNvSpPr txBox="1"/>
          <p:nvPr/>
        </p:nvSpPr>
        <p:spPr>
          <a:xfrm>
            <a:off x="3537698" y="4557475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0792C-7634-A748-8D92-A4AF775D48B9}"/>
              </a:ext>
            </a:extLst>
          </p:cNvPr>
          <p:cNvSpPr/>
          <p:nvPr/>
        </p:nvSpPr>
        <p:spPr>
          <a:xfrm>
            <a:off x="7242850" y="561927"/>
            <a:ext cx="28804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id-ID" sz="2800" dirty="0">
                <a:solidFill>
                  <a:prstClr val="black"/>
                </a:solidFill>
              </a:rPr>
              <a:t>“Anaknya banyak.”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021AB1CB-FC9F-1246-B194-4CCFC2AAC816}"/>
              </a:ext>
            </a:extLst>
          </p:cNvPr>
          <p:cNvSpPr/>
          <p:nvPr/>
        </p:nvSpPr>
        <p:spPr>
          <a:xfrm>
            <a:off x="8023926" y="1093963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16857-4CF1-FE4F-B471-8B7B3D1F90F3}"/>
              </a:ext>
            </a:extLst>
          </p:cNvPr>
          <p:cNvSpPr txBox="1"/>
          <p:nvPr/>
        </p:nvSpPr>
        <p:spPr>
          <a:xfrm>
            <a:off x="7259944" y="2627829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(nomina)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39AE4-1F6E-8C47-89F1-5C23D0EC67FB}"/>
              </a:ext>
            </a:extLst>
          </p:cNvPr>
          <p:cNvSpPr txBox="1"/>
          <p:nvPr/>
        </p:nvSpPr>
        <p:spPr>
          <a:xfrm>
            <a:off x="7942823" y="2907249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C092FD42-6BD4-3C49-8FEC-45763F6B4ADD}"/>
              </a:ext>
            </a:extLst>
          </p:cNvPr>
          <p:cNvSpPr/>
          <p:nvPr/>
        </p:nvSpPr>
        <p:spPr>
          <a:xfrm>
            <a:off x="9169899" y="1046286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3938A3-68D9-364C-A701-038AAC8AFC37}"/>
              </a:ext>
            </a:extLst>
          </p:cNvPr>
          <p:cNvSpPr txBox="1"/>
          <p:nvPr/>
        </p:nvSpPr>
        <p:spPr>
          <a:xfrm>
            <a:off x="8242122" y="4131650"/>
            <a:ext cx="2043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Predikat(numeralia)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2C8431-A4DE-7E44-8FA8-7EE8FA50D91B}"/>
              </a:ext>
            </a:extLst>
          </p:cNvPr>
          <p:cNvSpPr txBox="1"/>
          <p:nvPr/>
        </p:nvSpPr>
        <p:spPr>
          <a:xfrm>
            <a:off x="9078376" y="4460667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86020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923A0-381C-2541-8E66-3DB0E10DEA34}"/>
              </a:ext>
            </a:extLst>
          </p:cNvPr>
          <p:cNvSpPr/>
          <p:nvPr/>
        </p:nvSpPr>
        <p:spPr>
          <a:xfrm>
            <a:off x="2303583" y="561927"/>
            <a:ext cx="42129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“Kakeknya [dari Jepang].”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FF15D6E-1659-6544-B0F2-3CAF6EE230E9}"/>
              </a:ext>
            </a:extLst>
          </p:cNvPr>
          <p:cNvSpPr/>
          <p:nvPr/>
        </p:nvSpPr>
        <p:spPr>
          <a:xfrm>
            <a:off x="2801815" y="1085147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F19ED46-D792-9E46-A5FE-321845A6DFB7}"/>
              </a:ext>
            </a:extLst>
          </p:cNvPr>
          <p:cNvSpPr/>
          <p:nvPr/>
        </p:nvSpPr>
        <p:spPr>
          <a:xfrm>
            <a:off x="4703928" y="1130180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9EF0F-E67A-B247-ACC1-EADA00256037}"/>
              </a:ext>
            </a:extLst>
          </p:cNvPr>
          <p:cNvSpPr txBox="1"/>
          <p:nvPr/>
        </p:nvSpPr>
        <p:spPr>
          <a:xfrm>
            <a:off x="2032222" y="2681678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(nomina)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AB775-1D3E-5D45-81CA-64CC67963F1F}"/>
              </a:ext>
            </a:extLst>
          </p:cNvPr>
          <p:cNvSpPr txBox="1"/>
          <p:nvPr/>
        </p:nvSpPr>
        <p:spPr>
          <a:xfrm>
            <a:off x="3814527" y="4260577"/>
            <a:ext cx="289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Predikat(Frasa </a:t>
            </a:r>
            <a:r>
              <a:rPr lang="id-ID" dirty="0" err="1"/>
              <a:t>Proposisional</a:t>
            </a:r>
            <a:r>
              <a:rPr lang="id-ID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58090-BB54-4D46-ADD2-1350AB49F053}"/>
              </a:ext>
            </a:extLst>
          </p:cNvPr>
          <p:cNvSpPr txBox="1"/>
          <p:nvPr/>
        </p:nvSpPr>
        <p:spPr>
          <a:xfrm>
            <a:off x="2715101" y="3027565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DCEE-E323-654C-A8ED-70BFF263EE88}"/>
              </a:ext>
            </a:extLst>
          </p:cNvPr>
          <p:cNvSpPr txBox="1"/>
          <p:nvPr/>
        </p:nvSpPr>
        <p:spPr>
          <a:xfrm>
            <a:off x="4612406" y="4629909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B6BED8-5F8D-1449-91AA-064B680A8637}"/>
              </a:ext>
            </a:extLst>
          </p:cNvPr>
          <p:cNvSpPr/>
          <p:nvPr/>
        </p:nvSpPr>
        <p:spPr>
          <a:xfrm>
            <a:off x="7014778" y="561927"/>
            <a:ext cx="4478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dirty="0"/>
              <a:t>“Kami [ke Jepang] kemarin.”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251E3D7F-F682-5647-983A-6D14F7F93012}"/>
              </a:ext>
            </a:extLst>
          </p:cNvPr>
          <p:cNvSpPr/>
          <p:nvPr/>
        </p:nvSpPr>
        <p:spPr>
          <a:xfrm>
            <a:off x="7481879" y="1085146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495715-841B-AF49-8AA8-AF18DC7CC44A}"/>
              </a:ext>
            </a:extLst>
          </p:cNvPr>
          <p:cNvSpPr txBox="1"/>
          <p:nvPr/>
        </p:nvSpPr>
        <p:spPr>
          <a:xfrm>
            <a:off x="6739540" y="2681678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Subjek (nomina)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28E77-0A59-A349-8F24-36CADC7DE3F6}"/>
              </a:ext>
            </a:extLst>
          </p:cNvPr>
          <p:cNvSpPr txBox="1"/>
          <p:nvPr/>
        </p:nvSpPr>
        <p:spPr>
          <a:xfrm>
            <a:off x="7422419" y="2994310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0E708152-9760-124A-AE58-60C3C07B85F7}"/>
              </a:ext>
            </a:extLst>
          </p:cNvPr>
          <p:cNvSpPr/>
          <p:nvPr/>
        </p:nvSpPr>
        <p:spPr>
          <a:xfrm>
            <a:off x="8953682" y="1085146"/>
            <a:ext cx="187570" cy="30853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0E5A3D-086F-2941-8D28-5ECD2FE0BF38}"/>
              </a:ext>
            </a:extLst>
          </p:cNvPr>
          <p:cNvSpPr txBox="1"/>
          <p:nvPr/>
        </p:nvSpPr>
        <p:spPr>
          <a:xfrm>
            <a:off x="7402344" y="4170510"/>
            <a:ext cx="289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Predikat(Frasa </a:t>
            </a:r>
            <a:r>
              <a:rPr lang="id-ID" dirty="0" err="1"/>
              <a:t>Proposisional</a:t>
            </a:r>
            <a:r>
              <a:rPr lang="id-ID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7FF02D-EFF5-2A4C-BB1B-133BFE836DD6}"/>
              </a:ext>
            </a:extLst>
          </p:cNvPr>
          <p:cNvSpPr txBox="1"/>
          <p:nvPr/>
        </p:nvSpPr>
        <p:spPr>
          <a:xfrm>
            <a:off x="8862160" y="4539842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00D11C03-C90A-4C44-BD58-1836190135D6}"/>
              </a:ext>
            </a:extLst>
          </p:cNvPr>
          <p:cNvSpPr/>
          <p:nvPr/>
        </p:nvSpPr>
        <p:spPr>
          <a:xfrm>
            <a:off x="10331700" y="1053612"/>
            <a:ext cx="187570" cy="15877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9E4501-FC41-B445-8A62-CDE5804C4B8A}"/>
              </a:ext>
            </a:extLst>
          </p:cNvPr>
          <p:cNvSpPr txBox="1"/>
          <p:nvPr/>
        </p:nvSpPr>
        <p:spPr>
          <a:xfrm>
            <a:off x="9567718" y="2624978"/>
            <a:ext cx="1877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Keterangan waktu</a:t>
            </a:r>
          </a:p>
        </p:txBody>
      </p:sp>
    </p:spTree>
    <p:extLst>
      <p:ext uri="{BB962C8B-B14F-4D97-AF65-F5344CB8AC3E}">
        <p14:creationId xmlns:p14="http://schemas.microsoft.com/office/powerpoint/2010/main" val="3819957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8B408-4975-7E45-B119-BBB44179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969" y="2117969"/>
            <a:ext cx="2622062" cy="2622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5C6236-5058-F64E-ACE7-278BA071B51D}"/>
              </a:ext>
            </a:extLst>
          </p:cNvPr>
          <p:cNvSpPr txBox="1"/>
          <p:nvPr/>
        </p:nvSpPr>
        <p:spPr>
          <a:xfrm>
            <a:off x="4493766" y="785446"/>
            <a:ext cx="3204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>
                <a:latin typeface="American Typewriter" panose="02090604020004020304" pitchFamily="18" charset="77"/>
              </a:rPr>
              <a:t>Tanya Jawab</a:t>
            </a:r>
          </a:p>
        </p:txBody>
      </p:sp>
    </p:spTree>
    <p:extLst>
      <p:ext uri="{BB962C8B-B14F-4D97-AF65-F5344CB8AC3E}">
        <p14:creationId xmlns:p14="http://schemas.microsoft.com/office/powerpoint/2010/main" val="179235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377</Words>
  <Application>Microsoft Macintosh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American Typewriter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Muttaqien Ahmad</dc:creator>
  <cp:lastModifiedBy>Muttaqien Ahmad</cp:lastModifiedBy>
  <cp:revision>2</cp:revision>
  <dcterms:created xsi:type="dcterms:W3CDTF">2026-04-22T15:41:54Z</dcterms:created>
  <dcterms:modified xsi:type="dcterms:W3CDTF">2026-04-22T15:55:11Z</dcterms:modified>
</cp:coreProperties>
</file>