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83" r:id="rId5"/>
    <p:sldId id="264" r:id="rId6"/>
    <p:sldId id="284" r:id="rId7"/>
    <p:sldId id="282" r:id="rId8"/>
    <p:sldId id="286" r:id="rId9"/>
    <p:sldId id="287" r:id="rId10"/>
    <p:sldId id="259" r:id="rId11"/>
    <p:sldId id="285" r:id="rId12"/>
    <p:sldId id="262" r:id="rId13"/>
    <p:sldId id="263" r:id="rId14"/>
    <p:sldId id="267" r:id="rId15"/>
    <p:sldId id="269" r:id="rId16"/>
    <p:sldId id="270" r:id="rId17"/>
    <p:sldId id="271" r:id="rId18"/>
    <p:sldId id="280" r:id="rId19"/>
    <p:sldId id="26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1" autoAdjust="0"/>
    <p:restoredTop sz="94660"/>
  </p:normalViewPr>
  <p:slideViewPr>
    <p:cSldViewPr snapToGrid="0">
      <p:cViewPr varScale="1">
        <p:scale>
          <a:sx n="81" d="100"/>
          <a:sy n="81" d="100"/>
        </p:scale>
        <p:origin x="4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09" y="0"/>
            <a:ext cx="9806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0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664" y="251634"/>
            <a:ext cx="7857565" cy="1325563"/>
          </a:xfrm>
          <a:prstGeom prst="roundRect">
            <a:avLst>
              <a:gd name="adj" fmla="val 4202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dijual</a:t>
            </a:r>
            <a:r>
              <a:rPr lang="en-US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95" y="4367772"/>
            <a:ext cx="3257405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95" y="1745389"/>
            <a:ext cx="2286000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974" y="1872783"/>
            <a:ext cx="228600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37" y="4031389"/>
            <a:ext cx="34290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431" y="1745389"/>
            <a:ext cx="3433906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4424" y="4612341"/>
            <a:ext cx="3267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Ada </a:t>
            </a:r>
            <a:r>
              <a:rPr lang="en-US" sz="6000" dirty="0" err="1"/>
              <a:t>lagi</a:t>
            </a:r>
            <a:r>
              <a:rPr lang="en-US" sz="60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142" y="4717808"/>
            <a:ext cx="3170779" cy="1828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17808"/>
            <a:ext cx="2896193" cy="1828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36" y="149418"/>
            <a:ext cx="3490076" cy="182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18" y="2428913"/>
            <a:ext cx="11237481" cy="1955188"/>
          </a:xfrm>
        </p:spPr>
        <p:txBody>
          <a:bodyPr numCol="2">
            <a:normAutofit fontScale="62500" lnSpcReduction="2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Warung</a:t>
            </a:r>
            <a:endParaRPr lang="en-US" sz="4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Toko</a:t>
            </a:r>
            <a:endParaRPr lang="en-US" sz="44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Toserba</a:t>
            </a:r>
            <a:r>
              <a:rPr lang="en-US" sz="4400" dirty="0"/>
              <a:t> (</a:t>
            </a:r>
            <a:r>
              <a:rPr lang="en-US" sz="4400" dirty="0" err="1"/>
              <a:t>Toko</a:t>
            </a:r>
            <a:r>
              <a:rPr lang="en-US" sz="4400" dirty="0"/>
              <a:t> </a:t>
            </a:r>
            <a:r>
              <a:rPr lang="en-US" sz="4400" dirty="0" err="1"/>
              <a:t>Serba</a:t>
            </a:r>
            <a:r>
              <a:rPr lang="en-US" sz="4400" dirty="0"/>
              <a:t> Ada)		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Pasar</a:t>
            </a:r>
            <a:r>
              <a:rPr lang="en-US" sz="4400" dirty="0"/>
              <a:t> (modern </a:t>
            </a:r>
            <a:r>
              <a:rPr lang="en-US" sz="4400" dirty="0" err="1"/>
              <a:t>dan</a:t>
            </a:r>
            <a:r>
              <a:rPr lang="en-US" sz="4400" dirty="0"/>
              <a:t> </a:t>
            </a:r>
            <a:r>
              <a:rPr lang="en-US" sz="4400" dirty="0" err="1"/>
              <a:t>tradisional</a:t>
            </a:r>
            <a:r>
              <a:rPr lang="en-US" sz="4400" dirty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 err="1"/>
              <a:t>Swalayan</a:t>
            </a:r>
            <a:r>
              <a:rPr lang="en-US" sz="4400" dirty="0"/>
              <a:t> (</a:t>
            </a:r>
            <a:r>
              <a:rPr lang="en-US" sz="4400" i="1" dirty="0"/>
              <a:t>supermarket</a:t>
            </a:r>
            <a:r>
              <a:rPr lang="en-US" sz="4400" dirty="0"/>
              <a:t>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4400" dirty="0"/>
              <a:t>Mal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19" y="72283"/>
            <a:ext cx="3657599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474" y="4717808"/>
            <a:ext cx="3657600" cy="1828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365" y="101725"/>
            <a:ext cx="3363457" cy="18288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16319" y="1221846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4254877" y="1151034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210703" y="1080728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29812" y="4569890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35051" y="4475251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4092550" y="4569890"/>
            <a:ext cx="761782" cy="87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6559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515"/>
            <a:ext cx="10515600" cy="844697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dijual</a:t>
            </a:r>
            <a:r>
              <a:rPr lang="en-US" dirty="0"/>
              <a:t> di pasar (thing sale in market)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61464"/>
              </p:ext>
            </p:extLst>
          </p:nvPr>
        </p:nvGraphicFramePr>
        <p:xfrm>
          <a:off x="838200" y="1423046"/>
          <a:ext cx="10515600" cy="493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5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Telur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Mentega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Ikan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Roti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Ayam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Chicken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/>
                        <a:t>Nasi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Daging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Sayur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Vegetable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Kue</a:t>
                      </a:r>
                      <a:r>
                        <a:rPr lang="en-US" sz="2400" b="1" dirty="0"/>
                        <a:t> tart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Perhiasan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jewerly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Pakaian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Clothes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Buah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Fruit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Tisu</a:t>
                      </a:r>
                      <a:r>
                        <a:rPr lang="en-US" sz="2400" b="1" dirty="0"/>
                        <a:t> toilet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Toilet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Eskrim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Ice cream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Bahan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b="1" dirty="0" err="1"/>
                        <a:t>kimia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Chemicals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555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Gula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Sugar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Mainan</a:t>
                      </a:r>
                      <a:r>
                        <a:rPr lang="en-US" sz="2400" b="1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Toys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09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32" y="676893"/>
            <a:ext cx="10515600" cy="356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Hari </a:t>
            </a:r>
            <a:r>
              <a:rPr lang="en-US" dirty="0" err="1"/>
              <a:t>minggu</a:t>
            </a:r>
            <a:r>
              <a:rPr lang="en-US" dirty="0"/>
              <a:t> Budi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pasar. Di pasar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, </a:t>
            </a:r>
            <a:r>
              <a:rPr lang="en-US" dirty="0" err="1"/>
              <a:t>ayam</a:t>
            </a:r>
            <a:r>
              <a:rPr lang="en-US" dirty="0"/>
              <a:t>, </a:t>
            </a:r>
            <a:r>
              <a:rPr lang="en-US" dirty="0" err="1"/>
              <a:t>sayur</a:t>
            </a:r>
            <a:r>
              <a:rPr lang="en-US" dirty="0"/>
              <a:t>, melon dan </a:t>
            </a:r>
            <a:r>
              <a:rPr lang="en-US" dirty="0" err="1"/>
              <a:t>ikan</a:t>
            </a:r>
            <a:r>
              <a:rPr lang="en-US" dirty="0"/>
              <a:t>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20.000 per kg.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2 kg.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ayam</a:t>
            </a:r>
            <a:r>
              <a:rPr lang="en-US" dirty="0"/>
              <a:t> mahal, </a:t>
            </a:r>
            <a:r>
              <a:rPr lang="en-US" dirty="0" err="1"/>
              <a:t>itu</a:t>
            </a:r>
            <a:r>
              <a:rPr lang="en-US" dirty="0"/>
              <a:t> 50.000 per kg. Budi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1 kg.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 di pasar ini. </a:t>
            </a:r>
            <a:r>
              <a:rPr lang="en-US" dirty="0" err="1"/>
              <a:t>Harganya</a:t>
            </a:r>
            <a:r>
              <a:rPr lang="en-US" dirty="0"/>
              <a:t> 10.000 per ikat. Budi </a:t>
            </a:r>
            <a:r>
              <a:rPr lang="en-US" dirty="0" err="1"/>
              <a:t>beli</a:t>
            </a:r>
            <a:r>
              <a:rPr lang="en-US" dirty="0"/>
              <a:t> 1 melon untuk </a:t>
            </a:r>
            <a:r>
              <a:rPr lang="en-US" dirty="0" err="1"/>
              <a:t>ibu</a:t>
            </a:r>
            <a:r>
              <a:rPr lang="en-US" dirty="0"/>
              <a:t>. </a:t>
            </a:r>
            <a:r>
              <a:rPr lang="en-US" dirty="0" err="1"/>
              <a:t>Harganya</a:t>
            </a:r>
            <a:r>
              <a:rPr lang="en-US" dirty="0"/>
              <a:t> 30.000 per </a:t>
            </a:r>
            <a:r>
              <a:rPr lang="en-US" dirty="0" err="1"/>
              <a:t>buah</a:t>
            </a:r>
            <a:r>
              <a:rPr lang="en-US" dirty="0"/>
              <a:t>. Melon ini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hijau</a:t>
            </a:r>
            <a:r>
              <a:rPr lang="en-US" dirty="0"/>
              <a:t> dan </a:t>
            </a:r>
            <a:r>
              <a:rPr lang="en-US" dirty="0" err="1"/>
              <a:t>rasanya</a:t>
            </a:r>
            <a:r>
              <a:rPr lang="en-US" dirty="0"/>
              <a:t> </a:t>
            </a:r>
            <a:r>
              <a:rPr lang="en-US" dirty="0" err="1"/>
              <a:t>manis</a:t>
            </a:r>
            <a:r>
              <a:rPr lang="en-US" dirty="0"/>
              <a:t>. </a:t>
            </a:r>
            <a:r>
              <a:rPr lang="en-US" dirty="0" err="1"/>
              <a:t>Terakhir</a:t>
            </a:r>
            <a:r>
              <a:rPr lang="en-US" dirty="0"/>
              <a:t>, Budi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ikan</a:t>
            </a:r>
            <a:r>
              <a:rPr lang="en-US" dirty="0"/>
              <a:t> salmon 2kg. </a:t>
            </a:r>
            <a:r>
              <a:rPr lang="en-US" dirty="0" err="1"/>
              <a:t>Harga</a:t>
            </a:r>
            <a:r>
              <a:rPr lang="en-US" dirty="0"/>
              <a:t> per kg </a:t>
            </a:r>
            <a:r>
              <a:rPr lang="en-US" dirty="0" err="1"/>
              <a:t>ikan</a:t>
            </a:r>
            <a:r>
              <a:rPr lang="en-US" dirty="0"/>
              <a:t> 25.000. </a:t>
            </a:r>
            <a:r>
              <a:rPr lang="en-US" dirty="0" err="1"/>
              <a:t>ikan</a:t>
            </a:r>
            <a:r>
              <a:rPr lang="en-US" dirty="0"/>
              <a:t> salmon ini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Budi.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1F36D-AFE9-4D7F-8801-6147F1448508}"/>
              </a:ext>
            </a:extLst>
          </p:cNvPr>
          <p:cNvSpPr/>
          <p:nvPr/>
        </p:nvSpPr>
        <p:spPr>
          <a:xfrm>
            <a:off x="740734" y="3428999"/>
            <a:ext cx="97429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3200" dirty="0" err="1"/>
              <a:t>Kemana</a:t>
            </a:r>
            <a:r>
              <a:rPr lang="en-US" sz="3200" dirty="0"/>
              <a:t> Budi </a:t>
            </a:r>
            <a:r>
              <a:rPr lang="en-US" sz="3200" dirty="0" err="1"/>
              <a:t>pergi</a:t>
            </a:r>
            <a:r>
              <a:rPr lang="en-US" sz="3200" dirty="0"/>
              <a:t> di </a:t>
            </a:r>
            <a:r>
              <a:rPr lang="en-US" sz="3200" dirty="0" err="1"/>
              <a:t>hari</a:t>
            </a:r>
            <a:r>
              <a:rPr lang="en-US" sz="3200" dirty="0"/>
              <a:t> </a:t>
            </a:r>
            <a:r>
              <a:rPr lang="en-US" sz="3200" dirty="0" err="1"/>
              <a:t>minggu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yang </a:t>
            </a:r>
            <a:r>
              <a:rPr lang="en-US" sz="3200" dirty="0" err="1"/>
              <a:t>budi</a:t>
            </a:r>
            <a:r>
              <a:rPr lang="en-US" sz="3200" dirty="0"/>
              <a:t> </a:t>
            </a:r>
            <a:r>
              <a:rPr lang="en-US" sz="3200" dirty="0" err="1"/>
              <a:t>beli</a:t>
            </a:r>
            <a:r>
              <a:rPr lang="en-US" sz="3200" dirty="0"/>
              <a:t> di pasar?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barang</a:t>
            </a:r>
            <a:r>
              <a:rPr lang="en-US" sz="3200" dirty="0"/>
              <a:t> paling </a:t>
            </a:r>
            <a:r>
              <a:rPr lang="en-US" sz="3200" dirty="0" err="1"/>
              <a:t>murah</a:t>
            </a:r>
            <a:r>
              <a:rPr lang="en-US" sz="3200" dirty="0"/>
              <a:t> di pasar?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harganya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barang</a:t>
            </a:r>
            <a:r>
              <a:rPr lang="en-US" sz="3200" dirty="0"/>
              <a:t> paling mahal di pasar? </a:t>
            </a:r>
            <a:r>
              <a:rPr lang="en-US" sz="3200" dirty="0" err="1"/>
              <a:t>Berapa</a:t>
            </a:r>
            <a:r>
              <a:rPr lang="en-US" sz="3200" dirty="0"/>
              <a:t> </a:t>
            </a:r>
            <a:r>
              <a:rPr lang="en-US" sz="3200" dirty="0" err="1"/>
              <a:t>harganya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makanan</a:t>
            </a:r>
            <a:r>
              <a:rPr lang="en-US" sz="3200" dirty="0"/>
              <a:t> </a:t>
            </a:r>
            <a:r>
              <a:rPr lang="en-US" sz="3200" dirty="0" err="1"/>
              <a:t>favorit</a:t>
            </a:r>
            <a:r>
              <a:rPr lang="en-US" sz="3200" dirty="0"/>
              <a:t> </a:t>
            </a:r>
            <a:r>
              <a:rPr lang="en-US" sz="3200" dirty="0" err="1"/>
              <a:t>anak</a:t>
            </a:r>
            <a:r>
              <a:rPr lang="en-US" sz="3200" dirty="0"/>
              <a:t> </a:t>
            </a:r>
            <a:r>
              <a:rPr lang="en-US" sz="3200" dirty="0" err="1"/>
              <a:t>budi</a:t>
            </a:r>
            <a:r>
              <a:rPr lang="en-US" sz="3200" dirty="0"/>
              <a:t>?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Berapa</a:t>
            </a:r>
            <a:r>
              <a:rPr lang="en-US" sz="3200" dirty="0"/>
              <a:t> total </a:t>
            </a:r>
            <a:r>
              <a:rPr lang="en-US" sz="3200" dirty="0" err="1"/>
              <a:t>belanja</a:t>
            </a:r>
            <a:r>
              <a:rPr lang="en-US" sz="3200" dirty="0"/>
              <a:t> </a:t>
            </a:r>
            <a:r>
              <a:rPr lang="en-US" sz="3200" dirty="0" err="1"/>
              <a:t>budi</a:t>
            </a:r>
            <a:r>
              <a:rPr lang="en-US" sz="3200" dirty="0"/>
              <a:t> di pasar?</a:t>
            </a:r>
          </a:p>
        </p:txBody>
      </p:sp>
    </p:spTree>
    <p:extLst>
      <p:ext uri="{BB962C8B-B14F-4D97-AF65-F5344CB8AC3E}">
        <p14:creationId xmlns:p14="http://schemas.microsoft.com/office/powerpoint/2010/main" val="52878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erbedaan Pasar Tradisional dan Pasar Modern, Pahami Keunggulan dan  Kelemahannya">
            <a:extLst>
              <a:ext uri="{FF2B5EF4-FFF2-40B4-BE49-F238E27FC236}">
                <a16:creationId xmlns:a16="http://schemas.microsoft.com/office/drawing/2014/main" id="{E1473B4C-0DE8-4C2B-9B67-602B3A227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90" y="4095918"/>
            <a:ext cx="5538060" cy="276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832" y="676893"/>
            <a:ext cx="10515600" cy="3565963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US" dirty="0" err="1"/>
              <a:t>Kemana</a:t>
            </a:r>
            <a:r>
              <a:rPr lang="en-US" dirty="0"/>
              <a:t> Budi </a:t>
            </a:r>
            <a:r>
              <a:rPr lang="en-US" dirty="0" err="1"/>
              <a:t>pergi</a:t>
            </a:r>
            <a:r>
              <a:rPr lang="en-US" dirty="0"/>
              <a:t> di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di pasar?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paling </a:t>
            </a:r>
            <a:r>
              <a:rPr lang="en-US" dirty="0" err="1"/>
              <a:t>murah</a:t>
            </a:r>
            <a:r>
              <a:rPr lang="en-US" dirty="0"/>
              <a:t> di pasar?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paling mahal di pasar?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harganya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favorit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 algn="just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total </a:t>
            </a:r>
            <a:r>
              <a:rPr lang="en-US" dirty="0" err="1"/>
              <a:t>belanja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di pasar?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497" y="4095358"/>
            <a:ext cx="4158503" cy="2762642"/>
          </a:xfrm>
          <a:prstGeom prst="rect">
            <a:avLst/>
          </a:prstGeom>
        </p:spPr>
      </p:pic>
      <p:pic>
        <p:nvPicPr>
          <p:cNvPr id="1026" name="Picture 2" descr="Fresh Market, Supermarket Buah Dan Sayur Segar Banjarnegara">
            <a:extLst>
              <a:ext uri="{FF2B5EF4-FFF2-40B4-BE49-F238E27FC236}">
                <a16:creationId xmlns:a16="http://schemas.microsoft.com/office/drawing/2014/main" id="{E8DF30AD-CD40-4268-B565-703525D46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193" y="4082022"/>
            <a:ext cx="3701304" cy="277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51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34DC-01CC-42E9-AA07-5AB5E997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71"/>
            <a:ext cx="10515600" cy="763031"/>
          </a:xfrm>
        </p:spPr>
        <p:txBody>
          <a:bodyPr/>
          <a:lstStyle/>
          <a:p>
            <a:pPr algn="ctr"/>
            <a:r>
              <a:rPr lang="en-US" b="1" dirty="0" err="1"/>
              <a:t>Konsep</a:t>
            </a:r>
            <a:r>
              <a:rPr lang="en-US" b="1" dirty="0"/>
              <a:t> </a:t>
            </a:r>
            <a:r>
              <a:rPr lang="en-US" b="1" dirty="0" err="1"/>
              <a:t>apa</a:t>
            </a:r>
            <a:r>
              <a:rPr lang="en-US" b="1" dirty="0"/>
              <a:t>, </a:t>
            </a:r>
            <a:r>
              <a:rPr lang="en-US" b="1" dirty="0" err="1"/>
              <a:t>apakah</a:t>
            </a:r>
            <a:r>
              <a:rPr lang="en-US" b="1" dirty="0"/>
              <a:t> dan </a:t>
            </a:r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.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0CF4C-4E11-48AD-B0C3-A3469423B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42" y="961902"/>
            <a:ext cx="10748158" cy="54478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Apa</a:t>
            </a:r>
            <a:r>
              <a:rPr lang="en-US" b="1" dirty="0"/>
              <a:t>: Specific thing (What?)</a:t>
            </a:r>
          </a:p>
          <a:p>
            <a:pPr marL="0" indent="0">
              <a:buNone/>
            </a:pPr>
            <a:r>
              <a:rPr lang="en-US" sz="2400" dirty="0" err="1"/>
              <a:t>Apa</a:t>
            </a:r>
            <a:r>
              <a:rPr lang="en-US" sz="2400" dirty="0"/>
              <a:t> yang </a:t>
            </a:r>
            <a:r>
              <a:rPr lang="en-US" sz="2400" dirty="0" err="1"/>
              <a:t>kamu</a:t>
            </a:r>
            <a:r>
              <a:rPr lang="en-US" sz="2400" dirty="0"/>
              <a:t> </a:t>
            </a:r>
            <a:r>
              <a:rPr lang="en-US" sz="2400" dirty="0" err="1"/>
              <a:t>beli</a:t>
            </a:r>
            <a:r>
              <a:rPr lang="en-US" sz="2400" dirty="0"/>
              <a:t>? </a:t>
            </a:r>
            <a:r>
              <a:rPr lang="en-US" sz="2400" i="1" dirty="0"/>
              <a:t>What did you buy?</a:t>
            </a:r>
            <a:endParaRPr lang="en-US" sz="2400" dirty="0"/>
          </a:p>
          <a:p>
            <a:pPr marL="0" indent="0">
              <a:buNone/>
            </a:pPr>
            <a:r>
              <a:rPr lang="en-US" b="1" dirty="0" err="1"/>
              <a:t>Apakah</a:t>
            </a:r>
            <a:r>
              <a:rPr lang="en-US" b="1" dirty="0"/>
              <a:t>: Yes/no confirmation (Is/Are?)</a:t>
            </a:r>
          </a:p>
          <a:p>
            <a:pPr marL="0" indent="0">
              <a:buNone/>
            </a:pPr>
            <a:r>
              <a:rPr lang="en-US" sz="2600" dirty="0" err="1"/>
              <a:t>Apakah</a:t>
            </a:r>
            <a:r>
              <a:rPr lang="en-US" sz="2600" dirty="0"/>
              <a:t> </a:t>
            </a:r>
            <a:r>
              <a:rPr lang="en-US" sz="2600" dirty="0" err="1"/>
              <a:t>kamu</a:t>
            </a:r>
            <a:r>
              <a:rPr lang="en-US" sz="2600" dirty="0"/>
              <a:t> </a:t>
            </a:r>
            <a:r>
              <a:rPr lang="en-US" sz="2600" dirty="0" err="1"/>
              <a:t>mahasiswa</a:t>
            </a:r>
            <a:r>
              <a:rPr lang="en-US" sz="2600" dirty="0"/>
              <a:t>? </a:t>
            </a:r>
            <a:r>
              <a:rPr lang="en-US" sz="2600" i="1" dirty="0"/>
              <a:t>Are you college student?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: List of things (What all?)</a:t>
            </a:r>
          </a:p>
          <a:p>
            <a:pPr marL="0" indent="0">
              <a:buNone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tasmu</a:t>
            </a:r>
            <a:r>
              <a:rPr lang="en-ID" dirty="0"/>
              <a:t>? </a:t>
            </a:r>
            <a:r>
              <a:rPr lang="en-ID" i="1" dirty="0"/>
              <a:t>What’s in your bag?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Use </a:t>
            </a:r>
            <a:r>
              <a:rPr lang="en-US" b="1" dirty="0" err="1"/>
              <a:t>apa</a:t>
            </a:r>
            <a:r>
              <a:rPr lang="en-US" dirty="0"/>
              <a:t> for specific info, </a:t>
            </a:r>
          </a:p>
          <a:p>
            <a:r>
              <a:rPr lang="en-US" b="1" dirty="0" err="1"/>
              <a:t>apakah</a:t>
            </a:r>
            <a:r>
              <a:rPr lang="en-US" dirty="0"/>
              <a:t> for confirmation, </a:t>
            </a:r>
          </a:p>
          <a:p>
            <a:r>
              <a:rPr lang="en-US" b="1" dirty="0" err="1"/>
              <a:t>apa</a:t>
            </a:r>
            <a:r>
              <a:rPr lang="en-US" b="1" dirty="0"/>
              <a:t> </a:t>
            </a:r>
            <a:r>
              <a:rPr lang="en-US" b="1" dirty="0" err="1"/>
              <a:t>saja</a:t>
            </a:r>
            <a:r>
              <a:rPr lang="en-US" b="1" dirty="0"/>
              <a:t> </a:t>
            </a:r>
            <a:r>
              <a:rPr lang="en-US" dirty="0"/>
              <a:t>for lists.</a:t>
            </a:r>
          </a:p>
          <a:p>
            <a:pPr marL="0" indent="0">
              <a:buNone/>
            </a:pPr>
            <a:r>
              <a:rPr lang="en-US" sz="2400" i="1" dirty="0"/>
              <a:t>In casual talk, </a:t>
            </a:r>
            <a:r>
              <a:rPr lang="en-US" sz="2400" i="1" dirty="0" err="1"/>
              <a:t>apakah</a:t>
            </a:r>
            <a:r>
              <a:rPr lang="en-US" sz="2400" i="1" dirty="0"/>
              <a:t> is often skipped, and </a:t>
            </a:r>
            <a:r>
              <a:rPr lang="en-US" sz="2400" i="1" dirty="0" err="1"/>
              <a:t>apa</a:t>
            </a:r>
            <a:r>
              <a:rPr lang="en-US" sz="2400" i="1" dirty="0"/>
              <a:t> </a:t>
            </a:r>
            <a:r>
              <a:rPr lang="en-US" sz="2400" i="1" dirty="0" err="1"/>
              <a:t>saja</a:t>
            </a:r>
            <a:r>
              <a:rPr lang="en-US" sz="2400" i="1" dirty="0"/>
              <a:t> becomes </a:t>
            </a:r>
            <a:r>
              <a:rPr lang="en-US" sz="2400" i="1" dirty="0" err="1"/>
              <a:t>apa</a:t>
            </a:r>
            <a:r>
              <a:rPr lang="en-US" sz="2400" i="1" dirty="0"/>
              <a:t> </a:t>
            </a:r>
            <a:r>
              <a:rPr lang="en-US" sz="2400" i="1" dirty="0" err="1"/>
              <a:t>aja</a:t>
            </a:r>
            <a:r>
              <a:rPr lang="en-US" sz="2400" i="1" dirty="0"/>
              <a:t>.</a:t>
            </a:r>
          </a:p>
          <a:p>
            <a:pPr marL="0" indent="0">
              <a:buNone/>
            </a:pP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Buat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kalimat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dengan 3 kata </a:t>
            </a:r>
            <a:r>
              <a:rPr lang="en-US" sz="2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itu</a:t>
            </a:r>
            <a:r>
              <a:rPr lang="en-US" sz="2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! Make sentence using that 3 word!</a:t>
            </a:r>
          </a:p>
        </p:txBody>
      </p:sp>
    </p:spTree>
    <p:extLst>
      <p:ext uri="{BB962C8B-B14F-4D97-AF65-F5344CB8AC3E}">
        <p14:creationId xmlns:p14="http://schemas.microsoft.com/office/powerpoint/2010/main" val="281370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/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satuan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Bahasa Indonesia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272805"/>
              </p:ext>
            </p:extLst>
          </p:nvPr>
        </p:nvGraphicFramePr>
        <p:xfrm>
          <a:off x="838200" y="1196788"/>
          <a:ext cx="10515600" cy="4708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007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satuan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Sebuah</a:t>
                      </a:r>
                      <a:r>
                        <a:rPr lang="en-US" dirty="0"/>
                        <a:t> (fruit/ 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/>
                        <a:t>Sebuah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apel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sebuah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pisang</a:t>
                      </a:r>
                      <a:r>
                        <a:rPr lang="en-US" baseline="0" dirty="0"/>
                        <a:t> (</a:t>
                      </a:r>
                      <a:r>
                        <a:rPr lang="en-US" baseline="0" dirty="0" err="1"/>
                        <a:t>setandan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pisang</a:t>
                      </a:r>
                      <a:r>
                        <a:rPr lang="en-US" baseline="0" dirty="0"/>
                        <a:t>) ,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(pages)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amplop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surat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kertas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selembar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(a bunch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bunga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sayuran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seikat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wortel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Sebutir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Sebutir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telur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sebutir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anggur</a:t>
                      </a:r>
                      <a:r>
                        <a:rPr lang="en-US" baseline="0" dirty="0"/>
                        <a:t>,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Seorang</a:t>
                      </a:r>
                      <a:r>
                        <a:rPr lang="en-US" baseline="0" dirty="0"/>
                        <a:t> , </a:t>
                      </a:r>
                      <a:r>
                        <a:rPr lang="en-US" baseline="0" dirty="0" err="1"/>
                        <a:t>sekelompok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Setangkai</a:t>
                      </a:r>
                      <a:r>
                        <a:rPr lang="en-US" dirty="0"/>
                        <a:t> (a petals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mawar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Sehelai</a:t>
                      </a:r>
                      <a:r>
                        <a:rPr lang="en-US" dirty="0"/>
                        <a:t> (pages)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Sehelai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daun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Setengah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seperempat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sepertiga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 err="1"/>
                        <a:t>Selusin</a:t>
                      </a:r>
                      <a:r>
                        <a:rPr lang="en-US" dirty="0"/>
                        <a:t> (dozen)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007">
                <a:tc>
                  <a:txBody>
                    <a:bodyPr/>
                    <a:lstStyle/>
                    <a:p>
                      <a:r>
                        <a:rPr lang="en-US" dirty="0"/>
                        <a:t>100 gram</a:t>
                      </a:r>
                      <a:r>
                        <a:rPr lang="en-US" baseline="0" dirty="0"/>
                        <a:t> / 1 </a:t>
                      </a:r>
                      <a:r>
                        <a:rPr lang="en-US" baseline="0" dirty="0" err="1"/>
                        <a:t>ons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93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688" y="584066"/>
            <a:ext cx="2639096" cy="90988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 or 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Seorang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orang / </a:t>
            </a:r>
            <a:r>
              <a:rPr lang="en-US" dirty="0" err="1"/>
              <a:t>profesi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Sebuah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benda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Seekor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hewan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Setangkai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bunga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daun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Seikat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sesuatu</a:t>
            </a:r>
            <a:r>
              <a:rPr lang="en-US" dirty="0"/>
              <a:t> yang </a:t>
            </a:r>
            <a:r>
              <a:rPr lang="en-US" dirty="0" err="1"/>
              <a:t>diikat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Selembar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lembar</a:t>
            </a:r>
            <a:r>
              <a:rPr lang="en-US" dirty="0"/>
              <a:t> (</a:t>
            </a:r>
            <a:r>
              <a:rPr lang="en-US" dirty="0" err="1"/>
              <a:t>kertas</a:t>
            </a:r>
            <a:r>
              <a:rPr lang="en-US" dirty="0"/>
              <a:t>, </a:t>
            </a:r>
            <a:r>
              <a:rPr lang="en-US" dirty="0" err="1"/>
              <a:t>tisu</a:t>
            </a:r>
            <a:r>
              <a:rPr lang="en-US" dirty="0"/>
              <a:t>, …)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Sebutir</a:t>
            </a:r>
            <a:r>
              <a:rPr lang="en-US" dirty="0"/>
              <a:t>	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benda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 (</a:t>
            </a:r>
            <a:r>
              <a:rPr lang="en-US" dirty="0" err="1"/>
              <a:t>telur</a:t>
            </a:r>
            <a:r>
              <a:rPr lang="en-US" dirty="0"/>
              <a:t>, </a:t>
            </a:r>
            <a:r>
              <a:rPr lang="en-US" dirty="0" err="1"/>
              <a:t>beras</a:t>
            </a:r>
            <a:r>
              <a:rPr lang="en-US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274348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86" y="154463"/>
            <a:ext cx="1962150" cy="23336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120" y="2454491"/>
            <a:ext cx="2019300" cy="2257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009" y="81227"/>
            <a:ext cx="2212869" cy="220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71" y="406180"/>
            <a:ext cx="2438400" cy="24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798" y="2876512"/>
            <a:ext cx="2486024" cy="22097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6792" r="13517" b="7531"/>
          <a:stretch/>
        </p:blipFill>
        <p:spPr>
          <a:xfrm>
            <a:off x="1650742" y="4711916"/>
            <a:ext cx="2318197" cy="20734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4" y="3756791"/>
            <a:ext cx="2486025" cy="2486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38" r="29623"/>
          <a:stretch/>
        </p:blipFill>
        <p:spPr>
          <a:xfrm>
            <a:off x="196361" y="2831222"/>
            <a:ext cx="1312982" cy="38235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7" y="154463"/>
            <a:ext cx="1950243" cy="24794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5" r="28872"/>
          <a:stretch/>
        </p:blipFill>
        <p:spPr>
          <a:xfrm>
            <a:off x="10688971" y="3105583"/>
            <a:ext cx="1438969" cy="32126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370" y="176102"/>
            <a:ext cx="1918321" cy="274045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71" y="5177726"/>
            <a:ext cx="1853718" cy="1853718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7557" y="8122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1861739" y="81226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4715765" y="81226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7491754" y="186577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11368387" y="154463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17015" y="2348181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2778056" y="2499549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5600895" y="3082145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8</a:t>
            </a:r>
          </a:p>
        </p:txBody>
      </p:sp>
      <p:sp>
        <p:nvSpPr>
          <p:cNvPr id="24" name="Oval 23"/>
          <p:cNvSpPr/>
          <p:nvPr/>
        </p:nvSpPr>
        <p:spPr>
          <a:xfrm>
            <a:off x="8144698" y="2812020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9</a:t>
            </a:r>
          </a:p>
        </p:txBody>
      </p:sp>
      <p:sp>
        <p:nvSpPr>
          <p:cNvPr id="25" name="Oval 24"/>
          <p:cNvSpPr/>
          <p:nvPr/>
        </p:nvSpPr>
        <p:spPr>
          <a:xfrm>
            <a:off x="10277951" y="3196409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</a:p>
        </p:txBody>
      </p:sp>
      <p:sp>
        <p:nvSpPr>
          <p:cNvPr id="26" name="Oval 25"/>
          <p:cNvSpPr/>
          <p:nvPr/>
        </p:nvSpPr>
        <p:spPr>
          <a:xfrm>
            <a:off x="1521842" y="4231024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9042759" y="5184968"/>
            <a:ext cx="703741" cy="76877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063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757"/>
            <a:ext cx="6817660" cy="4984170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saja</a:t>
            </a:r>
            <a:r>
              <a:rPr lang="en-US" sz="3200" dirty="0"/>
              <a:t> yang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beli</a:t>
            </a:r>
            <a:r>
              <a:rPr lang="en-US" sz="3200" dirty="0"/>
              <a:t> </a:t>
            </a:r>
            <a:r>
              <a:rPr lang="en-US" sz="3200" dirty="0" err="1"/>
              <a:t>minggu</a:t>
            </a:r>
            <a:r>
              <a:rPr lang="en-US" sz="3200" dirty="0"/>
              <a:t> ini?</a:t>
            </a:r>
          </a:p>
          <a:p>
            <a:pPr marL="0" indent="0">
              <a:buNone/>
            </a:pPr>
            <a:r>
              <a:rPr lang="en-US" sz="3200" dirty="0" err="1"/>
              <a:t>Tulis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1 </a:t>
            </a:r>
            <a:r>
              <a:rPr lang="en-US" sz="3200" dirty="0" err="1"/>
              <a:t>paragraf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2400" dirty="0"/>
              <a:t>Nama </a:t>
            </a:r>
            <a:r>
              <a:rPr lang="en-US" sz="2400" dirty="0" err="1"/>
              <a:t>barang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Harga</a:t>
            </a:r>
            <a:r>
              <a:rPr lang="en-US" sz="2400" dirty="0"/>
              <a:t> </a:t>
            </a:r>
            <a:r>
              <a:rPr lang="en-US" sz="2400" dirty="0" err="1"/>
              <a:t>barang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Satuan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Beli</a:t>
            </a:r>
            <a:r>
              <a:rPr lang="en-US" sz="2400" dirty="0"/>
              <a:t>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Kapan </a:t>
            </a:r>
            <a:r>
              <a:rPr lang="en-US" sz="2400" dirty="0" err="1"/>
              <a:t>beli</a:t>
            </a:r>
            <a:r>
              <a:rPr lang="en-US" sz="2400" dirty="0"/>
              <a:t>?</a:t>
            </a:r>
          </a:p>
          <a:p>
            <a:pPr marL="0" indent="0">
              <a:buNone/>
            </a:pPr>
            <a:r>
              <a:rPr lang="en-US" sz="2400" b="1" dirty="0"/>
              <a:t>Saya </a:t>
            </a:r>
            <a:r>
              <a:rPr lang="en-US" sz="2400" b="1" dirty="0" err="1"/>
              <a:t>beli</a:t>
            </a:r>
            <a:r>
              <a:rPr lang="en-US" sz="2400" b="1" dirty="0"/>
              <a:t> 3 </a:t>
            </a:r>
            <a:r>
              <a:rPr lang="en-US" sz="2400" b="1" dirty="0" err="1"/>
              <a:t>barang</a:t>
            </a:r>
            <a:r>
              <a:rPr lang="en-US" sz="2400" b="1" dirty="0"/>
              <a:t>. Ada </a:t>
            </a:r>
            <a:r>
              <a:rPr lang="en-US" sz="2400" b="1" dirty="0" err="1"/>
              <a:t>sepatu</a:t>
            </a:r>
            <a:r>
              <a:rPr lang="en-US" sz="2400" b="1" dirty="0"/>
              <a:t>, </a:t>
            </a:r>
            <a:r>
              <a:rPr lang="en-US" sz="2400" b="1" dirty="0" err="1"/>
              <a:t>telur</a:t>
            </a:r>
            <a:r>
              <a:rPr lang="en-US" sz="2400" b="1" dirty="0"/>
              <a:t> dan </a:t>
            </a:r>
            <a:r>
              <a:rPr lang="en-US" sz="2400" b="1" dirty="0" err="1"/>
              <a:t>buah</a:t>
            </a:r>
            <a:r>
              <a:rPr lang="en-US" sz="2400" b="1" dirty="0"/>
              <a:t>. </a:t>
            </a:r>
            <a:r>
              <a:rPr lang="en-US" sz="2400" b="1" dirty="0" err="1"/>
              <a:t>Harga</a:t>
            </a:r>
            <a:r>
              <a:rPr lang="en-US" sz="2400" b="1" dirty="0"/>
              <a:t> </a:t>
            </a:r>
            <a:r>
              <a:rPr lang="en-US" sz="2400" b="1" dirty="0" err="1"/>
              <a:t>sepatu</a:t>
            </a:r>
            <a:r>
              <a:rPr lang="en-US" sz="2400" b="1" dirty="0"/>
              <a:t> 1000 kronor, </a:t>
            </a:r>
            <a:r>
              <a:rPr lang="en-US" sz="2400" b="1" dirty="0" err="1"/>
              <a:t>sebutir</a:t>
            </a:r>
            <a:r>
              <a:rPr lang="en-US" sz="2400" b="1" dirty="0"/>
              <a:t> </a:t>
            </a:r>
            <a:r>
              <a:rPr lang="en-US" sz="2400" b="1" dirty="0" err="1"/>
              <a:t>telur</a:t>
            </a:r>
            <a:r>
              <a:rPr lang="en-US" sz="2400" b="1" dirty="0"/>
              <a:t> 30 kronor, dan </a:t>
            </a:r>
            <a:r>
              <a:rPr lang="en-US" sz="2400" b="1" dirty="0" err="1"/>
              <a:t>buah</a:t>
            </a:r>
            <a:r>
              <a:rPr lang="en-US" sz="2400" b="1" dirty="0"/>
              <a:t> 200 kronor. Saya </a:t>
            </a:r>
            <a:r>
              <a:rPr lang="en-US" sz="2400" b="1" dirty="0" err="1"/>
              <a:t>beli</a:t>
            </a:r>
            <a:r>
              <a:rPr lang="en-US" sz="2400" b="1" dirty="0"/>
              <a:t> di pasar. Saya </a:t>
            </a:r>
            <a:r>
              <a:rPr lang="en-US" sz="2400" b="1" dirty="0" err="1"/>
              <a:t>beli</a:t>
            </a:r>
            <a:r>
              <a:rPr lang="en-US" sz="2400" b="1" dirty="0"/>
              <a:t> di </a:t>
            </a:r>
            <a:r>
              <a:rPr lang="en-US" sz="2400" b="1" dirty="0" err="1"/>
              <a:t>hari</a:t>
            </a:r>
            <a:r>
              <a:rPr lang="en-US" sz="2400" b="1" dirty="0"/>
              <a:t> </a:t>
            </a:r>
            <a:r>
              <a:rPr lang="en-US" sz="2400" b="1" dirty="0" err="1"/>
              <a:t>rabu</a:t>
            </a:r>
            <a:r>
              <a:rPr lang="en-US" sz="2400" b="1" dirty="0"/>
              <a:t>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1672" y="199087"/>
            <a:ext cx="6683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/>
              <a:t>Praktik</a:t>
            </a:r>
            <a:r>
              <a:rPr lang="en-US" sz="6000" b="1" dirty="0"/>
              <a:t> </a:t>
            </a:r>
            <a:r>
              <a:rPr lang="en-US" sz="6000" b="1" dirty="0" err="1"/>
              <a:t>Menulis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2" y="2299447"/>
            <a:ext cx="4719918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0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776" y="3332040"/>
            <a:ext cx="3626224" cy="35259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10443882" cy="5946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</a:t>
            </a:r>
            <a:r>
              <a:rPr lang="en-US" b="1" dirty="0"/>
              <a:t>	</a:t>
            </a:r>
            <a:r>
              <a:rPr lang="en-US" dirty="0"/>
              <a:t>: “</a:t>
            </a:r>
            <a:r>
              <a:rPr lang="en-US" dirty="0" err="1"/>
              <a:t>Sayur-sayur</a:t>
            </a:r>
            <a:r>
              <a:rPr lang="en-US" dirty="0"/>
              <a:t>, </a:t>
            </a:r>
            <a:r>
              <a:rPr lang="en-US" dirty="0" err="1"/>
              <a:t>ayo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!”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“Pak,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!”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	: “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?”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satu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kilo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tomat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dan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setengah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			   kilogram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daging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		: “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tomat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kilo </a:t>
            </a:r>
            <a:r>
              <a:rPr lang="en-US" dirty="0" err="1"/>
              <a:t>tujuh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				  	  </a:t>
            </a:r>
            <a:r>
              <a:rPr lang="en-US" dirty="0" err="1"/>
              <a:t>daging</a:t>
            </a:r>
            <a:r>
              <a:rPr lang="en-US" dirty="0"/>
              <a:t> </a:t>
            </a:r>
            <a:r>
              <a:rPr lang="en-US" dirty="0" err="1"/>
              <a:t>setengah</a:t>
            </a:r>
            <a:r>
              <a:rPr lang="en-US" dirty="0"/>
              <a:t> kilogram lima </a:t>
            </a:r>
            <a:r>
              <a:rPr lang="en-US" dirty="0" err="1"/>
              <a:t>puluh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tambah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telur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lima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butir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		: “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telur</a:t>
            </a:r>
            <a:r>
              <a:rPr lang="en-US" dirty="0"/>
              <a:t> lima </a:t>
            </a:r>
            <a:r>
              <a:rPr lang="en-US" dirty="0" err="1"/>
              <a:t>butir</a:t>
            </a:r>
            <a:r>
              <a:rPr lang="en-US" dirty="0"/>
              <a:t> </a:t>
            </a:r>
            <a:r>
              <a:rPr lang="en-US" dirty="0" err="1"/>
              <a:t>sepuluh</a:t>
            </a:r>
            <a:r>
              <a:rPr lang="en-US" dirty="0"/>
              <a:t> </a:t>
            </a:r>
            <a:r>
              <a:rPr lang="en-US" dirty="0" err="1"/>
              <a:t>ribu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Jadi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harga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enam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puluh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tujuh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ribu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		: “</a:t>
            </a:r>
            <a:r>
              <a:rPr lang="en-US" dirty="0" err="1"/>
              <a:t>Betul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“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.”</a:t>
            </a:r>
          </a:p>
          <a:p>
            <a:pPr marL="0" indent="0">
              <a:buNone/>
            </a:pPr>
            <a:r>
              <a:rPr lang="en-US" dirty="0" err="1"/>
              <a:t>Tukang</a:t>
            </a:r>
            <a:r>
              <a:rPr lang="en-US" dirty="0"/>
              <a:t> </a:t>
            </a:r>
            <a:r>
              <a:rPr lang="en-US" dirty="0" err="1"/>
              <a:t>Sayur</a:t>
            </a:r>
            <a:r>
              <a:rPr lang="en-US" dirty="0"/>
              <a:t> 	: “</a:t>
            </a:r>
            <a:r>
              <a:rPr lang="en-US" dirty="0" err="1"/>
              <a:t>Sama-sama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19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207"/>
            <a:ext cx="10515600" cy="1325563"/>
          </a:xfrm>
        </p:spPr>
        <p:txBody>
          <a:bodyPr/>
          <a:lstStyle/>
          <a:p>
            <a:r>
              <a:rPr lang="en-US" dirty="0" err="1"/>
              <a:t>Jawab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41" y="1354978"/>
            <a:ext cx="7180729" cy="4351338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Produk</a:t>
            </a:r>
            <a:r>
              <a:rPr lang="en-US" sz="3600" dirty="0"/>
              <a:t> </a:t>
            </a:r>
            <a:r>
              <a:rPr lang="en-US" sz="3600" dirty="0" err="1"/>
              <a:t>apa</a:t>
            </a:r>
            <a:r>
              <a:rPr lang="en-US" sz="3600" dirty="0"/>
              <a:t> yang </a:t>
            </a:r>
            <a:r>
              <a:rPr lang="en-US" sz="3600" dirty="0" err="1"/>
              <a:t>dijual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teks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Produk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FF0000"/>
                </a:solidFill>
              </a:rPr>
              <a:t>apa</a:t>
            </a:r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dirty="0" err="1">
                <a:solidFill>
                  <a:srgbClr val="FF0000"/>
                </a:solidFill>
              </a:rPr>
              <a:t>saja</a:t>
            </a:r>
            <a:r>
              <a:rPr lang="en-US" sz="3600" dirty="0"/>
              <a:t> yang </a:t>
            </a:r>
            <a:r>
              <a:rPr lang="en-US" sz="3600" dirty="0" err="1"/>
              <a:t>dibeli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teks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lima </a:t>
            </a:r>
            <a:r>
              <a:rPr lang="en-US" sz="3600" dirty="0" err="1"/>
              <a:t>butir</a:t>
            </a:r>
            <a:r>
              <a:rPr lang="en-US" sz="3600" dirty="0"/>
              <a:t> </a:t>
            </a:r>
            <a:r>
              <a:rPr lang="en-US" sz="3600" dirty="0" err="1"/>
              <a:t>telur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harga</a:t>
            </a:r>
            <a:r>
              <a:rPr lang="en-US" sz="3600" dirty="0"/>
              <a:t> </a:t>
            </a:r>
            <a:r>
              <a:rPr lang="en-US" sz="3600" dirty="0" err="1"/>
              <a:t>satu</a:t>
            </a:r>
            <a:r>
              <a:rPr lang="en-US" sz="3600" dirty="0"/>
              <a:t> kilogram </a:t>
            </a:r>
            <a:r>
              <a:rPr lang="en-US" sz="3600" dirty="0" err="1"/>
              <a:t>daging</a:t>
            </a:r>
            <a:r>
              <a:rPr lang="en-US" sz="36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Berapa</a:t>
            </a:r>
            <a:r>
              <a:rPr lang="en-US" sz="3600" dirty="0"/>
              <a:t> </a:t>
            </a:r>
            <a:r>
              <a:rPr lang="en-US" sz="3600" dirty="0" err="1"/>
              <a:t>jumlah</a:t>
            </a:r>
            <a:r>
              <a:rPr lang="en-US" sz="3600" dirty="0"/>
              <a:t> </a:t>
            </a:r>
            <a:r>
              <a:rPr lang="en-US" sz="3600" dirty="0" err="1"/>
              <a:t>uang</a:t>
            </a:r>
            <a:r>
              <a:rPr lang="en-US" sz="3600" dirty="0"/>
              <a:t> yang </a:t>
            </a:r>
            <a:r>
              <a:rPr lang="en-US" sz="3600" dirty="0" err="1"/>
              <a:t>harus</a:t>
            </a:r>
            <a:r>
              <a:rPr lang="en-US" sz="3600" dirty="0"/>
              <a:t> </a:t>
            </a:r>
            <a:r>
              <a:rPr lang="en-US" sz="3600" dirty="0" err="1"/>
              <a:t>dibayar</a:t>
            </a:r>
            <a:r>
              <a:rPr lang="en-US" sz="3600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713522"/>
            <a:ext cx="4191000" cy="314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3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>
              <a:gd name="adj" fmla="val 46086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belanja</a:t>
            </a:r>
            <a:r>
              <a:rPr lang="en-US" dirty="0"/>
              <a:t> online di </a:t>
            </a:r>
            <a:r>
              <a:rPr lang="en-US" dirty="0" err="1"/>
              <a:t>negara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543" y="1917887"/>
            <a:ext cx="8194914" cy="444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94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38" r="457" b="21765"/>
          <a:stretch/>
        </p:blipFill>
        <p:spPr>
          <a:xfrm>
            <a:off x="5365376" y="443753"/>
            <a:ext cx="6826624" cy="37786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671" y="1102659"/>
            <a:ext cx="10910047" cy="5087751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 err="1"/>
              <a:t>jual</a:t>
            </a:r>
            <a:r>
              <a:rPr lang="en-US" sz="4000" b="1" dirty="0"/>
              <a:t> </a:t>
            </a:r>
            <a:r>
              <a:rPr lang="en-US" sz="4000" b="1" dirty="0" err="1"/>
              <a:t>cepat</a:t>
            </a:r>
            <a:r>
              <a:rPr lang="en-US" sz="4000" b="1" dirty="0"/>
              <a:t> (flash sale) </a:t>
            </a:r>
          </a:p>
          <a:p>
            <a:pPr marL="0" indent="0">
              <a:buNone/>
            </a:pPr>
            <a:r>
              <a:rPr lang="en-US" dirty="0" err="1"/>
              <a:t>Sepeda</a:t>
            </a:r>
            <a:r>
              <a:rPr lang="en-US" dirty="0"/>
              <a:t> </a:t>
            </a:r>
            <a:r>
              <a:rPr lang="en-US" dirty="0" err="1"/>
              <a:t>gunung</a:t>
            </a:r>
            <a:r>
              <a:rPr lang="en-US" dirty="0"/>
              <a:t> </a:t>
            </a:r>
            <a:r>
              <a:rPr lang="en-US" dirty="0" err="1"/>
              <a:t>merk</a:t>
            </a:r>
            <a:r>
              <a:rPr lang="en-US" dirty="0"/>
              <a:t> United</a:t>
            </a:r>
          </a:p>
          <a:p>
            <a:pPr marL="0" indent="0">
              <a:buNone/>
            </a:pPr>
            <a:r>
              <a:rPr lang="en-US" dirty="0" err="1"/>
              <a:t>Kecepatan</a:t>
            </a:r>
            <a:r>
              <a:rPr lang="en-US" dirty="0"/>
              <a:t> 5 </a:t>
            </a:r>
            <a:r>
              <a:rPr lang="en-US" dirty="0" err="1"/>
              <a:t>gigi</a:t>
            </a:r>
            <a:r>
              <a:rPr lang="en-US" dirty="0"/>
              <a:t> (5 speed)</a:t>
            </a:r>
          </a:p>
          <a:p>
            <a:pPr marL="0" indent="0">
              <a:buNone/>
            </a:pPr>
            <a:r>
              <a:rPr lang="en-US" dirty="0" err="1"/>
              <a:t>Ukuran</a:t>
            </a:r>
            <a:r>
              <a:rPr lang="en-US" dirty="0"/>
              <a:t> 45 cm (size)</a:t>
            </a:r>
          </a:p>
          <a:p>
            <a:pPr marL="0" indent="0">
              <a:buNone/>
            </a:pP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sepeda</a:t>
            </a:r>
            <a:r>
              <a:rPr lang="en-US" dirty="0"/>
              <a:t> </a:t>
            </a:r>
            <a:r>
              <a:rPr lang="en-US" dirty="0" err="1"/>
              <a:t>bekas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Berat</a:t>
            </a:r>
            <a:r>
              <a:rPr lang="en-US" dirty="0"/>
              <a:t> total 11 kilogram (</a:t>
            </a:r>
            <a:r>
              <a:rPr lang="en-US" dirty="0" err="1"/>
              <a:t>weigth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Bisa </a:t>
            </a:r>
            <a:r>
              <a:rPr lang="en-US" dirty="0" err="1"/>
              <a:t>dikirim</a:t>
            </a:r>
            <a:r>
              <a:rPr lang="en-US" dirty="0"/>
              <a:t> dengan Tiki, JNE, </a:t>
            </a:r>
            <a:r>
              <a:rPr lang="en-US" dirty="0" err="1"/>
              <a:t>atau</a:t>
            </a:r>
            <a:r>
              <a:rPr lang="en-US" dirty="0"/>
              <a:t> Pos. (courier)</a:t>
            </a:r>
          </a:p>
          <a:p>
            <a:pPr marL="0" indent="0">
              <a:buNone/>
            </a:pPr>
            <a:r>
              <a:rPr lang="en-US" dirty="0" err="1"/>
              <a:t>Harga</a:t>
            </a:r>
            <a:r>
              <a:rPr lang="en-US" dirty="0"/>
              <a:t> 8.000.000 Rupiah </a:t>
            </a:r>
          </a:p>
        </p:txBody>
      </p:sp>
    </p:spTree>
    <p:extLst>
      <p:ext uri="{BB962C8B-B14F-4D97-AF65-F5344CB8AC3E}">
        <p14:creationId xmlns:p14="http://schemas.microsoft.com/office/powerpoint/2010/main" val="3639034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7435"/>
            <a:ext cx="6817660" cy="4522975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online. </a:t>
            </a:r>
          </a:p>
          <a:p>
            <a:pPr marL="0" indent="0">
              <a:buNone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jual</a:t>
            </a:r>
            <a:endParaRPr lang="en-US" dirty="0"/>
          </a:p>
          <a:p>
            <a:pPr lvl="0"/>
            <a:r>
              <a:rPr lang="en-US" dirty="0"/>
              <a:t>Nama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/>
              <a:t>Detail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Berat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produk</a:t>
            </a:r>
            <a:endParaRPr lang="en-US" dirty="0"/>
          </a:p>
          <a:p>
            <a:pPr lvl="0"/>
            <a:r>
              <a:rPr lang="en-US" dirty="0"/>
              <a:t>Cara </a:t>
            </a:r>
            <a:r>
              <a:rPr lang="en-US" dirty="0" err="1"/>
              <a:t>pengiriman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91673" y="484094"/>
            <a:ext cx="6683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/>
              <a:t>Praktik</a:t>
            </a:r>
            <a:r>
              <a:rPr lang="en-US" sz="6000" b="1" dirty="0"/>
              <a:t> </a:t>
            </a:r>
            <a:r>
              <a:rPr lang="en-US" sz="6000" b="1" dirty="0" err="1"/>
              <a:t>Menulis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082" y="2299447"/>
            <a:ext cx="4719918" cy="31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58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8240" y="587810"/>
            <a:ext cx="7857565" cy="1325563"/>
          </a:xfrm>
          <a:prstGeom prst="roundRect">
            <a:avLst>
              <a:gd name="adj" fmla="val 4202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pasar</a:t>
            </a:r>
            <a:r>
              <a:rPr lang="en-US" dirty="0"/>
              <a:t> </a:t>
            </a:r>
            <a:r>
              <a:rPr lang="en-US" dirty="0" err="1"/>
              <a:t>tradisional</a:t>
            </a:r>
            <a:r>
              <a:rPr lang="en-US" dirty="0"/>
              <a:t> di </a:t>
            </a:r>
            <a:r>
              <a:rPr lang="en-US" dirty="0" err="1"/>
              <a:t>negara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7129" y="2312894"/>
            <a:ext cx="988358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Buka</a:t>
            </a:r>
            <a:r>
              <a:rPr lang="en-US" sz="4400" dirty="0"/>
              <a:t> </a:t>
            </a:r>
            <a:r>
              <a:rPr lang="en-US" sz="4400" dirty="0" err="1"/>
              <a:t>hari</a:t>
            </a:r>
            <a:r>
              <a:rPr lang="en-US" sz="4400" dirty="0"/>
              <a:t> </a:t>
            </a:r>
            <a:r>
              <a:rPr lang="en-US" sz="4400" dirty="0" err="1"/>
              <a:t>apa</a:t>
            </a:r>
            <a:r>
              <a:rPr lang="en-US" sz="4400" dirty="0"/>
              <a:t>?</a:t>
            </a:r>
          </a:p>
          <a:p>
            <a:r>
              <a:rPr lang="en-US" sz="4400" dirty="0" err="1"/>
              <a:t>Buka</a:t>
            </a:r>
            <a:r>
              <a:rPr lang="en-US" sz="4400" dirty="0"/>
              <a:t> </a:t>
            </a:r>
            <a:r>
              <a:rPr lang="en-US" sz="4400" dirty="0" err="1"/>
              <a:t>pukul</a:t>
            </a:r>
            <a:r>
              <a:rPr lang="en-US" sz="4400" dirty="0"/>
              <a:t> </a:t>
            </a:r>
            <a:r>
              <a:rPr lang="en-US" sz="4400" dirty="0" err="1"/>
              <a:t>berapa</a:t>
            </a:r>
            <a:r>
              <a:rPr lang="en-US" sz="4400" dirty="0"/>
              <a:t>?</a:t>
            </a:r>
          </a:p>
          <a:p>
            <a:r>
              <a:rPr lang="en-US" sz="4400" dirty="0" err="1"/>
              <a:t>Apa</a:t>
            </a:r>
            <a:r>
              <a:rPr lang="en-US" sz="4400" dirty="0"/>
              <a:t> </a:t>
            </a:r>
            <a:r>
              <a:rPr lang="en-US" sz="4400" dirty="0" err="1"/>
              <a:t>produk</a:t>
            </a:r>
            <a:r>
              <a:rPr lang="en-US" sz="4400" dirty="0"/>
              <a:t> yang </a:t>
            </a:r>
            <a:r>
              <a:rPr lang="en-US" sz="4400" dirty="0" err="1"/>
              <a:t>dijual</a:t>
            </a:r>
            <a:r>
              <a:rPr lang="en-US" sz="4400" dirty="0"/>
              <a:t>?</a:t>
            </a:r>
          </a:p>
          <a:p>
            <a:r>
              <a:rPr lang="en-US" sz="4400" dirty="0"/>
              <a:t>Ada </a:t>
            </a:r>
            <a:r>
              <a:rPr lang="en-US" sz="4400" dirty="0" err="1"/>
              <a:t>lagi</a:t>
            </a:r>
            <a:r>
              <a:rPr lang="en-US" sz="4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169903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78542" y="121024"/>
            <a:ext cx="10515600" cy="26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Arial Rounded MT Bold" panose="020F0704030504030204" pitchFamily="34" charset="0"/>
              </a:rPr>
              <a:t>TUGAS PRAKTIK BERBICARA: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 err="1">
                <a:latin typeface="Arial Rounded MT Bold" panose="020F0704030504030204" pitchFamily="34" charset="0"/>
              </a:rPr>
              <a:t>cari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produk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dari</a:t>
            </a:r>
            <a:r>
              <a:rPr lang="en-US" sz="2800" dirty="0">
                <a:latin typeface="Arial Rounded MT Bold" panose="020F0704030504030204" pitchFamily="34" charset="0"/>
              </a:rPr>
              <a:t> Indonesia yang </a:t>
            </a:r>
            <a:r>
              <a:rPr lang="en-US" sz="2800" dirty="0" err="1">
                <a:latin typeface="Arial Rounded MT Bold" panose="020F0704030504030204" pitchFamily="34" charset="0"/>
              </a:rPr>
              <a:t>ada</a:t>
            </a:r>
            <a:r>
              <a:rPr lang="en-US" sz="2800" dirty="0">
                <a:latin typeface="Arial Rounded MT Bold" panose="020F0704030504030204" pitchFamily="34" charset="0"/>
              </a:rPr>
              <a:t> di </a:t>
            </a:r>
            <a:r>
              <a:rPr lang="en-US" sz="2800" dirty="0" err="1">
                <a:latin typeface="Arial Rounded MT Bold" panose="020F0704030504030204" pitchFamily="34" charset="0"/>
              </a:rPr>
              <a:t>negara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Anda</a:t>
            </a:r>
            <a:r>
              <a:rPr lang="en-US" sz="2800" dirty="0">
                <a:latin typeface="Arial Rounded MT Bold" panose="020F0704030504030204" pitchFamily="34" charset="0"/>
              </a:rPr>
              <a:t>. </a:t>
            </a:r>
            <a:r>
              <a:rPr lang="en-US" sz="2800" dirty="0" err="1">
                <a:latin typeface="Arial Rounded MT Bold" panose="020F0704030504030204" pitchFamily="34" charset="0"/>
              </a:rPr>
              <a:t>Jelaskan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tentang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produk</a:t>
            </a:r>
            <a:r>
              <a:rPr lang="en-US" sz="2800" dirty="0">
                <a:latin typeface="Arial Rounded MT Bold" panose="020F0704030504030204" pitchFamily="34" charset="0"/>
              </a:rPr>
              <a:t> </a:t>
            </a:r>
            <a:r>
              <a:rPr lang="en-US" sz="2800" dirty="0" err="1">
                <a:latin typeface="Arial Rounded MT Bold" panose="020F0704030504030204" pitchFamily="34" charset="0"/>
              </a:rPr>
              <a:t>itu</a:t>
            </a:r>
            <a:r>
              <a:rPr lang="en-US" sz="2800" dirty="0">
                <a:latin typeface="Arial Rounded MT Bold" panose="020F0704030504030204" pitchFamily="34" charset="0"/>
              </a:rPr>
              <a:t>.</a:t>
            </a:r>
            <a:br>
              <a:rPr lang="en-US" sz="2800" dirty="0">
                <a:latin typeface="Arial Rounded MT Bold" panose="020F0704030504030204" pitchFamily="34" charset="0"/>
              </a:rPr>
            </a:br>
            <a:endParaRPr lang="en-US" sz="2800" dirty="0">
              <a:latin typeface="Arial Rounded MT Bold" panose="020F07040305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59" y="3871801"/>
            <a:ext cx="228600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05" y="4382789"/>
            <a:ext cx="2286000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05" y="2957401"/>
            <a:ext cx="2438400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638" y="3871801"/>
            <a:ext cx="2286000" cy="2286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302" y="4100401"/>
            <a:ext cx="348342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25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62526"/>
            <a:ext cx="5549527" cy="3121609"/>
          </a:xfr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838200" y="120426"/>
            <a:ext cx="10515600" cy="31250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600" dirty="0">
                <a:latin typeface="Arial Rounded MT Bold" panose="020F0704030504030204" pitchFamily="34" charset="0"/>
              </a:rPr>
              <a:t>PRAKTIK BERBICARA:</a:t>
            </a:r>
            <a:br>
              <a:rPr lang="en-US" sz="3600" dirty="0">
                <a:latin typeface="Arial Rounded MT Bold" panose="020F0704030504030204" pitchFamily="34" charset="0"/>
              </a:rPr>
            </a:br>
            <a:r>
              <a:rPr lang="en-US" sz="3600" dirty="0" err="1">
                <a:latin typeface="Arial Rounded MT Bold" panose="020F0704030504030204" pitchFamily="34" charset="0"/>
              </a:rPr>
              <a:t>Ambillah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beberapa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barang</a:t>
            </a:r>
            <a:r>
              <a:rPr lang="en-US" sz="3600" dirty="0">
                <a:latin typeface="Arial Rounded MT Bold" panose="020F0704030504030204" pitchFamily="34" charset="0"/>
              </a:rPr>
              <a:t> yang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miliki</a:t>
            </a:r>
            <a:r>
              <a:rPr lang="en-US" sz="3600" dirty="0">
                <a:latin typeface="Arial Rounded MT Bold" panose="020F0704030504030204" pitchFamily="34" charset="0"/>
              </a:rPr>
              <a:t>, </a:t>
            </a:r>
            <a:r>
              <a:rPr lang="en-US" sz="3600" dirty="0" err="1">
                <a:latin typeface="Arial Rounded MT Bold" panose="020F0704030504030204" pitchFamily="34" charset="0"/>
              </a:rPr>
              <a:t>praktikkan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dengan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teman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, </a:t>
            </a:r>
            <a:r>
              <a:rPr lang="en-US" sz="3600" dirty="0" err="1">
                <a:latin typeface="Arial Rounded MT Bold" panose="020F0704030504030204" pitchFamily="34" charset="0"/>
              </a:rPr>
              <a:t>Anda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sebagai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penjual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pembeli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secara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bergantian</a:t>
            </a:r>
            <a:r>
              <a:rPr lang="en-US" sz="3600" dirty="0">
                <a:latin typeface="Arial Rounded MT Bold" panose="020F0704030504030204" pitchFamily="34" charset="0"/>
              </a:rPr>
              <a:t>!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63" y="3562526"/>
            <a:ext cx="4745438" cy="312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30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529" y="228600"/>
            <a:ext cx="8556812" cy="55180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b="1" dirty="0"/>
              <a:t>		</a:t>
            </a:r>
            <a:r>
              <a:rPr lang="en-US" dirty="0"/>
              <a:t>: </a:t>
            </a:r>
            <a:r>
              <a:rPr lang="en-US" dirty="0" err="1"/>
              <a:t>ayo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, </a:t>
            </a:r>
            <a:r>
              <a:rPr lang="en-US" dirty="0" err="1"/>
              <a:t>Murah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Anda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jual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jajanan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Ada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ceker</a:t>
            </a:r>
            <a:r>
              <a:rPr lang="en-US" dirty="0"/>
              <a:t>, </a:t>
            </a:r>
            <a:r>
              <a:rPr lang="en-US" dirty="0" err="1"/>
              <a:t>usus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telur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Budi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mau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ceker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5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usus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dan 3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telur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itu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saja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berapa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harga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total?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		: </a:t>
            </a:r>
            <a:r>
              <a:rPr lang="en-US" dirty="0" err="1"/>
              <a:t>harga</a:t>
            </a:r>
            <a:r>
              <a:rPr lang="en-US" dirty="0"/>
              <a:t> total 50.000 rupiah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Pembeli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		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uangnya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Pak.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Terima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kasih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/>
              <a:t>Penjual</a:t>
            </a:r>
            <a:r>
              <a:rPr lang="en-US" dirty="0"/>
              <a:t> 		: </a:t>
            </a:r>
            <a:r>
              <a:rPr lang="en-US" dirty="0" err="1"/>
              <a:t>Sama-sama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4484</TotalTime>
  <Words>1071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Adobe Fan Heiti Std B</vt:lpstr>
      <vt:lpstr>Aharoni</vt:lpstr>
      <vt:lpstr>Arial</vt:lpstr>
      <vt:lpstr>Arial Rounded MT Bold</vt:lpstr>
      <vt:lpstr>Calibri</vt:lpstr>
      <vt:lpstr>Calibri Light</vt:lpstr>
      <vt:lpstr>Office Theme</vt:lpstr>
      <vt:lpstr>PowerPoint Presentation</vt:lpstr>
      <vt:lpstr>Apa produk yang dijual?</vt:lpstr>
      <vt:lpstr>PowerPoint Presentation</vt:lpstr>
      <vt:lpstr>Barang dijual di pasar (thing sale in market)</vt:lpstr>
      <vt:lpstr>PowerPoint Presentation</vt:lpstr>
      <vt:lpstr>PowerPoint Presentation</vt:lpstr>
      <vt:lpstr>Konsep apa, apakah dan apa saja.</vt:lpstr>
      <vt:lpstr>Konsep satuan dalam Bahasa Indonesia</vt:lpstr>
      <vt:lpstr>A or AN</vt:lpstr>
      <vt:lpstr>PowerPoint Presentation</vt:lpstr>
      <vt:lpstr>PowerPoint Presentation</vt:lpstr>
      <vt:lpstr>PowerPoint Presentation</vt:lpstr>
      <vt:lpstr>Jawab soal berikut ini</vt:lpstr>
      <vt:lpstr>Bagaimana belanja online di negara Anda?</vt:lpstr>
      <vt:lpstr>PowerPoint Presentation</vt:lpstr>
      <vt:lpstr>PowerPoint Presentation</vt:lpstr>
      <vt:lpstr>Bagaimana pasar tradisional di negara Anda?</vt:lpstr>
      <vt:lpstr>TUGAS PRAKTIK BERBICARA: cari produk dari Indonesia yang ada di negara Anda. Jelaskan tentang produk itu. </vt:lpstr>
      <vt:lpstr>PRAKTIK BERBICARA: Ambillah beberapa barang yang Anda miliki, praktikkan dengan teman Anda, Anda sebagai penjual dan pembeli secara bergantian! 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75</cp:revision>
  <dcterms:created xsi:type="dcterms:W3CDTF">2020-10-19T23:51:58Z</dcterms:created>
  <dcterms:modified xsi:type="dcterms:W3CDTF">2025-06-10T17:02:13Z</dcterms:modified>
</cp:coreProperties>
</file>