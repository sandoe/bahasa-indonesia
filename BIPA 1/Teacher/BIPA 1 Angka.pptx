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75" r:id="rId3"/>
    <p:sldId id="282" r:id="rId4"/>
    <p:sldId id="283" r:id="rId5"/>
    <p:sldId id="295" r:id="rId6"/>
    <p:sldId id="294" r:id="rId7"/>
    <p:sldId id="296" r:id="rId8"/>
    <p:sldId id="297" r:id="rId9"/>
    <p:sldId id="290" r:id="rId10"/>
    <p:sldId id="301" r:id="rId11"/>
    <p:sldId id="299" r:id="rId12"/>
    <p:sldId id="302" r:id="rId13"/>
    <p:sldId id="303" r:id="rId14"/>
    <p:sldId id="304" r:id="rId15"/>
    <p:sldId id="306" r:id="rId16"/>
    <p:sldId id="288" r:id="rId17"/>
    <p:sldId id="305" r:id="rId18"/>
    <p:sldId id="257" r:id="rId19"/>
    <p:sldId id="284" r:id="rId20"/>
    <p:sldId id="285" r:id="rId21"/>
    <p:sldId id="286" r:id="rId22"/>
    <p:sldId id="293" r:id="rId23"/>
    <p:sldId id="298" r:id="rId24"/>
    <p:sldId id="307" r:id="rId25"/>
    <p:sldId id="308" r:id="rId26"/>
    <p:sldId id="287" r:id="rId27"/>
    <p:sldId id="289" r:id="rId28"/>
    <p:sldId id="292" r:id="rId29"/>
    <p:sldId id="291" r:id="rId30"/>
    <p:sldId id="311" r:id="rId31"/>
    <p:sldId id="309" r:id="rId32"/>
    <p:sldId id="314" r:id="rId33"/>
    <p:sldId id="310" r:id="rId34"/>
    <p:sldId id="312" r:id="rId35"/>
    <p:sldId id="317" r:id="rId36"/>
    <p:sldId id="320" r:id="rId37"/>
    <p:sldId id="319" r:id="rId38"/>
    <p:sldId id="313" r:id="rId39"/>
    <p:sldId id="315" r:id="rId40"/>
    <p:sldId id="316" r:id="rId41"/>
    <p:sldId id="27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88" autoAdjust="0"/>
    <p:restoredTop sz="94660"/>
  </p:normalViewPr>
  <p:slideViewPr>
    <p:cSldViewPr snapToGrid="0">
      <p:cViewPr varScale="1">
        <p:scale>
          <a:sx n="96" d="100"/>
          <a:sy n="96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20CED-800E-402F-9425-2586C0441CC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4FB19-043B-4042-9841-C0AE0B02B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8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268;ga24d75da4c_1_0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10243" name="Google Shape;269;ga24d75da4c_1_0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743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268;ga24d75da4c_1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2291" name="Google Shape;269;ga24d75da4c_1_0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126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304;ge795989ca1_0_172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6387" name="Google Shape;305;ge795989ca1_0_172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092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490;ge795989ca1_0_495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2531" name="Google Shape;491;ge795989ca1_0_495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637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268;ga24d75da4c_1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8915" name="Google Shape;269;ga24d75da4c_1_0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402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0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7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5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7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8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3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4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7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5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135200" y="3247533"/>
            <a:ext cx="7921600" cy="11224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3175200" y="4211333"/>
            <a:ext cx="5841600" cy="5792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/>
          </p:nvPr>
        </p:nvSpPr>
        <p:spPr>
          <a:xfrm>
            <a:off x="5243600" y="2061033"/>
            <a:ext cx="1704800" cy="10240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9333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902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99FAB-39A5-4CB5-B632-5ACE842B4E60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1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Number Wallpapers - Top Free Number Backgrounds - WallpaperAccess"/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38390"/>
          </a:xfrm>
          <a:prstGeom prst="rect">
            <a:avLst/>
          </a:prstGeom>
          <a:solidFill>
            <a:schemeClr val="bg1">
              <a:alpha val="98000"/>
            </a:schemeClr>
          </a:solidFill>
        </p:spPr>
      </p:pic>
      <p:sp>
        <p:nvSpPr>
          <p:cNvPr id="5" name="Rectangle 4"/>
          <p:cNvSpPr/>
          <p:nvPr/>
        </p:nvSpPr>
        <p:spPr>
          <a:xfrm>
            <a:off x="591671" y="4988859"/>
            <a:ext cx="6844553" cy="847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0" dirty="0">
                <a:solidFill>
                  <a:schemeClr val="tx1"/>
                </a:solidFill>
                <a:latin typeface="Akrobat ExtraBold" panose="00000900000000000000" pitchFamily="50" charset="0"/>
                <a:cs typeface="Adobe Devanagari" panose="02040503050201020203" pitchFamily="18" charset="0"/>
              </a:rPr>
              <a:t>BIPA 1 : ANGKA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1671" y="5823549"/>
            <a:ext cx="31466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Rizky</a:t>
            </a:r>
            <a:r>
              <a:rPr lang="en-US" sz="20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 </a:t>
            </a:r>
            <a:r>
              <a:rPr lang="en-US" sz="20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Abrian</a:t>
            </a:r>
            <a:r>
              <a:rPr lang="en-US" sz="20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, S.S., </a:t>
            </a:r>
            <a:r>
              <a:rPr lang="en-US" sz="20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M.Hum</a:t>
            </a:r>
            <a:endParaRPr lang="en-US" sz="2000" dirty="0">
              <a:latin typeface="Akrobat ExtraBold" panose="00000900000000000000" pitchFamily="50" charset="0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64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5000">
              <a:schemeClr val="accent1">
                <a:lumMod val="45000"/>
                <a:lumOff val="55000"/>
              </a:schemeClr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donesian Numbers: How to Count in Indonesia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1547" b="10070"/>
          <a:stretch/>
        </p:blipFill>
        <p:spPr bwMode="auto">
          <a:xfrm>
            <a:off x="2985246" y="0"/>
            <a:ext cx="6185647" cy="6847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56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5000">
              <a:schemeClr val="accent1">
                <a:lumMod val="45000"/>
                <a:lumOff val="55000"/>
              </a:schemeClr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388121"/>
              </p:ext>
            </p:extLst>
          </p:nvPr>
        </p:nvGraphicFramePr>
        <p:xfrm>
          <a:off x="928912" y="275767"/>
          <a:ext cx="10000344" cy="6052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601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Satu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Sebelas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belas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Tiga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Tiga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belas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Empat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Empat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belas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Lima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Lima </a:t>
                      </a:r>
                      <a:r>
                        <a:rPr lang="en-US" sz="2800" dirty="0" err="1"/>
                        <a:t>belas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Enam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Enam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belas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Tujuh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Tujuh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belas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Delapan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Delapan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belas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Sembilan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Sembilan </a:t>
                      </a:r>
                      <a:r>
                        <a:rPr lang="en-US" sz="2800" dirty="0" err="1"/>
                        <a:t>belas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Sepuluh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puluh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08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5000">
              <a:schemeClr val="accent1">
                <a:lumMod val="45000"/>
                <a:lumOff val="55000"/>
              </a:schemeClr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967208"/>
              </p:ext>
            </p:extLst>
          </p:nvPr>
        </p:nvGraphicFramePr>
        <p:xfrm>
          <a:off x="928912" y="275767"/>
          <a:ext cx="10000344" cy="6052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5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4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601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puluh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Sepuluh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ribu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Tiga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puluh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Seratus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ribu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Tujuh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puluh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ratus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ribu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Tujuh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puluh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tiga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Sejuta</a:t>
                      </a:r>
                      <a:r>
                        <a:rPr lang="en-US" sz="2800" dirty="0"/>
                        <a:t> / </a:t>
                      </a:r>
                      <a:r>
                        <a:rPr lang="en-US" sz="2800" dirty="0" err="1"/>
                        <a:t>satu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juta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Seratus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Enam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juta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Seratus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satu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ratus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Seribu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ribu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5062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Dua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ribu</a:t>
                      </a:r>
                      <a:r>
                        <a:rPr lang="en-US" sz="2800" dirty="0"/>
                        <a:t> lima </a:t>
                      </a:r>
                      <a:r>
                        <a:rPr lang="en-US" sz="2800" dirty="0" err="1"/>
                        <a:t>ratus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109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oogle Shape;300;p32"/>
          <p:cNvGrpSpPr>
            <a:grpSpLocks/>
          </p:cNvGrpSpPr>
          <p:nvPr/>
        </p:nvGrpSpPr>
        <p:grpSpPr bwMode="auto">
          <a:xfrm>
            <a:off x="5666318" y="6280151"/>
            <a:ext cx="859367" cy="260349"/>
            <a:chOff x="806663" y="3241275"/>
            <a:chExt cx="643950" cy="195675"/>
          </a:xfrm>
        </p:grpSpPr>
        <p:sp>
          <p:nvSpPr>
            <p:cNvPr id="301" name="Google Shape;301;p32"/>
            <p:cNvSpPr/>
            <p:nvPr/>
          </p:nvSpPr>
          <p:spPr>
            <a:xfrm>
              <a:off x="808249" y="3263547"/>
              <a:ext cx="599540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2" name="Google Shape;302;p32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238500" y="91018"/>
            <a:ext cx="4912784" cy="1123949"/>
          </a:xfrm>
        </p:spPr>
        <p:txBody>
          <a:bodyPr/>
          <a:lstStyle/>
          <a:p>
            <a:pPr eaLnBrk="1" fontAlgn="auto" hangingPunct="1">
              <a:buFont typeface="Patrick Hand SC"/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NOMOR / ANGKA</a:t>
            </a:r>
            <a:endParaRPr lang="en-ID" b="1" dirty="0">
              <a:solidFill>
                <a:srgbClr val="FF0000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pic>
        <p:nvPicPr>
          <p:cNvPr id="9220" name="Picture 6" descr="Text, calendar&#10;&#10;Description automatically generated with medium confid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9" t="17406" r="48936" b="49207"/>
          <a:stretch>
            <a:fillRect/>
          </a:stretch>
        </p:blipFill>
        <p:spPr bwMode="auto">
          <a:xfrm>
            <a:off x="403150" y="1441322"/>
            <a:ext cx="5087691" cy="5146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221" name="Google Shape;272;p32"/>
          <p:cNvGrpSpPr>
            <a:grpSpLocks/>
          </p:cNvGrpSpPr>
          <p:nvPr/>
        </p:nvGrpSpPr>
        <p:grpSpPr bwMode="auto">
          <a:xfrm flipH="1">
            <a:off x="9747251" y="1"/>
            <a:ext cx="2044700" cy="1445684"/>
            <a:chOff x="6876425" y="1268933"/>
            <a:chExt cx="1653550" cy="1152165"/>
          </a:xfrm>
        </p:grpSpPr>
        <p:grpSp>
          <p:nvGrpSpPr>
            <p:cNvPr id="9235" name="Google Shape;273;p32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9245" name="Google Shape;274;p32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6" name="Google Shape;275;p32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7" name="Google Shape;276;p32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8" name="Google Shape;277;p32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9" name="Google Shape;278;p32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50" name="Google Shape;279;p32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9236" name="Google Shape;280;p32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9238" name="Google Shape;281;p32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>
                <a:off x="7201658" y="1405573"/>
                <a:ext cx="304691" cy="399799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2"/>
              <p:cNvSpPr/>
              <p:nvPr/>
            </p:nvSpPr>
            <p:spPr>
              <a:xfrm>
                <a:off x="7314633" y="1877910"/>
                <a:ext cx="195139" cy="151823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1" name="Google Shape;284;p32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>
                <a:off x="7071565" y="1724400"/>
                <a:ext cx="66759" cy="70851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3" name="Google Shape;286;p32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9244" name="Google Shape;287;p32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9237" name="Google Shape;288;p32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9222" name="Google Shape;289;p32"/>
          <p:cNvGrpSpPr>
            <a:grpSpLocks/>
          </p:cNvGrpSpPr>
          <p:nvPr/>
        </p:nvGrpSpPr>
        <p:grpSpPr bwMode="auto">
          <a:xfrm>
            <a:off x="535518" y="332318"/>
            <a:ext cx="950383" cy="806449"/>
            <a:chOff x="-3118700" y="2365900"/>
            <a:chExt cx="741250" cy="792000"/>
          </a:xfrm>
        </p:grpSpPr>
        <p:sp>
          <p:nvSpPr>
            <p:cNvPr id="9225" name="Google Shape;290;p32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26" name="Google Shape;291;p32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27" name="Google Shape;292;p32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28" name="Google Shape;293;p32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29" name="Google Shape;294;p32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0" name="Google Shape;295;p32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1" name="Google Shape;296;p32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2" name="Google Shape;297;p32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3" name="Google Shape;298;p32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9234" name="Google Shape;299;p32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36" name="Google Shape;339;p33"/>
          <p:cNvSpPr txBox="1"/>
          <p:nvPr/>
        </p:nvSpPr>
        <p:spPr>
          <a:xfrm rot="19727875">
            <a:off x="5073159" y="2554028"/>
            <a:ext cx="7353300" cy="73862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lIns="121900" tIns="121900" rIns="121900" bIns="121900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en-GB" sz="3200" b="1" kern="0" dirty="0" err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Belas</a:t>
            </a:r>
            <a:r>
              <a:rPr lang="en-GB" sz="3200" b="1" kern="0" dirty="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 - </a:t>
            </a:r>
            <a:r>
              <a:rPr lang="en-GB" sz="3200" b="1" kern="0" dirty="0" err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Puluh</a:t>
            </a:r>
            <a:r>
              <a:rPr lang="en-GB" sz="3200" b="1" kern="0" dirty="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 - Ratus - </a:t>
            </a:r>
            <a:r>
              <a:rPr lang="en-GB" sz="3200" b="1" kern="0" dirty="0" err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Ribu</a:t>
            </a:r>
            <a:r>
              <a:rPr lang="en-GB" sz="3200" b="1" kern="0" dirty="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 - Juta</a:t>
            </a:r>
            <a:endParaRPr sz="3200" b="1" kern="0" dirty="0">
              <a:solidFill>
                <a:srgbClr val="FF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224" name="Google Shape;377;p34"/>
          <p:cNvSpPr txBox="1">
            <a:spLocks noChangeArrowheads="1"/>
          </p:cNvSpPr>
          <p:nvPr/>
        </p:nvSpPr>
        <p:spPr bwMode="auto">
          <a:xfrm>
            <a:off x="6525685" y="4802019"/>
            <a:ext cx="5736167" cy="135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6400" dirty="0" err="1">
                <a:latin typeface="Comfortaa" charset="0"/>
                <a:sym typeface="Comfortaa" charset="0"/>
              </a:rPr>
              <a:t>Rp</a:t>
            </a:r>
            <a:r>
              <a:rPr lang="en-GB" altLang="en-US" sz="6400" dirty="0">
                <a:latin typeface="Comfortaa" charset="0"/>
                <a:sym typeface="Comfortaa" charset="0"/>
              </a:rPr>
              <a:t>. </a:t>
            </a:r>
            <a:r>
              <a:rPr lang="en-GB" altLang="en-US" sz="7200" dirty="0">
                <a:latin typeface="Comfortaa" charset="0"/>
                <a:sym typeface="Comfortaa" charset="0"/>
              </a:rPr>
              <a:t>80.800 </a:t>
            </a:r>
            <a:endParaRPr lang="en-US" altLang="en-US" sz="6400" dirty="0">
              <a:solidFill>
                <a:srgbClr val="FF0000"/>
              </a:solidFill>
              <a:latin typeface="Comfortaa" charset="0"/>
              <a:sym typeface="Comforta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251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438152" y="400052"/>
            <a:ext cx="11550649" cy="5541433"/>
          </a:xfrm>
        </p:spPr>
        <p:txBody>
          <a:bodyPr/>
          <a:lstStyle/>
          <a:p>
            <a:pPr eaLnBrk="1" fontAlgn="auto" hangingPunct="1">
              <a:lnSpc>
                <a:spcPct val="200000"/>
              </a:lnSpc>
              <a:buFont typeface="Patrick Hand SC"/>
              <a:buNone/>
              <a:defRPr/>
            </a:pPr>
            <a:r>
              <a:rPr lang="en-GB" sz="4267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Baca</a:t>
            </a:r>
            <a:r>
              <a:rPr lang="en-GB" sz="4267" b="1" dirty="0" err="1">
                <a:solidFill>
                  <a:srgbClr val="FF0000"/>
                </a:solidFill>
                <a:highlight>
                  <a:srgbClr val="FFFF00"/>
                </a:highlight>
                <a:latin typeface="Patrick Hand SC"/>
                <a:ea typeface="Patrick Hand SC"/>
                <a:cs typeface="Patrick Hand SC"/>
                <a:sym typeface="Patrick Hand SC"/>
              </a:rPr>
              <a:t>lah</a:t>
            </a: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 </a:t>
            </a:r>
            <a:r>
              <a:rPr lang="en-GB" sz="4267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nomor</a:t>
            </a: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 </a:t>
            </a:r>
            <a:r>
              <a:rPr lang="en-GB" sz="4267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ini</a:t>
            </a: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!</a:t>
            </a:r>
            <a:br>
              <a:rPr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</a:br>
            <a:r>
              <a:rPr lang="en-GB" sz="4267" b="1" dirty="0">
                <a:latin typeface="Patrick Hand SC"/>
                <a:ea typeface="Patrick Hand SC"/>
                <a:cs typeface="Patrick Hand SC"/>
                <a:sym typeface="Patrick Hand SC"/>
              </a:rPr>
              <a:t>1	2	3	4	5	6	7	8</a:t>
            </a:r>
            <a:br>
              <a:rPr sz="4267" b="1" dirty="0">
                <a:latin typeface="Patrick Hand SC"/>
                <a:ea typeface="Patrick Hand SC"/>
                <a:cs typeface="Patrick Hand SC"/>
                <a:sym typeface="Patrick Hand SC"/>
              </a:rPr>
            </a:br>
            <a:r>
              <a:rPr lang="en-GB" sz="4267" b="1" dirty="0">
                <a:solidFill>
                  <a:srgbClr val="38761D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9	10	11	12	13	14	15	</a:t>
            </a:r>
            <a:br>
              <a:rPr sz="4267" b="1" dirty="0">
                <a:solidFill>
                  <a:srgbClr val="38761D"/>
                </a:solidFill>
                <a:latin typeface="Patrick Hand SC"/>
                <a:ea typeface="Patrick Hand SC"/>
                <a:cs typeface="Patrick Hand SC"/>
                <a:sym typeface="Patrick Hand SC"/>
              </a:rPr>
            </a:b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20	30	40	</a:t>
            </a:r>
            <a:r>
              <a:rPr lang="en-GB" sz="4267" b="1" dirty="0">
                <a:solidFill>
                  <a:srgbClr val="FF00FF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50	60</a:t>
            </a:r>
            <a:r>
              <a:rPr lang="en-GB" sz="4267" b="1" dirty="0">
                <a:latin typeface="Patrick Hand SC"/>
                <a:ea typeface="Patrick Hand SC"/>
                <a:cs typeface="Patrick Hand SC"/>
                <a:sym typeface="Patrick Hand SC"/>
              </a:rPr>
              <a:t>	</a:t>
            </a:r>
            <a:r>
              <a:rPr lang="en-GB" sz="4267" b="1" dirty="0">
                <a:solidFill>
                  <a:srgbClr val="0B5394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70	80</a:t>
            </a:r>
            <a:br>
              <a:rPr sz="4267" b="1" dirty="0">
                <a:solidFill>
                  <a:srgbClr val="0B5394"/>
                </a:solidFill>
                <a:latin typeface="Patrick Hand SC"/>
                <a:ea typeface="Patrick Hand SC"/>
                <a:cs typeface="Patrick Hand SC"/>
                <a:sym typeface="Patrick Hand SC"/>
              </a:rPr>
            </a:br>
            <a:r>
              <a:rPr lang="en-GB" sz="4267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100		300</a:t>
            </a:r>
            <a:r>
              <a:rPr lang="en-GB" sz="4267" b="1" dirty="0">
                <a:latin typeface="Patrick Hand SC"/>
                <a:ea typeface="Patrick Hand SC"/>
                <a:cs typeface="Patrick Hand SC"/>
                <a:sym typeface="Patrick Hand SC"/>
              </a:rPr>
              <a:t>		</a:t>
            </a:r>
            <a:r>
              <a:rPr lang="en-GB" sz="4267" b="1" dirty="0">
                <a:solidFill>
                  <a:srgbClr val="FF00FF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600		1.000</a:t>
            </a:r>
            <a:r>
              <a:rPr lang="en-GB" sz="4267" b="1" dirty="0">
                <a:latin typeface="Patrick Hand SC"/>
                <a:ea typeface="Patrick Hand SC"/>
                <a:cs typeface="Patrick Hand SC"/>
                <a:sym typeface="Patrick Hand SC"/>
              </a:rPr>
              <a:t>		</a:t>
            </a:r>
            <a:r>
              <a:rPr lang="en-GB" sz="4267" b="1" dirty="0">
                <a:solidFill>
                  <a:srgbClr val="1155CC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3.000</a:t>
            </a:r>
            <a:endParaRPr sz="4267" b="1" dirty="0">
              <a:solidFill>
                <a:srgbClr val="1155CC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grpSp>
        <p:nvGrpSpPr>
          <p:cNvPr id="11267" name="Google Shape;272;p32"/>
          <p:cNvGrpSpPr>
            <a:grpSpLocks/>
          </p:cNvGrpSpPr>
          <p:nvPr/>
        </p:nvGrpSpPr>
        <p:grpSpPr bwMode="auto">
          <a:xfrm flipH="1">
            <a:off x="9584267" y="321734"/>
            <a:ext cx="2044700" cy="1445684"/>
            <a:chOff x="6876425" y="1268933"/>
            <a:chExt cx="1653550" cy="1152165"/>
          </a:xfrm>
        </p:grpSpPr>
        <p:grpSp>
          <p:nvGrpSpPr>
            <p:cNvPr id="11282" name="Google Shape;273;p32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11292" name="Google Shape;274;p32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3" name="Google Shape;275;p32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4" name="Google Shape;276;p32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5" name="Google Shape;277;p32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6" name="Google Shape;278;p32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7" name="Google Shape;279;p32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11283" name="Google Shape;280;p32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11285" name="Google Shape;281;p32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>
                <a:off x="7201658" y="1405573"/>
                <a:ext cx="304691" cy="399799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2"/>
              <p:cNvSpPr/>
              <p:nvPr/>
            </p:nvSpPr>
            <p:spPr>
              <a:xfrm>
                <a:off x="7314633" y="1877910"/>
                <a:ext cx="195139" cy="151823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8" name="Google Shape;284;p32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>
                <a:off x="7071565" y="1724400"/>
                <a:ext cx="66758" cy="70851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0" name="Google Shape;286;p32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1291" name="Google Shape;287;p32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11284" name="Google Shape;288;p32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11268" name="Google Shape;289;p32"/>
          <p:cNvGrpSpPr>
            <a:grpSpLocks/>
          </p:cNvGrpSpPr>
          <p:nvPr/>
        </p:nvGrpSpPr>
        <p:grpSpPr bwMode="auto">
          <a:xfrm>
            <a:off x="535518" y="332318"/>
            <a:ext cx="950383" cy="806449"/>
            <a:chOff x="-3118700" y="2365900"/>
            <a:chExt cx="741250" cy="792000"/>
          </a:xfrm>
        </p:grpSpPr>
        <p:sp>
          <p:nvSpPr>
            <p:cNvPr id="11272" name="Google Shape;290;p32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3" name="Google Shape;291;p32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4" name="Google Shape;292;p32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5" name="Google Shape;293;p32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6" name="Google Shape;294;p32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7" name="Google Shape;295;p32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8" name="Google Shape;296;p32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79" name="Google Shape;297;p32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80" name="Google Shape;298;p32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1281" name="Google Shape;299;p32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11269" name="Google Shape;300;p32"/>
          <p:cNvGrpSpPr>
            <a:grpSpLocks/>
          </p:cNvGrpSpPr>
          <p:nvPr/>
        </p:nvGrpSpPr>
        <p:grpSpPr bwMode="auto">
          <a:xfrm>
            <a:off x="5666318" y="6280151"/>
            <a:ext cx="859367" cy="260349"/>
            <a:chOff x="806663" y="3241275"/>
            <a:chExt cx="643950" cy="195675"/>
          </a:xfrm>
        </p:grpSpPr>
        <p:sp>
          <p:nvSpPr>
            <p:cNvPr id="301" name="Google Shape;301;p32"/>
            <p:cNvSpPr/>
            <p:nvPr/>
          </p:nvSpPr>
          <p:spPr>
            <a:xfrm>
              <a:off x="808249" y="3263547"/>
              <a:ext cx="599540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1" name="Google Shape;302;p32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717378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>
            <a:spLocks noGrp="1"/>
          </p:cNvSpPr>
          <p:nvPr>
            <p:ph type="title"/>
          </p:nvPr>
        </p:nvSpPr>
        <p:spPr>
          <a:xfrm>
            <a:off x="279400" y="643467"/>
            <a:ext cx="11633200" cy="1123951"/>
          </a:xfrm>
        </p:spPr>
        <p:txBody>
          <a:bodyPr/>
          <a:lstStyle/>
          <a:p>
            <a:pPr eaLnBrk="1" fontAlgn="auto" hangingPunct="1">
              <a:buFont typeface="Patrick Hand SC"/>
              <a:buNone/>
              <a:defRPr/>
            </a:pPr>
            <a:r>
              <a:rPr lang="en-GB" sz="5333" b="1" dirty="0">
                <a:latin typeface="Patrick Hand SC"/>
                <a:ea typeface="Patrick Hand SC"/>
                <a:cs typeface="Patrick Hand SC"/>
                <a:sym typeface="Patrick Hand SC"/>
              </a:rPr>
              <a:t>Baca </a:t>
            </a:r>
            <a:r>
              <a:rPr lang="en-GB" sz="5333" b="1" dirty="0" err="1">
                <a:latin typeface="Patrick Hand SC"/>
                <a:ea typeface="Patrick Hand SC"/>
                <a:cs typeface="Patrick Hand SC"/>
                <a:sym typeface="Patrick Hand SC"/>
              </a:rPr>
              <a:t>Nomor</a:t>
            </a:r>
            <a:endParaRPr sz="5333" b="1" dirty="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grpSp>
        <p:nvGrpSpPr>
          <p:cNvPr id="15363" name="Google Shape;308;p33"/>
          <p:cNvGrpSpPr>
            <a:grpSpLocks/>
          </p:cNvGrpSpPr>
          <p:nvPr/>
        </p:nvGrpSpPr>
        <p:grpSpPr bwMode="auto">
          <a:xfrm flipH="1">
            <a:off x="8576734" y="524934"/>
            <a:ext cx="2645833" cy="2087033"/>
            <a:chOff x="6876425" y="1268933"/>
            <a:chExt cx="1653550" cy="1152165"/>
          </a:xfrm>
        </p:grpSpPr>
        <p:grpSp>
          <p:nvGrpSpPr>
            <p:cNvPr id="15380" name="Google Shape;309;p33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15390" name="Google Shape;310;p33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1" name="Google Shape;311;p33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2" name="Google Shape;312;p33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3" name="Google Shape;313;p33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4" name="Google Shape;314;p33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95" name="Google Shape;315;p33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15381" name="Google Shape;316;p33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15383" name="Google Shape;317;p33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18" name="Google Shape;318;p33"/>
              <p:cNvSpPr/>
              <p:nvPr/>
            </p:nvSpPr>
            <p:spPr>
              <a:xfrm>
                <a:off x="7200520" y="1405650"/>
                <a:ext cx="305576" cy="400803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3"/>
              <p:cNvSpPr/>
              <p:nvPr/>
            </p:nvSpPr>
            <p:spPr>
              <a:xfrm>
                <a:off x="7315608" y="1878902"/>
                <a:ext cx="193135" cy="150740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6" name="Google Shape;320;p33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21" name="Google Shape;321;p33"/>
              <p:cNvSpPr/>
              <p:nvPr/>
            </p:nvSpPr>
            <p:spPr>
              <a:xfrm>
                <a:off x="7070882" y="1724657"/>
                <a:ext cx="67465" cy="71280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8" name="Google Shape;322;p33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15389" name="Google Shape;323;p33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15382" name="Google Shape;324;p33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15364" name="Google Shape;325;p33"/>
          <p:cNvGrpSpPr>
            <a:grpSpLocks/>
          </p:cNvGrpSpPr>
          <p:nvPr/>
        </p:nvGrpSpPr>
        <p:grpSpPr bwMode="auto">
          <a:xfrm>
            <a:off x="637117" y="433918"/>
            <a:ext cx="1792816" cy="1748367"/>
            <a:chOff x="-3118700" y="2365900"/>
            <a:chExt cx="741250" cy="792000"/>
          </a:xfrm>
        </p:grpSpPr>
        <p:sp>
          <p:nvSpPr>
            <p:cNvPr id="15370" name="Google Shape;326;p33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1" name="Google Shape;327;p33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2" name="Google Shape;328;p33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3" name="Google Shape;329;p33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4" name="Google Shape;330;p33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5" name="Google Shape;331;p33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6" name="Google Shape;332;p33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7" name="Google Shape;333;p33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8" name="Google Shape;334;p33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15379" name="Google Shape;335;p33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15365" name="Google Shape;336;p33"/>
          <p:cNvGrpSpPr>
            <a:grpSpLocks/>
          </p:cNvGrpSpPr>
          <p:nvPr/>
        </p:nvGrpSpPr>
        <p:grpSpPr bwMode="auto">
          <a:xfrm>
            <a:off x="5666318" y="6280151"/>
            <a:ext cx="859367" cy="260349"/>
            <a:chOff x="806663" y="3241275"/>
            <a:chExt cx="643950" cy="195675"/>
          </a:xfrm>
        </p:grpSpPr>
        <p:sp>
          <p:nvSpPr>
            <p:cNvPr id="337" name="Google Shape;337;p33"/>
            <p:cNvSpPr/>
            <p:nvPr/>
          </p:nvSpPr>
          <p:spPr>
            <a:xfrm>
              <a:off x="808249" y="3263547"/>
              <a:ext cx="599540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9" name="Google Shape;338;p33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15366" name="Google Shape;339;p33"/>
          <p:cNvSpPr txBox="1">
            <a:spLocks noChangeArrowheads="1"/>
          </p:cNvSpPr>
          <p:nvPr/>
        </p:nvSpPr>
        <p:spPr bwMode="auto">
          <a:xfrm>
            <a:off x="1602317" y="2260600"/>
            <a:ext cx="9370483" cy="861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4000" b="1">
                <a:solidFill>
                  <a:srgbClr val="FF0000"/>
                </a:solidFill>
                <a:latin typeface="Comfortaa" charset="0"/>
                <a:sym typeface="Comfortaa" charset="0"/>
              </a:rPr>
              <a:t>Belas - Puluh - Ratus - Ribu - Juta</a:t>
            </a:r>
            <a:endParaRPr lang="en-US" altLang="en-US" sz="4000" b="1">
              <a:solidFill>
                <a:srgbClr val="FF0000"/>
              </a:solidFill>
              <a:latin typeface="Comfortaa" charset="0"/>
              <a:sym typeface="Comfortaa" charset="0"/>
            </a:endParaRPr>
          </a:p>
        </p:txBody>
      </p:sp>
      <p:sp>
        <p:nvSpPr>
          <p:cNvPr id="15367" name="Google Shape;340;p33"/>
          <p:cNvSpPr txBox="1">
            <a:spLocks noChangeArrowheads="1"/>
          </p:cNvSpPr>
          <p:nvPr/>
        </p:nvSpPr>
        <p:spPr bwMode="auto">
          <a:xfrm>
            <a:off x="446618" y="3867151"/>
            <a:ext cx="11465983" cy="196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GB" altLang="en-US" sz="3733" b="1" dirty="0">
                <a:latin typeface="Comfortaa" charset="0"/>
                <a:sym typeface="Comfortaa" charset="0"/>
              </a:rPr>
              <a:t>16		21		</a:t>
            </a:r>
            <a:r>
              <a:rPr lang="en-GB" altLang="en-US" sz="3733" b="1" dirty="0">
                <a:solidFill>
                  <a:srgbClr val="0000FF"/>
                </a:solidFill>
                <a:latin typeface="Comfortaa" charset="0"/>
                <a:sym typeface="Comfortaa" charset="0"/>
              </a:rPr>
              <a:t>99		500</a:t>
            </a:r>
            <a:r>
              <a:rPr lang="en-GB" altLang="en-US" sz="3733" b="1" dirty="0">
                <a:latin typeface="Comfortaa" charset="0"/>
                <a:sym typeface="Comfortaa" charset="0"/>
              </a:rPr>
              <a:t>		</a:t>
            </a:r>
            <a:r>
              <a:rPr lang="en-GB" altLang="en-US" sz="3733" b="1" dirty="0">
                <a:solidFill>
                  <a:schemeClr val="accent2"/>
                </a:solidFill>
                <a:latin typeface="Comfortaa" charset="0"/>
                <a:sym typeface="Comfortaa" charset="0"/>
              </a:rPr>
              <a:t>270</a:t>
            </a:r>
            <a:endParaRPr lang="en-ID" altLang="en-US" sz="3733" b="1" dirty="0">
              <a:solidFill>
                <a:schemeClr val="accent2"/>
              </a:solidFill>
              <a:latin typeface="Comfortaa" charset="0"/>
              <a:sym typeface="Comfortaa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ID" altLang="en-US" sz="3733" b="1" dirty="0">
                <a:solidFill>
                  <a:srgbClr val="FF0000"/>
                </a:solidFill>
                <a:latin typeface="Comfortaa" charset="0"/>
                <a:sym typeface="Comfortaa" charset="0"/>
              </a:rPr>
              <a:t>3.800			65.000</a:t>
            </a:r>
            <a:r>
              <a:rPr lang="en-ID" altLang="en-US" sz="3733" b="1" dirty="0">
                <a:latin typeface="Comfortaa" charset="0"/>
                <a:sym typeface="Comfortaa" charset="0"/>
              </a:rPr>
              <a:t>			</a:t>
            </a:r>
            <a:r>
              <a:rPr lang="en-ID" altLang="en-US" sz="3733" b="1" dirty="0">
                <a:solidFill>
                  <a:srgbClr val="FF9900"/>
                </a:solidFill>
                <a:latin typeface="Comfortaa" charset="0"/>
                <a:sym typeface="Comfortaa" charset="0"/>
              </a:rPr>
              <a:t>3.000.000</a:t>
            </a:r>
          </a:p>
        </p:txBody>
      </p:sp>
    </p:spTree>
    <p:extLst>
      <p:ext uri="{BB962C8B-B14F-4D97-AF65-F5344CB8AC3E}">
        <p14:creationId xmlns:p14="http://schemas.microsoft.com/office/powerpoint/2010/main" val="2418073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oogle Shape;494;p38"/>
          <p:cNvGrpSpPr>
            <a:grpSpLocks/>
          </p:cNvGrpSpPr>
          <p:nvPr/>
        </p:nvGrpSpPr>
        <p:grpSpPr bwMode="auto">
          <a:xfrm flipH="1">
            <a:off x="9053271" y="65552"/>
            <a:ext cx="2645833" cy="2087033"/>
            <a:chOff x="6876425" y="1268933"/>
            <a:chExt cx="1653550" cy="1152165"/>
          </a:xfrm>
        </p:grpSpPr>
        <p:grpSp>
          <p:nvGrpSpPr>
            <p:cNvPr id="21523" name="Google Shape;495;p38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21533" name="Google Shape;496;p38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4" name="Google Shape;497;p38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5" name="Google Shape;498;p38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6" name="Google Shape;499;p38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7" name="Google Shape;500;p38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8" name="Google Shape;501;p38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21524" name="Google Shape;502;p38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21526" name="Google Shape;503;p38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504" name="Google Shape;504;p38"/>
              <p:cNvSpPr/>
              <p:nvPr/>
            </p:nvSpPr>
            <p:spPr>
              <a:xfrm>
                <a:off x="7200520" y="1405650"/>
                <a:ext cx="305576" cy="400803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38"/>
              <p:cNvSpPr/>
              <p:nvPr/>
            </p:nvSpPr>
            <p:spPr>
              <a:xfrm>
                <a:off x="7315608" y="1878902"/>
                <a:ext cx="193135" cy="150740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29" name="Google Shape;506;p38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507" name="Google Shape;507;p38"/>
              <p:cNvSpPr/>
              <p:nvPr/>
            </p:nvSpPr>
            <p:spPr>
              <a:xfrm>
                <a:off x="7070882" y="1724657"/>
                <a:ext cx="67465" cy="71280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1" name="Google Shape;508;p38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1532" name="Google Shape;509;p38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21525" name="Google Shape;510;p38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1507" name="Google Shape;511;p38"/>
          <p:cNvGrpSpPr>
            <a:grpSpLocks/>
          </p:cNvGrpSpPr>
          <p:nvPr/>
        </p:nvGrpSpPr>
        <p:grpSpPr bwMode="auto">
          <a:xfrm>
            <a:off x="341721" y="92522"/>
            <a:ext cx="1286404" cy="1077928"/>
            <a:chOff x="-3118700" y="2365900"/>
            <a:chExt cx="741250" cy="792000"/>
          </a:xfrm>
        </p:grpSpPr>
        <p:sp>
          <p:nvSpPr>
            <p:cNvPr id="21513" name="Google Shape;512;p38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4" name="Google Shape;513;p38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5" name="Google Shape;514;p38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6" name="Google Shape;515;p38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7" name="Google Shape;516;p38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8" name="Google Shape;517;p38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19" name="Google Shape;518;p38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20" name="Google Shape;519;p38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21" name="Google Shape;520;p38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1522" name="Google Shape;521;p38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21509" name="Google Shape;525;p38"/>
          <p:cNvSpPr txBox="1">
            <a:spLocks noChangeArrowheads="1"/>
          </p:cNvSpPr>
          <p:nvPr/>
        </p:nvSpPr>
        <p:spPr bwMode="auto">
          <a:xfrm>
            <a:off x="620478" y="1863579"/>
            <a:ext cx="11192933" cy="3569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 marL="914400" indent="-9144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eaLnBrk="1" hangingPunct="1"/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Kapan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kamu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lahir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?</a:t>
            </a:r>
          </a:p>
          <a:p>
            <a:pPr marL="0" indent="0" eaLnBrk="1" hangingPunct="1"/>
            <a:r>
              <a:rPr lang="en-US" altLang="en-US" sz="2400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When you were born?</a:t>
            </a:r>
            <a:endParaRPr lang="en-US" altLang="en-US" sz="3600" b="1" dirty="0">
              <a:solidFill>
                <a:schemeClr val="tx1"/>
              </a:solidFill>
              <a:latin typeface="Comfortaa" charset="0"/>
              <a:sym typeface="Comfortaa" charset="0"/>
            </a:endParaRPr>
          </a:p>
          <a:p>
            <a:pPr marL="0" indent="0" eaLnBrk="1" hangingPunct="1"/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Saya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lahir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pada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tahun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1991.</a:t>
            </a:r>
          </a:p>
          <a:p>
            <a:pPr marL="0" indent="0" eaLnBrk="1" hangingPunct="1"/>
            <a:r>
              <a:rPr lang="en-US" altLang="en-US" sz="2000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I was born in 1993</a:t>
            </a:r>
          </a:p>
          <a:p>
            <a:pPr marL="0" indent="0" eaLnBrk="1" hangingPunct="1"/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Mama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saya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lahir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pada </a:t>
            </a:r>
            <a:r>
              <a:rPr lang="en-US" altLang="en-US" sz="3733" b="1" dirty="0" err="1">
                <a:solidFill>
                  <a:schemeClr val="tx1"/>
                </a:solidFill>
                <a:latin typeface="Comfortaa" charset="0"/>
                <a:sym typeface="Comfortaa" charset="0"/>
              </a:rPr>
              <a:t>tahun</a:t>
            </a:r>
            <a:r>
              <a:rPr lang="en-US" altLang="en-US" sz="3733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 19 70.</a:t>
            </a:r>
          </a:p>
          <a:p>
            <a:pPr marL="0" indent="0" eaLnBrk="1" hangingPunct="1"/>
            <a:r>
              <a:rPr lang="en-US" altLang="en-US" sz="2000" b="1" dirty="0">
                <a:solidFill>
                  <a:schemeClr val="tx1"/>
                </a:solidFill>
                <a:latin typeface="Comfortaa" charset="0"/>
                <a:sym typeface="Comfortaa" charset="0"/>
              </a:rPr>
              <a:t>My mom born in 1977</a:t>
            </a:r>
          </a:p>
          <a:p>
            <a:pPr marL="0" indent="0" eaLnBrk="1" hangingPunct="1"/>
            <a:endParaRPr lang="en-US" altLang="en-US" sz="2000" b="1" dirty="0">
              <a:solidFill>
                <a:schemeClr val="tx1"/>
              </a:solidFill>
              <a:latin typeface="Comfortaa" charset="0"/>
              <a:sym typeface="Comfortaa" charset="0"/>
            </a:endParaRPr>
          </a:p>
          <a:p>
            <a:pPr marL="0" indent="0" eaLnBrk="1" hangingPunct="1"/>
            <a:endParaRPr lang="en-US" altLang="en-US" sz="2000" b="1" dirty="0">
              <a:solidFill>
                <a:schemeClr val="tx1"/>
              </a:solidFill>
              <a:latin typeface="Comfortaa" charset="0"/>
              <a:sym typeface="Comfortaa" charset="0"/>
            </a:endParaRPr>
          </a:p>
        </p:txBody>
      </p:sp>
      <p:sp>
        <p:nvSpPr>
          <p:cNvPr id="21510" name="Google Shape;345;p34"/>
          <p:cNvSpPr txBox="1">
            <a:spLocks noChangeArrowheads="1"/>
          </p:cNvSpPr>
          <p:nvPr/>
        </p:nvSpPr>
        <p:spPr bwMode="auto">
          <a:xfrm>
            <a:off x="2258194" y="134634"/>
            <a:ext cx="7152341" cy="1123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Clr>
                <a:srgbClr val="FB6A2E"/>
              </a:buClr>
              <a:buSzPts val="3600"/>
              <a:buFont typeface="Patrick Hand SC"/>
              <a:buNone/>
            </a:pPr>
            <a:r>
              <a:rPr lang="en-GB" altLang="en-US" sz="5333" b="1" dirty="0" err="1">
                <a:solidFill>
                  <a:srgbClr val="FB6A2E"/>
                </a:solidFill>
                <a:latin typeface="Patrick Hand SC"/>
                <a:sym typeface="Patrick Hand SC"/>
              </a:rPr>
              <a:t>Bacalah</a:t>
            </a:r>
            <a:r>
              <a:rPr lang="en-GB" altLang="en-US" sz="5333" b="1" dirty="0">
                <a:solidFill>
                  <a:srgbClr val="FB6A2E"/>
                </a:solidFill>
                <a:latin typeface="Patrick Hand SC"/>
                <a:sym typeface="Patrick Hand SC"/>
              </a:rPr>
              <a:t> </a:t>
            </a:r>
            <a:r>
              <a:rPr lang="en-GB" altLang="en-US" sz="5333" b="1" dirty="0" err="1">
                <a:solidFill>
                  <a:srgbClr val="FB6A2E"/>
                </a:solidFill>
                <a:latin typeface="Patrick Hand SC"/>
                <a:sym typeface="Patrick Hand SC"/>
              </a:rPr>
              <a:t>nomor</a:t>
            </a:r>
            <a:r>
              <a:rPr lang="en-GB" altLang="en-US" sz="5333" b="1" dirty="0">
                <a:solidFill>
                  <a:srgbClr val="FB6A2E"/>
                </a:solidFill>
                <a:latin typeface="Patrick Hand SC"/>
                <a:sym typeface="Patrick Hand SC"/>
              </a:rPr>
              <a:t> </a:t>
            </a:r>
            <a:r>
              <a:rPr lang="en-GB" altLang="en-US" sz="5333" b="1" dirty="0" err="1">
                <a:solidFill>
                  <a:srgbClr val="FB6A2E"/>
                </a:solidFill>
                <a:latin typeface="Patrick Hand SC"/>
                <a:sym typeface="Patrick Hand SC"/>
              </a:rPr>
              <a:t>ini</a:t>
            </a:r>
            <a:r>
              <a:rPr lang="en-GB" altLang="en-US" sz="5333" b="1" dirty="0">
                <a:solidFill>
                  <a:srgbClr val="FB6A2E"/>
                </a:solidFill>
                <a:latin typeface="Patrick Hand SC"/>
                <a:sym typeface="Patrick Hand SC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99162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1026" name="Picture 2" descr="Top 5 Best Natured Dogs - Dogs By Nin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33714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693458" y="4887819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Saya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punya</a:t>
            </a:r>
            <a:r>
              <a:rPr lang="en-US" dirty="0">
                <a:latin typeface="Akrobat Black" panose="00000A00000000000000" pitchFamily="50" charset="0"/>
              </a:rPr>
              <a:t> …. </a:t>
            </a:r>
            <a:r>
              <a:rPr lang="en-US" dirty="0" err="1">
                <a:latin typeface="Akrobat Black" panose="00000A00000000000000" pitchFamily="50" charset="0"/>
              </a:rPr>
              <a:t>anjing</a:t>
            </a:r>
            <a:endParaRPr lang="en-US" dirty="0">
              <a:latin typeface="Akrobat Black" panose="00000A00000000000000" pitchFamily="50" charset="0"/>
            </a:endParaRP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I have 5 dog</a:t>
            </a:r>
          </a:p>
        </p:txBody>
      </p:sp>
    </p:spTree>
    <p:extLst>
      <p:ext uri="{BB962C8B-B14F-4D97-AF65-F5344CB8AC3E}">
        <p14:creationId xmlns:p14="http://schemas.microsoft.com/office/powerpoint/2010/main" val="1818930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3074" name="Picture 2" descr="BMW M... and the Los Angeles Auto Show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2000" r="-1140" b="8123"/>
          <a:stretch/>
        </p:blipFill>
        <p:spPr bwMode="auto">
          <a:xfrm>
            <a:off x="2073088" y="1233714"/>
            <a:ext cx="8350624" cy="32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150658" y="4618878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Saya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punya</a:t>
            </a:r>
            <a:r>
              <a:rPr lang="en-US" dirty="0">
                <a:latin typeface="Akrobat Black" panose="00000A00000000000000" pitchFamily="50" charset="0"/>
              </a:rPr>
              <a:t> …. </a:t>
            </a:r>
            <a:r>
              <a:rPr lang="en-US" dirty="0" err="1">
                <a:latin typeface="Akrobat Black" panose="00000A00000000000000" pitchFamily="50" charset="0"/>
              </a:rPr>
              <a:t>mobil</a:t>
            </a:r>
            <a:r>
              <a:rPr lang="en-US" dirty="0">
                <a:latin typeface="Akrobat Black" panose="00000A00000000000000" pitchFamily="50" charset="0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I have two car</a:t>
            </a:r>
          </a:p>
        </p:txBody>
      </p:sp>
    </p:spTree>
    <p:extLst>
      <p:ext uri="{BB962C8B-B14F-4D97-AF65-F5344CB8AC3E}">
        <p14:creationId xmlns:p14="http://schemas.microsoft.com/office/powerpoint/2010/main" val="3024148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2054" name="Picture 6" descr="Super 30 Birthday Cak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69" y="1715294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5647764" y="2427008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Usia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saya</a:t>
            </a:r>
            <a:r>
              <a:rPr lang="en-US" dirty="0">
                <a:latin typeface="Akrobat Black" panose="00000A00000000000000" pitchFamily="50" charset="0"/>
              </a:rPr>
              <a:t> … </a:t>
            </a:r>
            <a:r>
              <a:rPr lang="en-US" dirty="0" err="1">
                <a:latin typeface="Akrobat Black" panose="00000A00000000000000" pitchFamily="50" charset="0"/>
              </a:rPr>
              <a:t>tahun</a:t>
            </a:r>
            <a:r>
              <a:rPr lang="en-US" dirty="0">
                <a:latin typeface="Akrobat Black" panose="00000A00000000000000" pitchFamily="50" charset="0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I’m 30 years old</a:t>
            </a:r>
          </a:p>
        </p:txBody>
      </p:sp>
    </p:spTree>
    <p:extLst>
      <p:ext uri="{BB962C8B-B14F-4D97-AF65-F5344CB8AC3E}">
        <p14:creationId xmlns:p14="http://schemas.microsoft.com/office/powerpoint/2010/main" val="1436029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4098" name="Picture 2" descr="Amazon.com: Floor Number Sign -6TH Floor Sign(Aluminium, Black/Silver,Size  6x9) The Sensation line : Office Product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00" y="1680883"/>
            <a:ext cx="2424589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128247" y="2400113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Saya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tinggal</a:t>
            </a:r>
            <a:r>
              <a:rPr lang="en-US" dirty="0">
                <a:latin typeface="Akrobat Black" panose="00000A00000000000000" pitchFamily="50" charset="0"/>
              </a:rPr>
              <a:t> di </a:t>
            </a:r>
            <a:r>
              <a:rPr lang="en-US" dirty="0" err="1">
                <a:latin typeface="Akrobat Black" panose="00000A00000000000000" pitchFamily="50" charset="0"/>
              </a:rPr>
              <a:t>lantai</a:t>
            </a:r>
            <a:r>
              <a:rPr lang="en-US" dirty="0">
                <a:latin typeface="Akrobat Black" panose="00000A00000000000000" pitchFamily="50" charset="0"/>
              </a:rPr>
              <a:t> ….</a:t>
            </a: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I live in ….. </a:t>
            </a:r>
            <a:r>
              <a:rPr lang="en-US" sz="2800" i="1" dirty="0" err="1">
                <a:latin typeface="Akrobat Black" panose="00000A00000000000000" pitchFamily="50" charset="0"/>
              </a:rPr>
              <a:t>th</a:t>
            </a:r>
            <a:r>
              <a:rPr lang="en-US" sz="2800" i="1" dirty="0">
                <a:latin typeface="Akrobat Black" panose="00000A00000000000000" pitchFamily="50" charset="0"/>
              </a:rPr>
              <a:t> floor</a:t>
            </a:r>
          </a:p>
        </p:txBody>
      </p:sp>
    </p:spTree>
    <p:extLst>
      <p:ext uri="{BB962C8B-B14F-4D97-AF65-F5344CB8AC3E}">
        <p14:creationId xmlns:p14="http://schemas.microsoft.com/office/powerpoint/2010/main" val="1819859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5124" name="Picture 4" descr="Icon calendar day number 17 17th day month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72" b="7560"/>
          <a:stretch/>
        </p:blipFill>
        <p:spPr bwMode="auto">
          <a:xfrm>
            <a:off x="824753" y="1717807"/>
            <a:ext cx="4253601" cy="423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647764" y="2427008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Sekarang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tanggal</a:t>
            </a:r>
            <a:r>
              <a:rPr lang="en-US" dirty="0">
                <a:latin typeface="Akrobat Black" panose="00000A00000000000000" pitchFamily="50" charset="0"/>
              </a:rPr>
              <a:t> …. </a:t>
            </a:r>
            <a:r>
              <a:rPr lang="en-US" dirty="0" err="1">
                <a:latin typeface="Akrobat Black" panose="00000A00000000000000" pitchFamily="50" charset="0"/>
              </a:rPr>
              <a:t>Februari</a:t>
            </a:r>
            <a:endParaRPr lang="en-US" dirty="0">
              <a:latin typeface="Akrobat Black" panose="00000A00000000000000" pitchFamily="50" charset="0"/>
            </a:endParaRP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Today is ….. </a:t>
            </a:r>
            <a:r>
              <a:rPr lang="en-US" sz="2800" i="1" dirty="0" err="1">
                <a:latin typeface="Akrobat Black" panose="00000A00000000000000" pitchFamily="50" charset="0"/>
              </a:rPr>
              <a:t>th</a:t>
            </a:r>
            <a:r>
              <a:rPr lang="en-US" sz="2800" i="1" dirty="0">
                <a:latin typeface="Akrobat Black" panose="00000A00000000000000" pitchFamily="50" charset="0"/>
              </a:rPr>
              <a:t>  February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734252" y="1233714"/>
            <a:ext cx="2675732" cy="14234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sz="6000" dirty="0" err="1">
                <a:latin typeface="Akrobat Black" panose="00000A00000000000000" pitchFamily="50" charset="0"/>
              </a:rPr>
              <a:t>Februari</a:t>
            </a:r>
            <a:endParaRPr lang="en-US" sz="6000" dirty="0">
              <a:latin typeface="Akrob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060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pic>
        <p:nvPicPr>
          <p:cNvPr id="6146" name="Picture 2" descr="You Will Find Best Mangoes in The World in These 8 Places in India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16" y="1448826"/>
            <a:ext cx="5953125" cy="446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759387" y="2440454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Saya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punya</a:t>
            </a:r>
            <a:r>
              <a:rPr lang="en-US" dirty="0">
                <a:latin typeface="Akrobat Black" panose="00000A00000000000000" pitchFamily="50" charset="0"/>
              </a:rPr>
              <a:t> …. </a:t>
            </a:r>
            <a:r>
              <a:rPr lang="en-US" dirty="0" err="1">
                <a:latin typeface="Akrobat Black" panose="00000A00000000000000" pitchFamily="50" charset="0"/>
              </a:rPr>
              <a:t>mangga</a:t>
            </a:r>
            <a:r>
              <a:rPr lang="en-US" dirty="0">
                <a:latin typeface="Akrobat Black" panose="00000A00000000000000" pitchFamily="50" charset="0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I have 8 mango</a:t>
            </a:r>
          </a:p>
        </p:txBody>
      </p:sp>
    </p:spTree>
    <p:extLst>
      <p:ext uri="{BB962C8B-B14F-4D97-AF65-F5344CB8AC3E}">
        <p14:creationId xmlns:p14="http://schemas.microsoft.com/office/powerpoint/2010/main" val="2445421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pPr algn="ctr"/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680011" y="4713007"/>
            <a:ext cx="5706036" cy="1701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dirty="0" err="1">
                <a:latin typeface="Akrobat Black" panose="00000A00000000000000" pitchFamily="50" charset="0"/>
              </a:rPr>
              <a:t>Ini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adalah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Iphone</a:t>
            </a:r>
            <a:r>
              <a:rPr lang="en-US" dirty="0">
                <a:latin typeface="Akrobat Black" panose="00000A00000000000000" pitchFamily="50" charset="0"/>
              </a:rPr>
              <a:t> ……</a:t>
            </a:r>
          </a:p>
          <a:p>
            <a:pPr>
              <a:lnSpc>
                <a:spcPct val="170000"/>
              </a:lnSpc>
            </a:pPr>
            <a:r>
              <a:rPr lang="en-US" sz="2800" i="1" dirty="0">
                <a:latin typeface="Akrobat Black" panose="00000A00000000000000" pitchFamily="50" charset="0"/>
              </a:rPr>
              <a:t>This is </a:t>
            </a:r>
            <a:r>
              <a:rPr lang="en-US" sz="2800" i="1" dirty="0" err="1">
                <a:latin typeface="Akrobat Black" panose="00000A00000000000000" pitchFamily="50" charset="0"/>
              </a:rPr>
              <a:t>Iphone</a:t>
            </a:r>
            <a:r>
              <a:rPr lang="en-US" sz="2800" i="1" dirty="0">
                <a:latin typeface="Akrobat Black" panose="00000A00000000000000" pitchFamily="50" charset="0"/>
              </a:rPr>
              <a:t> ….</a:t>
            </a:r>
          </a:p>
        </p:txBody>
      </p:sp>
      <p:pic>
        <p:nvPicPr>
          <p:cNvPr id="7170" name="Picture 2" descr="Iphone 14 Siap Rilis, Apa Saja yang Baru? | Pemmzchanne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18"/>
          <a:stretch/>
        </p:blipFill>
        <p:spPr bwMode="auto">
          <a:xfrm>
            <a:off x="2761131" y="1129420"/>
            <a:ext cx="6113929" cy="3687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101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647" y="4020670"/>
            <a:ext cx="10883153" cy="256838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6000" b="1" dirty="0">
                <a:latin typeface="Akrobat Bold" panose="00000800000000000000" pitchFamily="50" charset="0"/>
              </a:rPr>
              <a:t>B : </a:t>
            </a:r>
            <a:r>
              <a:rPr lang="en-US" sz="6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krobat Bold" panose="00000800000000000000" pitchFamily="50" charset="0"/>
              </a:rPr>
              <a:t>Berapa</a:t>
            </a:r>
            <a:r>
              <a:rPr lang="en-US" sz="6000" b="1" dirty="0">
                <a:latin typeface="Akrobat Bold" panose="00000800000000000000" pitchFamily="50" charset="0"/>
              </a:rPr>
              <a:t> </a:t>
            </a:r>
            <a:r>
              <a:rPr lang="en-US" sz="6000" b="1" dirty="0" err="1">
                <a:latin typeface="Akrobat Bold" panose="00000800000000000000" pitchFamily="50" charset="0"/>
              </a:rPr>
              <a:t>Nomor</a:t>
            </a:r>
            <a:r>
              <a:rPr lang="en-US" sz="6000" b="1" dirty="0">
                <a:latin typeface="Akrobat Bold" panose="00000800000000000000" pitchFamily="50" charset="0"/>
              </a:rPr>
              <a:t> </a:t>
            </a:r>
            <a:r>
              <a:rPr lang="en-US" sz="6000" b="1" dirty="0" err="1">
                <a:latin typeface="Akrobat Bold" panose="00000800000000000000" pitchFamily="50" charset="0"/>
              </a:rPr>
              <a:t>Telepon</a:t>
            </a:r>
            <a:r>
              <a:rPr lang="en-US" sz="6000" b="1" dirty="0">
                <a:latin typeface="Akrobat Bold" panose="00000800000000000000" pitchFamily="50" charset="0"/>
              </a:rPr>
              <a:t> </a:t>
            </a:r>
            <a:r>
              <a:rPr lang="en-US" sz="6000" b="1" dirty="0" err="1">
                <a:latin typeface="Akrobat Bold" panose="00000800000000000000" pitchFamily="50" charset="0"/>
              </a:rPr>
              <a:t>Anda</a:t>
            </a:r>
            <a:r>
              <a:rPr lang="en-US" sz="6000" dirty="0">
                <a:latin typeface="Akrobat Bold" panose="00000800000000000000" pitchFamily="50" charset="0"/>
              </a:rPr>
              <a:t>?</a:t>
            </a:r>
          </a:p>
          <a:p>
            <a:pPr marL="0" indent="0" algn="ctr">
              <a:buNone/>
            </a:pPr>
            <a:r>
              <a:rPr lang="en-US" sz="6000" dirty="0">
                <a:latin typeface="Akrobat Bold" panose="00000800000000000000" pitchFamily="50" charset="0"/>
              </a:rPr>
              <a:t>A: </a:t>
            </a:r>
            <a:r>
              <a:rPr lang="en-US" sz="6000" dirty="0" err="1">
                <a:latin typeface="Akrobat Bold" panose="00000800000000000000" pitchFamily="50" charset="0"/>
              </a:rPr>
              <a:t>nomer</a:t>
            </a:r>
            <a:r>
              <a:rPr lang="en-US" sz="6000" dirty="0">
                <a:latin typeface="Akrobat Bold" panose="00000800000000000000" pitchFamily="50" charset="0"/>
              </a:rPr>
              <a:t> </a:t>
            </a:r>
            <a:r>
              <a:rPr lang="en-US" sz="6000" dirty="0" err="1">
                <a:latin typeface="Akrobat Bold" panose="00000800000000000000" pitchFamily="50" charset="0"/>
              </a:rPr>
              <a:t>telepon</a:t>
            </a:r>
            <a:r>
              <a:rPr lang="en-US" sz="6000" dirty="0">
                <a:latin typeface="Akrobat Bold" panose="00000800000000000000" pitchFamily="50" charset="0"/>
              </a:rPr>
              <a:t> </a:t>
            </a:r>
            <a:r>
              <a:rPr lang="en-US" sz="6000" dirty="0" err="1">
                <a:latin typeface="Akrobat Bold" panose="00000800000000000000" pitchFamily="50" charset="0"/>
              </a:rPr>
              <a:t>saya</a:t>
            </a:r>
            <a:r>
              <a:rPr lang="en-US" sz="6000" dirty="0">
                <a:latin typeface="Akrobat Bold" panose="00000800000000000000" pitchFamily="50" charset="0"/>
              </a:rPr>
              <a:t> 081352789444.</a:t>
            </a:r>
          </a:p>
        </p:txBody>
      </p:sp>
      <p:pic>
        <p:nvPicPr>
          <p:cNvPr id="1026" name="Picture 2" descr="Lovearoundme - 8 Smart and Cute Ways to Give a Guy Your Numb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058" y="415365"/>
            <a:ext cx="4742329" cy="3161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591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647" y="295834"/>
            <a:ext cx="10883153" cy="62528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krobat Bold" panose="00000800000000000000" pitchFamily="50" charset="0"/>
              </a:rPr>
              <a:t>A: halo … , </a:t>
            </a:r>
            <a:r>
              <a:rPr lang="en-US" sz="3600" dirty="0" err="1">
                <a:latin typeface="Akrobat Bold" panose="00000800000000000000" pitchFamily="50" charset="0"/>
              </a:rPr>
              <a:t>selamat</a:t>
            </a:r>
            <a:r>
              <a:rPr lang="en-US" sz="3600" dirty="0">
                <a:latin typeface="Akrobat Bold" panose="00000800000000000000" pitchFamily="50" charset="0"/>
              </a:rPr>
              <a:t> …</a:t>
            </a:r>
          </a:p>
          <a:p>
            <a:pPr marL="0" indent="0">
              <a:buNone/>
            </a:pPr>
            <a:r>
              <a:rPr lang="en-US" sz="3600" dirty="0">
                <a:latin typeface="Akrobat Bold" panose="00000800000000000000" pitchFamily="50" charset="0"/>
              </a:rPr>
              <a:t>B: halo … , </a:t>
            </a:r>
            <a:r>
              <a:rPr lang="en-US" sz="3600" dirty="0" err="1">
                <a:latin typeface="Akrobat Bold" panose="00000800000000000000" pitchFamily="50" charset="0"/>
              </a:rPr>
              <a:t>selamat</a:t>
            </a:r>
            <a:r>
              <a:rPr lang="en-US" sz="3600" dirty="0">
                <a:latin typeface="Akrobat Bold" panose="00000800000000000000" pitchFamily="50" charset="0"/>
              </a:rPr>
              <a:t> … , </a:t>
            </a:r>
            <a:r>
              <a:rPr lang="en-US" sz="3600" dirty="0" err="1">
                <a:latin typeface="Akrobat Bold" panose="00000800000000000000" pitchFamily="50" charset="0"/>
              </a:rPr>
              <a:t>apa</a:t>
            </a:r>
            <a:r>
              <a:rPr lang="en-US" sz="3600" dirty="0">
                <a:latin typeface="Akrobat Bold" panose="00000800000000000000" pitchFamily="50" charset="0"/>
              </a:rPr>
              <a:t> </a:t>
            </a:r>
            <a:r>
              <a:rPr lang="en-US" sz="3600" dirty="0" err="1">
                <a:latin typeface="Akrobat Bold" panose="00000800000000000000" pitchFamily="50" charset="0"/>
              </a:rPr>
              <a:t>kabar</a:t>
            </a:r>
            <a:r>
              <a:rPr lang="en-US" sz="3600" dirty="0">
                <a:latin typeface="Akrobat Bold" panose="00000800000000000000" pitchFamily="50" charset="0"/>
              </a:rPr>
              <a:t>?</a:t>
            </a:r>
          </a:p>
          <a:p>
            <a:pPr marL="0" indent="0">
              <a:buNone/>
            </a:pPr>
            <a:r>
              <a:rPr lang="en-US" sz="3600" dirty="0">
                <a:latin typeface="Akrobat Bold" panose="00000800000000000000" pitchFamily="50" charset="0"/>
              </a:rPr>
              <a:t>A: </a:t>
            </a:r>
            <a:r>
              <a:rPr lang="en-US" sz="3600" dirty="0" err="1">
                <a:latin typeface="Akrobat Bold" panose="00000800000000000000" pitchFamily="50" charset="0"/>
              </a:rPr>
              <a:t>baik</a:t>
            </a:r>
            <a:r>
              <a:rPr lang="en-US" sz="3600" dirty="0">
                <a:latin typeface="Akrobat Bold" panose="00000800000000000000" pitchFamily="50" charset="0"/>
              </a:rPr>
              <a:t>, </a:t>
            </a:r>
            <a:r>
              <a:rPr lang="en-US" sz="3600" dirty="0" err="1">
                <a:latin typeface="Akrobat Bold" panose="00000800000000000000" pitchFamily="50" charset="0"/>
              </a:rPr>
              <a:t>apa</a:t>
            </a:r>
            <a:r>
              <a:rPr lang="en-US" sz="3600" dirty="0">
                <a:latin typeface="Akrobat Bold" panose="00000800000000000000" pitchFamily="50" charset="0"/>
              </a:rPr>
              <a:t> </a:t>
            </a:r>
            <a:r>
              <a:rPr lang="en-US" sz="3600" dirty="0" err="1">
                <a:latin typeface="Akrobat Bold" panose="00000800000000000000" pitchFamily="50" charset="0"/>
              </a:rPr>
              <a:t>kabar</a:t>
            </a:r>
            <a:r>
              <a:rPr lang="en-US" sz="3600" dirty="0">
                <a:latin typeface="Akrobat Bold" panose="00000800000000000000" pitchFamily="50" charset="0"/>
              </a:rPr>
              <a:t> </a:t>
            </a:r>
            <a:r>
              <a:rPr lang="en-US" sz="3600" dirty="0" err="1">
                <a:latin typeface="Akrobat Bold" panose="00000800000000000000" pitchFamily="50" charset="0"/>
              </a:rPr>
              <a:t>kamu</a:t>
            </a:r>
            <a:r>
              <a:rPr lang="en-US" sz="3600" dirty="0">
                <a:latin typeface="Akrobat Bold" panose="00000800000000000000" pitchFamily="50" charset="0"/>
              </a:rPr>
              <a:t>?</a:t>
            </a:r>
          </a:p>
          <a:p>
            <a:pPr marL="0" indent="0">
              <a:buNone/>
            </a:pPr>
            <a:r>
              <a:rPr lang="en-US" sz="3600" dirty="0">
                <a:latin typeface="Akrobat Bold" panose="00000800000000000000" pitchFamily="50" charset="0"/>
              </a:rPr>
              <a:t>B : </a:t>
            </a:r>
            <a:r>
              <a:rPr lang="en-US" sz="3600" dirty="0" err="1">
                <a:latin typeface="Akrobat Bold" panose="00000800000000000000" pitchFamily="50" charset="0"/>
              </a:rPr>
              <a:t>saya</a:t>
            </a:r>
            <a:r>
              <a:rPr lang="en-US" sz="3600" dirty="0">
                <a:latin typeface="Akrobat Bold" panose="00000800000000000000" pitchFamily="50" charset="0"/>
              </a:rPr>
              <a:t> juga </a:t>
            </a:r>
            <a:r>
              <a:rPr lang="en-US" sz="3600" dirty="0" err="1">
                <a:latin typeface="Akrobat Bold" panose="00000800000000000000" pitchFamily="50" charset="0"/>
              </a:rPr>
              <a:t>baik</a:t>
            </a:r>
            <a:r>
              <a:rPr lang="en-US" sz="3600" dirty="0">
                <a:latin typeface="Akrobat Bold" panose="00000800000000000000" pitchFamily="50" charset="0"/>
              </a:rPr>
              <a:t>. </a:t>
            </a:r>
            <a:r>
              <a:rPr lang="en-US" sz="3600" dirty="0" err="1">
                <a:latin typeface="Akrobat Bold" panose="00000800000000000000" pitchFamily="50" charset="0"/>
              </a:rPr>
              <a:t>Berapa</a:t>
            </a:r>
            <a:r>
              <a:rPr lang="en-US" sz="3600" dirty="0">
                <a:latin typeface="Akrobat Bold" panose="00000800000000000000" pitchFamily="50" charset="0"/>
              </a:rPr>
              <a:t> </a:t>
            </a:r>
            <a:r>
              <a:rPr lang="en-US" sz="3600" dirty="0" err="1">
                <a:latin typeface="Akrobat Bold" panose="00000800000000000000" pitchFamily="50" charset="0"/>
              </a:rPr>
              <a:t>nomor</a:t>
            </a:r>
            <a:r>
              <a:rPr lang="en-US" sz="3600" dirty="0">
                <a:latin typeface="Akrobat Bold" panose="00000800000000000000" pitchFamily="50" charset="0"/>
              </a:rPr>
              <a:t> </a:t>
            </a:r>
            <a:r>
              <a:rPr lang="en-US" sz="3600" dirty="0" err="1">
                <a:latin typeface="Akrobat Bold" panose="00000800000000000000" pitchFamily="50" charset="0"/>
              </a:rPr>
              <a:t>telepon</a:t>
            </a:r>
            <a:r>
              <a:rPr lang="en-US" sz="3600" dirty="0">
                <a:latin typeface="Akrobat Bold" panose="00000800000000000000" pitchFamily="50" charset="0"/>
              </a:rPr>
              <a:t> </a:t>
            </a:r>
            <a:r>
              <a:rPr lang="en-US" sz="3600" dirty="0" err="1">
                <a:latin typeface="Akrobat Bold" panose="00000800000000000000" pitchFamily="50" charset="0"/>
              </a:rPr>
              <a:t>Anda</a:t>
            </a:r>
            <a:r>
              <a:rPr lang="en-US" sz="3600" dirty="0">
                <a:latin typeface="Akrobat Bold" panose="00000800000000000000" pitchFamily="50" charset="0"/>
              </a:rPr>
              <a:t>?</a:t>
            </a:r>
          </a:p>
          <a:p>
            <a:pPr marL="0" indent="0">
              <a:buNone/>
            </a:pPr>
            <a:r>
              <a:rPr lang="en-US" sz="3600" dirty="0">
                <a:latin typeface="Akrobat Bold" panose="00000800000000000000" pitchFamily="50" charset="0"/>
              </a:rPr>
              <a:t>A: </a:t>
            </a:r>
            <a:r>
              <a:rPr lang="en-US" sz="3600" dirty="0" err="1">
                <a:latin typeface="Akrobat Bold" panose="00000800000000000000" pitchFamily="50" charset="0"/>
              </a:rPr>
              <a:t>ini</a:t>
            </a:r>
            <a:r>
              <a:rPr lang="en-US" sz="3600" dirty="0">
                <a:latin typeface="Akrobat Bold" panose="00000800000000000000" pitchFamily="50" charset="0"/>
              </a:rPr>
              <a:t> </a:t>
            </a:r>
            <a:r>
              <a:rPr lang="en-US" sz="3600" dirty="0" err="1">
                <a:latin typeface="Akrobat Bold" panose="00000800000000000000" pitchFamily="50" charset="0"/>
              </a:rPr>
              <a:t>nomer</a:t>
            </a:r>
            <a:r>
              <a:rPr lang="en-US" sz="3600" dirty="0">
                <a:latin typeface="Akrobat Bold" panose="00000800000000000000" pitchFamily="50" charset="0"/>
              </a:rPr>
              <a:t> </a:t>
            </a:r>
            <a:r>
              <a:rPr lang="en-US" sz="3600" dirty="0" err="1">
                <a:latin typeface="Akrobat Bold" panose="00000800000000000000" pitchFamily="50" charset="0"/>
              </a:rPr>
              <a:t>saya</a:t>
            </a:r>
            <a:r>
              <a:rPr lang="en-US" sz="3600" dirty="0">
                <a:latin typeface="Akrobat Bold" panose="00000800000000000000" pitchFamily="50" charset="0"/>
              </a:rPr>
              <a:t>. ………….. </a:t>
            </a:r>
            <a:r>
              <a:rPr lang="en-US" sz="3600" dirty="0" err="1">
                <a:latin typeface="Akrobat Bold" panose="00000800000000000000" pitchFamily="50" charset="0"/>
              </a:rPr>
              <a:t>berapa</a:t>
            </a:r>
            <a:r>
              <a:rPr lang="en-US" sz="3600" dirty="0">
                <a:latin typeface="Akrobat Bold" panose="00000800000000000000" pitchFamily="50" charset="0"/>
              </a:rPr>
              <a:t> </a:t>
            </a:r>
            <a:r>
              <a:rPr lang="en-US" sz="3600" dirty="0" err="1">
                <a:latin typeface="Akrobat Bold" panose="00000800000000000000" pitchFamily="50" charset="0"/>
              </a:rPr>
              <a:t>nomor</a:t>
            </a:r>
            <a:r>
              <a:rPr lang="en-US" sz="3600" dirty="0">
                <a:latin typeface="Akrobat Bold" panose="00000800000000000000" pitchFamily="50" charset="0"/>
              </a:rPr>
              <a:t> </a:t>
            </a:r>
            <a:r>
              <a:rPr lang="en-US" sz="3600" dirty="0" err="1">
                <a:latin typeface="Akrobat Bold" panose="00000800000000000000" pitchFamily="50" charset="0"/>
              </a:rPr>
              <a:t>Anda</a:t>
            </a:r>
            <a:r>
              <a:rPr lang="en-US" sz="3600" dirty="0">
                <a:latin typeface="Akrobat Bold" panose="00000800000000000000" pitchFamily="50" charset="0"/>
              </a:rPr>
              <a:t>?</a:t>
            </a:r>
          </a:p>
          <a:p>
            <a:pPr marL="0" indent="0">
              <a:buNone/>
            </a:pPr>
            <a:r>
              <a:rPr lang="en-US" sz="3600" dirty="0">
                <a:latin typeface="Akrobat Bold" panose="00000800000000000000" pitchFamily="50" charset="0"/>
              </a:rPr>
              <a:t>B: </a:t>
            </a:r>
            <a:r>
              <a:rPr lang="en-US" sz="3600" dirty="0" err="1">
                <a:latin typeface="Akrobat Bold" panose="00000800000000000000" pitchFamily="50" charset="0"/>
              </a:rPr>
              <a:t>nomer</a:t>
            </a:r>
            <a:r>
              <a:rPr lang="en-US" sz="3600" dirty="0">
                <a:latin typeface="Akrobat Bold" panose="00000800000000000000" pitchFamily="50" charset="0"/>
              </a:rPr>
              <a:t> </a:t>
            </a:r>
            <a:r>
              <a:rPr lang="en-US" sz="3600" dirty="0" err="1">
                <a:latin typeface="Akrobat Bold" panose="00000800000000000000" pitchFamily="50" charset="0"/>
              </a:rPr>
              <a:t>saya</a:t>
            </a:r>
            <a:r>
              <a:rPr lang="en-US" sz="3600" dirty="0">
                <a:latin typeface="Akrobat Bold" panose="00000800000000000000" pitchFamily="50" charset="0"/>
              </a:rPr>
              <a:t> ……………….</a:t>
            </a:r>
          </a:p>
          <a:p>
            <a:pPr marL="0" indent="0">
              <a:buNone/>
            </a:pPr>
            <a:r>
              <a:rPr lang="en-US" sz="3600" dirty="0">
                <a:latin typeface="Akrobat Bold" panose="00000800000000000000" pitchFamily="50" charset="0"/>
              </a:rPr>
              <a:t>A: </a:t>
            </a:r>
            <a:r>
              <a:rPr lang="en-US" sz="3600" dirty="0" err="1">
                <a:latin typeface="Akrobat Bold" panose="00000800000000000000" pitchFamily="50" charset="0"/>
              </a:rPr>
              <a:t>Terima</a:t>
            </a:r>
            <a:r>
              <a:rPr lang="en-US" sz="3600" dirty="0">
                <a:latin typeface="Akrobat Bold" panose="00000800000000000000" pitchFamily="50" charset="0"/>
              </a:rPr>
              <a:t> </a:t>
            </a:r>
            <a:r>
              <a:rPr lang="en-US" sz="3600" dirty="0" err="1">
                <a:latin typeface="Akrobat Bold" panose="00000800000000000000" pitchFamily="50" charset="0"/>
              </a:rPr>
              <a:t>kasih</a:t>
            </a:r>
            <a:r>
              <a:rPr lang="en-US" sz="3600" dirty="0">
                <a:latin typeface="Akrobat Bold" panose="00000800000000000000" pitchFamily="50" charset="0"/>
              </a:rPr>
              <a:t>.</a:t>
            </a:r>
          </a:p>
          <a:p>
            <a:pPr marL="0" indent="0">
              <a:buNone/>
            </a:pPr>
            <a:r>
              <a:rPr lang="en-US" sz="3600" dirty="0">
                <a:latin typeface="Akrobat Bold" panose="00000800000000000000" pitchFamily="50" charset="0"/>
              </a:rPr>
              <a:t>B: </a:t>
            </a:r>
            <a:r>
              <a:rPr lang="en-US" sz="3600" dirty="0" err="1">
                <a:latin typeface="Akrobat Bold" panose="00000800000000000000" pitchFamily="50" charset="0"/>
              </a:rPr>
              <a:t>sama-sama</a:t>
            </a:r>
            <a:r>
              <a:rPr lang="en-US" sz="3600" dirty="0">
                <a:latin typeface="Akrobat Bold" panose="00000800000000000000" pitchFamily="50" charset="0"/>
              </a:rPr>
              <a:t>.</a:t>
            </a:r>
          </a:p>
        </p:txBody>
      </p:sp>
      <p:pic>
        <p:nvPicPr>
          <p:cNvPr id="1026" name="Picture 2" descr="Lovearoundme - 8 Smart and Cute Ways to Give a Guy Your Numb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670" y="3696446"/>
            <a:ext cx="4742329" cy="3161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094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AutoShape 2" descr="The Color Club | Marketing Performance Partner | Danske Bank credit cards">
            <a:extLst>
              <a:ext uri="{FF2B5EF4-FFF2-40B4-BE49-F238E27FC236}">
                <a16:creationId xmlns:a16="http://schemas.microsoft.com/office/drawing/2014/main" id="{BC36AE66-428E-40FA-96E1-767D832B06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1028" name="Picture 4" descr="The Color Club | Marketing Performance Partner | Danske Bank credit cards">
            <a:extLst>
              <a:ext uri="{FF2B5EF4-FFF2-40B4-BE49-F238E27FC236}">
                <a16:creationId xmlns:a16="http://schemas.microsoft.com/office/drawing/2014/main" id="{2E683C46-8C79-42FE-B80D-01D2F06B4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0"/>
            <a:ext cx="10769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199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3 Cara Mudah Membuat Watermark untuk Scan KTP - Glints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44" y="0"/>
            <a:ext cx="9888311" cy="679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82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Tatacara Penandatanganan Buku Tabungan Bank Mandiri jamaah Proucil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7" t="6858" r="22080" b="51079"/>
          <a:stretch/>
        </p:blipFill>
        <p:spPr bwMode="auto">
          <a:xfrm>
            <a:off x="13548" y="493487"/>
            <a:ext cx="12178452" cy="539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070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ara membuat kartu ATM BCA BNI BRI MANDIRI Dll biar ada namany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43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63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752742"/>
            <a:ext cx="2569029" cy="132556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err="1">
                <a:latin typeface="Akrobat Bold" panose="00000800000000000000" pitchFamily="50" charset="0"/>
              </a:rPr>
              <a:t>Urutan</a:t>
            </a:r>
            <a:r>
              <a:rPr lang="en-US" sz="5400" b="1" dirty="0">
                <a:latin typeface="Akrobat Bold" panose="00000800000000000000" pitchFamily="50" charset="0"/>
              </a:rPr>
              <a:t> </a:t>
            </a:r>
            <a:br>
              <a:rPr lang="en-US" sz="5400" b="1" dirty="0">
                <a:latin typeface="Akrobat Bold" panose="00000800000000000000" pitchFamily="50" charset="0"/>
              </a:rPr>
            </a:br>
            <a:r>
              <a:rPr lang="en-US" sz="5400" b="1" dirty="0">
                <a:latin typeface="Akrobat Bold" panose="00000800000000000000" pitchFamily="50" charset="0"/>
              </a:rPr>
              <a:t> </a:t>
            </a:r>
            <a:r>
              <a:rPr lang="en-US" sz="5400" b="1" i="1" dirty="0">
                <a:latin typeface="Akrobat Bold" panose="00000800000000000000" pitchFamily="50" charset="0"/>
              </a:rPr>
              <a:t>Ordinal </a:t>
            </a:r>
          </a:p>
        </p:txBody>
      </p:sp>
      <p:pic>
        <p:nvPicPr>
          <p:cNvPr id="3074" name="Picture 2" descr="Pertemuan XXV – Ordinal Number – Study English with 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287" y="-26952"/>
            <a:ext cx="8345714" cy="688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096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oogle Shape;272;p32"/>
          <p:cNvGrpSpPr>
            <a:grpSpLocks/>
          </p:cNvGrpSpPr>
          <p:nvPr/>
        </p:nvGrpSpPr>
        <p:grpSpPr bwMode="auto">
          <a:xfrm flipH="1">
            <a:off x="9584267" y="321734"/>
            <a:ext cx="2044700" cy="1445684"/>
            <a:chOff x="6876425" y="1268933"/>
            <a:chExt cx="1653550" cy="1152165"/>
          </a:xfrm>
        </p:grpSpPr>
        <p:grpSp>
          <p:nvGrpSpPr>
            <p:cNvPr id="37907" name="Google Shape;273;p32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37917" name="Google Shape;274;p32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18" name="Google Shape;275;p32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19" name="Google Shape;276;p32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20" name="Google Shape;277;p32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21" name="Google Shape;278;p32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22" name="Google Shape;279;p32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37908" name="Google Shape;280;p32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37910" name="Google Shape;281;p32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>
                <a:off x="7201658" y="1405573"/>
                <a:ext cx="304691" cy="399799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2"/>
              <p:cNvSpPr/>
              <p:nvPr/>
            </p:nvSpPr>
            <p:spPr>
              <a:xfrm>
                <a:off x="7314633" y="1877910"/>
                <a:ext cx="195139" cy="151823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13" name="Google Shape;284;p32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>
                <a:off x="7071565" y="1724400"/>
                <a:ext cx="66758" cy="70851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15" name="Google Shape;286;p32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7916" name="Google Shape;287;p32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37909" name="Google Shape;288;p32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7891" name="Google Shape;289;p32"/>
          <p:cNvGrpSpPr>
            <a:grpSpLocks/>
          </p:cNvGrpSpPr>
          <p:nvPr/>
        </p:nvGrpSpPr>
        <p:grpSpPr bwMode="auto">
          <a:xfrm>
            <a:off x="535518" y="332318"/>
            <a:ext cx="950383" cy="806449"/>
            <a:chOff x="-3118700" y="2365900"/>
            <a:chExt cx="741250" cy="792000"/>
          </a:xfrm>
        </p:grpSpPr>
        <p:sp>
          <p:nvSpPr>
            <p:cNvPr id="37897" name="Google Shape;290;p32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898" name="Google Shape;291;p32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899" name="Google Shape;292;p32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0" name="Google Shape;293;p32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1" name="Google Shape;294;p32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2" name="Google Shape;295;p32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3" name="Google Shape;296;p32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4" name="Google Shape;297;p32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5" name="Google Shape;298;p32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6" name="Google Shape;299;p32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7892" name="Google Shape;300;p32"/>
          <p:cNvGrpSpPr>
            <a:grpSpLocks/>
          </p:cNvGrpSpPr>
          <p:nvPr/>
        </p:nvGrpSpPr>
        <p:grpSpPr bwMode="auto">
          <a:xfrm>
            <a:off x="5916085" y="6231467"/>
            <a:ext cx="857249" cy="260351"/>
            <a:chOff x="806663" y="3241275"/>
            <a:chExt cx="643950" cy="195675"/>
          </a:xfrm>
        </p:grpSpPr>
        <p:sp>
          <p:nvSpPr>
            <p:cNvPr id="301" name="Google Shape;301;p32"/>
            <p:cNvSpPr/>
            <p:nvPr/>
          </p:nvSpPr>
          <p:spPr>
            <a:xfrm>
              <a:off x="808253" y="3263547"/>
              <a:ext cx="599431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96" name="Google Shape;302;p32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pic>
        <p:nvPicPr>
          <p:cNvPr id="37893" name="Picture 2" descr="Text&#10;&#10;Description automatically generated with medium confid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8" t="41943" r="26753" b="4779"/>
          <a:stretch>
            <a:fillRect/>
          </a:stretch>
        </p:blipFill>
        <p:spPr bwMode="auto">
          <a:xfrm>
            <a:off x="368301" y="218018"/>
            <a:ext cx="5331884" cy="6421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Google Shape;642;p42"/>
          <p:cNvSpPr txBox="1">
            <a:spLocks noGrp="1" noChangeArrowheads="1"/>
          </p:cNvSpPr>
          <p:nvPr>
            <p:ph type="subTitle" idx="1"/>
          </p:nvPr>
        </p:nvSpPr>
        <p:spPr>
          <a:xfrm>
            <a:off x="5287434" y="994833"/>
            <a:ext cx="6904567" cy="5226051"/>
          </a:xfrm>
        </p:spPr>
        <p:txBody>
          <a:bodyPr spcFirstLastPara="1" vert="horz" lIns="480000" tIns="45720" rIns="91440" bIns="45720" rtlCol="0">
            <a:noAutofit/>
          </a:bodyPr>
          <a:lstStyle/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Contoh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:</a:t>
            </a:r>
          </a:p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Saya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anak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pertama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/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kesatu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.</a:t>
            </a:r>
          </a:p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 i="1" dirty="0">
                <a:latin typeface="Patrick Hand"/>
                <a:cs typeface="Arial" panose="020B0604020202020204" pitchFamily="34" charset="0"/>
                <a:sym typeface="Patrick Hand"/>
              </a:rPr>
              <a:t>I’m the first child</a:t>
            </a:r>
          </a:p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Dia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adalah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anak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ketiga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.</a:t>
            </a:r>
          </a:p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 i="1" dirty="0">
                <a:latin typeface="Patrick Hand"/>
                <a:cs typeface="Arial" panose="020B0604020202020204" pitchFamily="34" charset="0"/>
                <a:sym typeface="Patrick Hand"/>
              </a:rPr>
              <a:t>She is third child</a:t>
            </a:r>
          </a:p>
          <a:p>
            <a:pPr marL="50799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Ini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adalah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kopi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kedua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saya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2667" dirty="0" err="1">
                <a:latin typeface="Patrick Hand"/>
                <a:cs typeface="Arial" panose="020B0604020202020204" pitchFamily="34" charset="0"/>
                <a:sym typeface="Patrick Hand"/>
              </a:rPr>
              <a:t>hari</a:t>
            </a:r>
            <a:r>
              <a:rPr lang="en-US" altLang="en-US" sz="2667" dirty="0">
                <a:latin typeface="Patrick Hand"/>
                <a:cs typeface="Arial" panose="020B0604020202020204" pitchFamily="34" charset="0"/>
                <a:sym typeface="Patrick Hand"/>
              </a:rPr>
              <a:t> ini.</a:t>
            </a:r>
          </a:p>
        </p:txBody>
      </p:sp>
    </p:spTree>
    <p:extLst>
      <p:ext uri="{BB962C8B-B14F-4D97-AF65-F5344CB8AC3E}">
        <p14:creationId xmlns:p14="http://schemas.microsoft.com/office/powerpoint/2010/main" val="2458858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517" y="457200"/>
            <a:ext cx="11416554" cy="4276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Akrobat Bold" panose="00000800000000000000" pitchFamily="50" charset="0"/>
              </a:rPr>
              <a:t>Nama </a:t>
            </a:r>
            <a:r>
              <a:rPr lang="en-US" sz="6000" dirty="0" err="1">
                <a:latin typeface="Akrobat Bold" panose="00000800000000000000" pitchFamily="50" charset="0"/>
              </a:rPr>
              <a:t>saya</a:t>
            </a:r>
            <a:r>
              <a:rPr lang="en-US" sz="6000" dirty="0">
                <a:latin typeface="Akrobat Bold" panose="00000800000000000000" pitchFamily="50" charset="0"/>
              </a:rPr>
              <a:t> …..</a:t>
            </a:r>
          </a:p>
          <a:p>
            <a:pPr marL="0" indent="0">
              <a:buNone/>
            </a:pPr>
            <a:r>
              <a:rPr lang="en-US" sz="4000" dirty="0" err="1">
                <a:latin typeface="Akrobat Bold" panose="00000800000000000000" pitchFamily="50" charset="0"/>
              </a:rPr>
              <a:t>Saya</a:t>
            </a:r>
            <a:r>
              <a:rPr lang="en-US" sz="4000" dirty="0">
                <a:latin typeface="Akrobat Bold" panose="00000800000000000000" pitchFamily="50" charset="0"/>
              </a:rPr>
              <a:t> </a:t>
            </a:r>
            <a:r>
              <a:rPr lang="en-US" sz="4000" dirty="0" err="1">
                <a:latin typeface="Akrobat Bold" panose="00000800000000000000" pitchFamily="50" charset="0"/>
              </a:rPr>
              <a:t>anak</a:t>
            </a:r>
            <a:r>
              <a:rPr lang="en-US" sz="4000" dirty="0">
                <a:latin typeface="Akrobat Bold" panose="00000800000000000000" pitchFamily="50" charset="0"/>
              </a:rPr>
              <a:t> (</a:t>
            </a:r>
            <a:r>
              <a:rPr lang="en-US" sz="4000" dirty="0" err="1">
                <a:latin typeface="Akrobat Bold" panose="00000800000000000000" pitchFamily="50" charset="0"/>
              </a:rPr>
              <a:t>pertama</a:t>
            </a:r>
            <a:r>
              <a:rPr lang="en-US" sz="4000" dirty="0">
                <a:latin typeface="Akrobat Bold" panose="00000800000000000000" pitchFamily="50" charset="0"/>
              </a:rPr>
              <a:t>/</a:t>
            </a:r>
            <a:r>
              <a:rPr lang="en-US" sz="4000" dirty="0" err="1">
                <a:latin typeface="Akrobat Bold" panose="00000800000000000000" pitchFamily="50" charset="0"/>
              </a:rPr>
              <a:t>kedua</a:t>
            </a:r>
            <a:r>
              <a:rPr lang="en-US" sz="4000" dirty="0">
                <a:latin typeface="Akrobat Bold" panose="00000800000000000000" pitchFamily="50" charset="0"/>
              </a:rPr>
              <a:t>/….. / </a:t>
            </a:r>
            <a:r>
              <a:rPr lang="en-US" sz="4000" dirty="0" err="1">
                <a:latin typeface="Akrobat Bold" panose="00000800000000000000" pitchFamily="50" charset="0"/>
              </a:rPr>
              <a:t>terakhir</a:t>
            </a:r>
            <a:r>
              <a:rPr lang="en-US" sz="4000" dirty="0">
                <a:latin typeface="Akrobat Bold" panose="00000800000000000000" pitchFamily="50" charset="0"/>
              </a:rPr>
              <a:t>) di </a:t>
            </a:r>
            <a:r>
              <a:rPr lang="en-US" sz="4000" dirty="0" err="1">
                <a:latin typeface="Akrobat Bold" panose="00000800000000000000" pitchFamily="50" charset="0"/>
              </a:rPr>
              <a:t>keluarga</a:t>
            </a:r>
            <a:r>
              <a:rPr lang="en-US" sz="4000" dirty="0">
                <a:latin typeface="Akrobat Bold" panose="00000800000000000000" pitchFamily="50" charset="0"/>
              </a:rPr>
              <a:t>.</a:t>
            </a:r>
          </a:p>
          <a:p>
            <a:pPr marL="0" indent="0">
              <a:buNone/>
            </a:pPr>
            <a:r>
              <a:rPr lang="en-US" i="1" dirty="0">
                <a:latin typeface="Akrobat Bold" panose="00000800000000000000" pitchFamily="50" charset="0"/>
              </a:rPr>
              <a:t>I am the (first/second … / last) child in family</a:t>
            </a:r>
            <a:endParaRPr lang="en-US" sz="2400" i="1" dirty="0">
              <a:latin typeface="Akrobat Bold" panose="00000800000000000000" pitchFamily="50" charset="0"/>
            </a:endParaRPr>
          </a:p>
        </p:txBody>
      </p:sp>
      <p:pic>
        <p:nvPicPr>
          <p:cNvPr id="2050" name="Picture 2" descr="4,000+ Danish Family Stock Photos, Pictures &amp; Royalty-Free Images - iStock  | Danish family teen kids, Danish family phone, Danish family home">
            <a:extLst>
              <a:ext uri="{FF2B5EF4-FFF2-40B4-BE49-F238E27FC236}">
                <a16:creationId xmlns:a16="http://schemas.microsoft.com/office/drawing/2014/main" id="{E3D4A2BD-3CBE-40A9-8960-D304EE1E5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144" y="2971800"/>
            <a:ext cx="58293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190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517" y="457200"/>
            <a:ext cx="11416554" cy="4276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 err="1">
                <a:latin typeface="Akrobat Bold" panose="00000800000000000000" pitchFamily="50" charset="0"/>
              </a:rPr>
              <a:t>Sekarang</a:t>
            </a:r>
            <a:r>
              <a:rPr lang="en-US" sz="4800" dirty="0">
                <a:latin typeface="Akrobat Bold" panose="00000800000000000000" pitchFamily="50" charset="0"/>
              </a:rPr>
              <a:t> </a:t>
            </a:r>
            <a:r>
              <a:rPr lang="en-US" sz="4800" dirty="0" err="1">
                <a:latin typeface="Akrobat Bold" panose="00000800000000000000" pitchFamily="50" charset="0"/>
              </a:rPr>
              <a:t>adalah</a:t>
            </a:r>
            <a:r>
              <a:rPr lang="en-US" sz="4800" dirty="0">
                <a:latin typeface="Akrobat Bold" panose="00000800000000000000" pitchFamily="50" charset="0"/>
              </a:rPr>
              <a:t> </a:t>
            </a:r>
            <a:r>
              <a:rPr lang="en-US" sz="4800" dirty="0" err="1">
                <a:latin typeface="Akrobat Bold" panose="00000800000000000000" pitchFamily="50" charset="0"/>
              </a:rPr>
              <a:t>kelas</a:t>
            </a:r>
            <a:r>
              <a:rPr lang="en-US" sz="4800" dirty="0">
                <a:latin typeface="Akrobat Bold" panose="00000800000000000000" pitchFamily="50" charset="0"/>
              </a:rPr>
              <a:t> </a:t>
            </a:r>
            <a:r>
              <a:rPr lang="en-US" sz="4800" dirty="0" err="1">
                <a:latin typeface="Akrobat Bold" panose="00000800000000000000" pitchFamily="50" charset="0"/>
              </a:rPr>
              <a:t>ke</a:t>
            </a:r>
            <a:r>
              <a:rPr lang="en-US" sz="4800" dirty="0">
                <a:latin typeface="Akrobat Bold" panose="00000800000000000000" pitchFamily="50" charset="0"/>
              </a:rPr>
              <a:t> …</a:t>
            </a:r>
            <a:endParaRPr lang="en-US" sz="3200" dirty="0">
              <a:latin typeface="Akrobat Bold" panose="00000800000000000000" pitchFamily="50" charset="0"/>
            </a:endParaRPr>
          </a:p>
          <a:p>
            <a:pPr marL="0" indent="0">
              <a:buNone/>
            </a:pPr>
            <a:r>
              <a:rPr lang="en-US" i="1" dirty="0">
                <a:latin typeface="Akrobat Bold" panose="00000800000000000000" pitchFamily="50" charset="0"/>
              </a:rPr>
              <a:t>Today is …… class meeting</a:t>
            </a:r>
            <a:endParaRPr lang="en-US" sz="2400" i="1" dirty="0">
              <a:latin typeface="Akrobat Bold" panose="00000800000000000000" pitchFamily="50" charset="0"/>
            </a:endParaRPr>
          </a:p>
        </p:txBody>
      </p:sp>
      <p:pic>
        <p:nvPicPr>
          <p:cNvPr id="9218" name="Picture 2" descr="Far Eastern Federal University Has Launched a Medical Programme in English  — latest news on russian edu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587" y="2904564"/>
            <a:ext cx="5489484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901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 err="1">
                <a:latin typeface="Akrobat Bold" panose="00000800000000000000" pitchFamily="50" charset="0"/>
              </a:rPr>
              <a:t>Harga</a:t>
            </a:r>
            <a:r>
              <a:rPr lang="en-US" sz="7200" b="1" dirty="0">
                <a:latin typeface="Akrobat Bold" panose="00000800000000000000" pitchFamily="50" charset="0"/>
              </a:rPr>
              <a:t> /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625" y="1776412"/>
            <a:ext cx="4629604" cy="179410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Ini 5000 rupiah</a:t>
            </a:r>
          </a:p>
          <a:p>
            <a:pPr marL="0" indent="0">
              <a:buNone/>
            </a:pPr>
            <a:r>
              <a:rPr lang="en-US" dirty="0"/>
              <a:t>Ini 100 euro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6" name="Picture 8" descr="7 Pahlawan yang Menjadi Gambar Uang Rupiah Kertas Cetakan Bar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75" y="4271735"/>
            <a:ext cx="5695950" cy="241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6879772" y="1799669"/>
            <a:ext cx="4057401" cy="1770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Iphone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Iphone</a:t>
            </a:r>
            <a:r>
              <a:rPr lang="en-US" dirty="0"/>
              <a:t> 1000 Euro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3074" name="Picture 2" descr="Denmark 1000 Kroner Banknote 2009 Series Circulated. Single 1k Danish Krone  Note | eBay">
            <a:extLst>
              <a:ext uri="{FF2B5EF4-FFF2-40B4-BE49-F238E27FC236}">
                <a16:creationId xmlns:a16="http://schemas.microsoft.com/office/drawing/2014/main" id="{BBCE10EB-F57A-4214-AADF-23D98EC7E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4271735"/>
            <a:ext cx="5695950" cy="248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140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7102280"/>
              </p:ext>
            </p:extLst>
          </p:nvPr>
        </p:nvGraphicFramePr>
        <p:xfrm>
          <a:off x="596152" y="336176"/>
          <a:ext cx="10515600" cy="5402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943">
                <a:tc>
                  <a:txBody>
                    <a:bodyPr/>
                    <a:lstStyle/>
                    <a:p>
                      <a:r>
                        <a:rPr lang="en-US" dirty="0"/>
                        <a:t>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err="1"/>
                        <a:t>Angka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Number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/>
                        <a:t>Jual</a:t>
                      </a:r>
                      <a:r>
                        <a:rPr lang="en-US" sz="4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Sale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err="1"/>
                        <a:t>Murah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Cheap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/>
                        <a:t>Beli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/>
                        <a:t>Mahal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expensive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Cuci</a:t>
                      </a:r>
                      <a:r>
                        <a:rPr lang="en-US" sz="3600" dirty="0"/>
                        <a:t> </a:t>
                      </a:r>
                      <a:r>
                        <a:rPr lang="en-US" sz="3600" dirty="0" err="1"/>
                        <a:t>gudang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clearance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/>
                        <a:t>Tinggi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High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Traktir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My </a:t>
                      </a:r>
                      <a:r>
                        <a:rPr lang="en-US" sz="3600" dirty="0"/>
                        <a:t>treat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err="1"/>
                        <a:t>Diskon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/>
                        <a:t>Hutang</a:t>
                      </a:r>
                      <a:r>
                        <a:rPr lang="en-US" sz="4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debt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/>
                        <a:t>Gratis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/>
                        <a:t>cicilan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credit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943">
                <a:tc>
                  <a:txBody>
                    <a:bodyPr/>
                    <a:lstStyle/>
                    <a:p>
                      <a:r>
                        <a:rPr lang="en-US" sz="4000" dirty="0" err="1"/>
                        <a:t>tawar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bargain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err="1"/>
                        <a:t>Pajak</a:t>
                      </a:r>
                      <a:r>
                        <a:rPr lang="en-US" sz="4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taxes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330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589"/>
          </a:xfrm>
        </p:spPr>
        <p:txBody>
          <a:bodyPr/>
          <a:lstStyle/>
          <a:p>
            <a:r>
              <a:rPr lang="en-US" dirty="0" err="1">
                <a:latin typeface="Akrobat Black" panose="00000A00000000000000" pitchFamily="50" charset="0"/>
              </a:rPr>
              <a:t>Contoh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kalimat</a:t>
            </a:r>
            <a:endParaRPr lang="en-US" dirty="0">
              <a:latin typeface="Akrobat Black" panose="00000A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59" y="1465943"/>
            <a:ext cx="11295529" cy="471102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 err="1"/>
              <a:t>Berapa</a:t>
            </a:r>
            <a:r>
              <a:rPr lang="en-US" sz="3600" b="1" dirty="0"/>
              <a:t> </a:t>
            </a:r>
            <a:r>
              <a:rPr lang="en-US" sz="3600" b="1" dirty="0" err="1"/>
              <a:t>harga</a:t>
            </a:r>
            <a:r>
              <a:rPr lang="en-US" sz="3600" b="1" dirty="0"/>
              <a:t> </a:t>
            </a:r>
            <a:r>
              <a:rPr lang="en-US" sz="3600" dirty="0" err="1"/>
              <a:t>rumah</a:t>
            </a:r>
            <a:r>
              <a:rPr lang="en-US" sz="3600" dirty="0"/>
              <a:t> </a:t>
            </a:r>
            <a:r>
              <a:rPr lang="en-US" sz="3600" dirty="0" err="1"/>
              <a:t>itu</a:t>
            </a:r>
            <a:r>
              <a:rPr lang="en-US" sz="3600" dirty="0"/>
              <a:t>? (how much for the house?)</a:t>
            </a:r>
          </a:p>
          <a:p>
            <a:pPr marL="0" indent="0">
              <a:buNone/>
            </a:pPr>
            <a:r>
              <a:rPr lang="en-US" sz="3600" b="1" dirty="0" err="1"/>
              <a:t>Harga</a:t>
            </a:r>
            <a:r>
              <a:rPr lang="en-US" sz="3600" dirty="0"/>
              <a:t> </a:t>
            </a:r>
            <a:r>
              <a:rPr lang="en-US" sz="3600" dirty="0" err="1"/>
              <a:t>rumah</a:t>
            </a:r>
            <a:r>
              <a:rPr lang="en-US" sz="3600" dirty="0"/>
              <a:t> </a:t>
            </a:r>
            <a:r>
              <a:rPr lang="en-US" sz="3600" dirty="0" err="1"/>
              <a:t>itu</a:t>
            </a:r>
            <a:r>
              <a:rPr lang="en-US" sz="3600" dirty="0"/>
              <a:t> … rupiah (the house price is …. Rupiah)</a:t>
            </a:r>
          </a:p>
          <a:p>
            <a:pPr marL="0" indent="0">
              <a:buNone/>
            </a:pPr>
            <a:r>
              <a:rPr lang="en-US" sz="3600" dirty="0"/>
              <a:t>Saya </a:t>
            </a:r>
            <a:r>
              <a:rPr lang="en-US" sz="3600" b="1" dirty="0" err="1"/>
              <a:t>beli</a:t>
            </a:r>
            <a:r>
              <a:rPr lang="en-US" sz="3600" dirty="0"/>
              <a:t> baju di mall (I buy this clothes in mall)</a:t>
            </a:r>
          </a:p>
          <a:p>
            <a:pPr marL="0" indent="0">
              <a:buNone/>
            </a:pPr>
            <a:r>
              <a:rPr lang="en-US" sz="3600" b="1" dirty="0" err="1"/>
              <a:t>Harga</a:t>
            </a:r>
            <a:r>
              <a:rPr lang="en-US" sz="3600" dirty="0"/>
              <a:t> baju ini </a:t>
            </a:r>
            <a:r>
              <a:rPr lang="en-US" sz="3600" b="1" dirty="0"/>
              <a:t>mahal (this Clothes is expensive)</a:t>
            </a:r>
          </a:p>
          <a:p>
            <a:pPr marL="0" indent="0">
              <a:buNone/>
            </a:pPr>
            <a:r>
              <a:rPr lang="en-US" sz="3600" dirty="0" err="1"/>
              <a:t>Dia</a:t>
            </a:r>
            <a:r>
              <a:rPr lang="en-US" sz="3600" dirty="0"/>
              <a:t> </a:t>
            </a:r>
            <a:r>
              <a:rPr lang="en-US" sz="3600" b="1" dirty="0" err="1"/>
              <a:t>beli</a:t>
            </a:r>
            <a:r>
              <a:rPr lang="en-US" sz="3600" b="1" dirty="0"/>
              <a:t> </a:t>
            </a:r>
            <a:r>
              <a:rPr lang="en-US" sz="3600" dirty="0" err="1"/>
              <a:t>buku</a:t>
            </a:r>
            <a:r>
              <a:rPr lang="en-US" sz="3600" dirty="0"/>
              <a:t> </a:t>
            </a:r>
            <a:r>
              <a:rPr lang="en-US" sz="3600" b="1" dirty="0" err="1"/>
              <a:t>harga</a:t>
            </a:r>
            <a:r>
              <a:rPr lang="en-US" sz="3600" dirty="0"/>
              <a:t> 200 Euro</a:t>
            </a:r>
          </a:p>
          <a:p>
            <a:pPr marL="0" indent="0">
              <a:buNone/>
            </a:pPr>
            <a:r>
              <a:rPr lang="en-US" sz="3600" b="1" dirty="0" err="1"/>
              <a:t>Harga</a:t>
            </a:r>
            <a:r>
              <a:rPr lang="en-US" sz="3600" dirty="0"/>
              <a:t> </a:t>
            </a:r>
            <a:r>
              <a:rPr lang="en-US" sz="3600" dirty="0" err="1"/>
              <a:t>tiket</a:t>
            </a:r>
            <a:r>
              <a:rPr lang="en-US" sz="3600" dirty="0"/>
              <a:t> </a:t>
            </a:r>
            <a:r>
              <a:rPr lang="en-US" sz="3600" dirty="0" err="1"/>
              <a:t>pesawat</a:t>
            </a:r>
            <a:r>
              <a:rPr lang="en-US" sz="3600" dirty="0"/>
              <a:t> </a:t>
            </a:r>
            <a:r>
              <a:rPr lang="en-US" sz="3600" b="1" dirty="0" err="1"/>
              <a:t>sangat</a:t>
            </a:r>
            <a:r>
              <a:rPr lang="en-US" sz="3600" dirty="0"/>
              <a:t> </a:t>
            </a:r>
            <a:r>
              <a:rPr lang="en-US" sz="3600" b="1" dirty="0" err="1"/>
              <a:t>murah</a:t>
            </a:r>
            <a:r>
              <a:rPr lang="en-US" sz="3600" b="1" dirty="0"/>
              <a:t> (plane ticket price is very cheap)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55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krobat Black" panose="00000A00000000000000" pitchFamily="50" charset="0"/>
              </a:rPr>
              <a:t>Praktik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Menulis</a:t>
            </a:r>
            <a:endParaRPr lang="en-US" dirty="0">
              <a:latin typeface="Akrobat Black" panose="00000A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871" y="1825625"/>
            <a:ext cx="1068592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Ambil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di </a:t>
            </a:r>
            <a:r>
              <a:rPr lang="en-US" dirty="0" err="1"/>
              <a:t>dekatmu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Sebutkan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i="1" dirty="0"/>
              <a:t>Take an object near you and tell the price of that object!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Saya</a:t>
            </a:r>
            <a:r>
              <a:rPr lang="en-US" b="1" dirty="0"/>
              <a:t> </a:t>
            </a:r>
            <a:r>
              <a:rPr lang="en-US" b="1" dirty="0" err="1"/>
              <a:t>punya</a:t>
            </a:r>
            <a:r>
              <a:rPr lang="en-US" b="1" dirty="0"/>
              <a:t> </a:t>
            </a:r>
            <a:r>
              <a:rPr lang="en-US" b="1" dirty="0" err="1"/>
              <a:t>buku</a:t>
            </a:r>
            <a:r>
              <a:rPr lang="en-US" b="1" dirty="0"/>
              <a:t> </a:t>
            </a:r>
            <a:r>
              <a:rPr lang="en-US" i="1" dirty="0"/>
              <a:t>(I have a book)</a:t>
            </a:r>
          </a:p>
          <a:p>
            <a:pPr marL="0" indent="0">
              <a:buNone/>
            </a:pPr>
            <a:r>
              <a:rPr lang="en-US" b="1" dirty="0" err="1"/>
              <a:t>Harga</a:t>
            </a:r>
            <a:r>
              <a:rPr lang="en-US" b="1" dirty="0"/>
              <a:t> </a:t>
            </a:r>
            <a:r>
              <a:rPr lang="en-US" b="1" dirty="0" err="1"/>
              <a:t>buku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 10.000 Rupiah </a:t>
            </a:r>
            <a:r>
              <a:rPr lang="en-US" i="1" dirty="0"/>
              <a:t>(This book price is 10.000 rupiah)</a:t>
            </a:r>
          </a:p>
          <a:p>
            <a:pPr marL="0" indent="0">
              <a:buNone/>
            </a:pPr>
            <a:r>
              <a:rPr lang="en-US" b="1" dirty="0" err="1"/>
              <a:t>Buku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 </a:t>
            </a:r>
            <a:r>
              <a:rPr lang="en-US" b="1" dirty="0" err="1"/>
              <a:t>sangat</a:t>
            </a:r>
            <a:r>
              <a:rPr lang="en-US" b="1" dirty="0"/>
              <a:t> (</a:t>
            </a:r>
            <a:r>
              <a:rPr lang="en-US" b="1" dirty="0" err="1"/>
              <a:t>mahal</a:t>
            </a:r>
            <a:r>
              <a:rPr lang="en-US" b="1" dirty="0"/>
              <a:t>/</a:t>
            </a:r>
            <a:r>
              <a:rPr lang="en-US" b="1" dirty="0" err="1"/>
              <a:t>murah</a:t>
            </a:r>
            <a:r>
              <a:rPr lang="en-US" b="1" dirty="0"/>
              <a:t>) </a:t>
            </a:r>
            <a:r>
              <a:rPr lang="en-US" i="1" dirty="0"/>
              <a:t>(This book is expensive/ cheap)</a:t>
            </a:r>
          </a:p>
          <a:p>
            <a:pPr marL="0" indent="0">
              <a:buNone/>
            </a:pPr>
            <a:r>
              <a:rPr lang="en-US" b="1" dirty="0" err="1"/>
              <a:t>Saya</a:t>
            </a:r>
            <a:r>
              <a:rPr lang="en-US" b="1" dirty="0"/>
              <a:t> </a:t>
            </a:r>
            <a:r>
              <a:rPr lang="en-US" b="1" dirty="0" err="1"/>
              <a:t>beli</a:t>
            </a:r>
            <a:r>
              <a:rPr lang="en-US" b="1" dirty="0"/>
              <a:t> di </a:t>
            </a:r>
            <a:r>
              <a:rPr lang="en-US" b="1" dirty="0" err="1"/>
              <a:t>pasar</a:t>
            </a:r>
            <a:r>
              <a:rPr lang="en-US" b="1" dirty="0"/>
              <a:t> </a:t>
            </a:r>
            <a:r>
              <a:rPr lang="en-US" i="1" dirty="0"/>
              <a:t>( I bought it in the market)</a:t>
            </a:r>
          </a:p>
        </p:txBody>
      </p:sp>
    </p:spTree>
    <p:extLst>
      <p:ext uri="{BB962C8B-B14F-4D97-AF65-F5344CB8AC3E}">
        <p14:creationId xmlns:p14="http://schemas.microsoft.com/office/powerpoint/2010/main" val="1410598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krobat Black" panose="00000A00000000000000" pitchFamily="50" charset="0"/>
              </a:rPr>
              <a:t>Praktik</a:t>
            </a:r>
            <a:r>
              <a:rPr lang="en-US" dirty="0">
                <a:latin typeface="Akrobat Black" panose="00000A00000000000000" pitchFamily="50" charset="0"/>
              </a:rPr>
              <a:t> </a:t>
            </a:r>
            <a:r>
              <a:rPr lang="en-US" dirty="0" err="1">
                <a:latin typeface="Akrobat Black" panose="00000A00000000000000" pitchFamily="50" charset="0"/>
              </a:rPr>
              <a:t>Bicara</a:t>
            </a:r>
            <a:endParaRPr lang="en-US" dirty="0">
              <a:latin typeface="Akrobat Black" panose="00000A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221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 err="1"/>
              <a:t>Sebutkan</a:t>
            </a:r>
            <a:r>
              <a:rPr lang="en-US" sz="3600" dirty="0"/>
              <a:t> </a:t>
            </a:r>
            <a:r>
              <a:rPr lang="en-US" sz="3600" dirty="0" err="1"/>
              <a:t>harga</a:t>
            </a:r>
            <a:r>
              <a:rPr lang="en-US" sz="3600" dirty="0"/>
              <a:t> </a:t>
            </a:r>
            <a:r>
              <a:rPr lang="en-US" sz="3600" dirty="0" err="1"/>
              <a:t>benda</a:t>
            </a:r>
            <a:r>
              <a:rPr lang="en-US" sz="3600" dirty="0"/>
              <a:t> yang </a:t>
            </a:r>
            <a:r>
              <a:rPr lang="en-US" sz="3600" dirty="0" err="1"/>
              <a:t>kamu</a:t>
            </a:r>
            <a:r>
              <a:rPr lang="en-US" sz="3600" dirty="0"/>
              <a:t> </a:t>
            </a:r>
            <a:r>
              <a:rPr lang="en-US" sz="3600" dirty="0" err="1"/>
              <a:t>punya</a:t>
            </a:r>
            <a:endParaRPr lang="en-US" sz="3600" dirty="0"/>
          </a:p>
          <a:p>
            <a:pPr marL="0" indent="0">
              <a:buNone/>
            </a:pPr>
            <a:r>
              <a:rPr lang="en-US" sz="3600" i="1" dirty="0"/>
              <a:t>tell the price of the object you have!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dirty="0" err="1"/>
              <a:t>Saya</a:t>
            </a:r>
            <a:r>
              <a:rPr lang="en-US" sz="3600" b="1" dirty="0"/>
              <a:t> </a:t>
            </a:r>
            <a:r>
              <a:rPr lang="en-US" sz="3600" b="1" dirty="0" err="1"/>
              <a:t>punya</a:t>
            </a:r>
            <a:r>
              <a:rPr lang="en-US" sz="3600" b="1" dirty="0"/>
              <a:t> 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</a:rPr>
              <a:t>buku</a:t>
            </a:r>
            <a:r>
              <a:rPr lang="en-US" sz="3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3600" b="1" dirty="0" err="1"/>
              <a:t>Harga</a:t>
            </a:r>
            <a:r>
              <a:rPr lang="en-US" sz="3600" b="1" dirty="0"/>
              <a:t> </a:t>
            </a:r>
            <a:r>
              <a:rPr lang="en-US" sz="3600" b="1" dirty="0" err="1"/>
              <a:t>buku</a:t>
            </a:r>
            <a:r>
              <a:rPr lang="en-US" sz="3600" b="1" dirty="0"/>
              <a:t> Ini ……. Euro </a:t>
            </a:r>
            <a:r>
              <a:rPr lang="en-US" sz="3600" b="1" dirty="0" err="1"/>
              <a:t>atau</a:t>
            </a:r>
            <a:r>
              <a:rPr lang="en-US" sz="3600" b="1" dirty="0"/>
              <a:t> …. Rupiah</a:t>
            </a:r>
            <a:endParaRPr lang="en-US" sz="3600" i="1" dirty="0"/>
          </a:p>
          <a:p>
            <a:pPr marL="0" indent="0">
              <a:buNone/>
            </a:pPr>
            <a:r>
              <a:rPr lang="en-US" sz="3600" b="1" dirty="0" err="1"/>
              <a:t>Buku</a:t>
            </a:r>
            <a:r>
              <a:rPr lang="en-US" sz="3600" b="1" dirty="0"/>
              <a:t>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sangat</a:t>
            </a:r>
            <a:r>
              <a:rPr lang="en-US" sz="3600" b="1" dirty="0"/>
              <a:t> (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</a:rPr>
              <a:t>mahal</a:t>
            </a: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/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</a:rPr>
              <a:t>murah</a:t>
            </a:r>
            <a:r>
              <a:rPr lang="en-US" sz="3600" b="1" dirty="0"/>
              <a:t>)</a:t>
            </a:r>
            <a:endParaRPr lang="en-US" sz="3600" i="1" dirty="0"/>
          </a:p>
          <a:p>
            <a:pPr marL="0" indent="0">
              <a:buNone/>
            </a:pPr>
            <a:r>
              <a:rPr lang="en-US" sz="3600" b="1" dirty="0" err="1"/>
              <a:t>Saya</a:t>
            </a:r>
            <a:r>
              <a:rPr lang="en-US" sz="3600" b="1" dirty="0"/>
              <a:t> </a:t>
            </a:r>
            <a:r>
              <a:rPr lang="en-US" sz="3600" b="1" dirty="0" err="1"/>
              <a:t>beli</a:t>
            </a:r>
            <a:r>
              <a:rPr lang="en-US" sz="3600" b="1" dirty="0"/>
              <a:t> di 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</a:rPr>
              <a:t>pasar</a:t>
            </a:r>
            <a:endParaRPr lang="en-US" sz="3600" i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629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82067" y="4657637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/>
              <a:t>Ini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mobil</a:t>
            </a:r>
            <a:endParaRPr lang="en-US" sz="2800" dirty="0"/>
          </a:p>
          <a:p>
            <a:r>
              <a:rPr lang="en-US" sz="2800" dirty="0" err="1"/>
              <a:t>Harga</a:t>
            </a:r>
            <a:r>
              <a:rPr lang="en-US" sz="2800" dirty="0"/>
              <a:t> </a:t>
            </a:r>
            <a:r>
              <a:rPr lang="en-US" sz="2800" dirty="0" err="1"/>
              <a:t>mobil</a:t>
            </a:r>
            <a:r>
              <a:rPr lang="en-US" sz="2800" dirty="0"/>
              <a:t> Ini 900 </a:t>
            </a:r>
            <a:r>
              <a:rPr lang="en-US" sz="2800" dirty="0" err="1"/>
              <a:t>ribu</a:t>
            </a:r>
            <a:r>
              <a:rPr lang="en-US" sz="2800" dirty="0"/>
              <a:t> 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 err="1"/>
              <a:t>mobil</a:t>
            </a:r>
            <a:r>
              <a:rPr lang="en-US" sz="2800" dirty="0"/>
              <a:t> Ini </a:t>
            </a:r>
            <a:r>
              <a:rPr lang="en-US" sz="2800" dirty="0" err="1"/>
              <a:t>sangat</a:t>
            </a:r>
            <a:r>
              <a:rPr lang="en-US" sz="2800" dirty="0"/>
              <a:t> (mahal/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/>
              <a:t>Saya bisa </a:t>
            </a:r>
            <a:r>
              <a:rPr lang="en-US" sz="2800" dirty="0" err="1"/>
              <a:t>beli</a:t>
            </a:r>
            <a:r>
              <a:rPr lang="en-US" sz="2800" dirty="0"/>
              <a:t> di </a:t>
            </a:r>
            <a:r>
              <a:rPr lang="en-US" sz="2800" dirty="0" err="1"/>
              <a:t>toko</a:t>
            </a:r>
            <a:r>
              <a:rPr lang="en-US" sz="2800" dirty="0"/>
              <a:t> </a:t>
            </a:r>
            <a:r>
              <a:rPr lang="en-US" sz="2800" dirty="0" err="1"/>
              <a:t>mobil</a:t>
            </a:r>
            <a:r>
              <a:rPr lang="en-US" sz="2800" dirty="0"/>
              <a:t> (I can buy in car shop)</a:t>
            </a:r>
          </a:p>
        </p:txBody>
      </p:sp>
      <p:pic>
        <p:nvPicPr>
          <p:cNvPr id="4098" name="Picture 2" descr="Tesla luncurkan Model Y dengan penggerak roda belakang di Eropa - ANTARA  News">
            <a:extLst>
              <a:ext uri="{FF2B5EF4-FFF2-40B4-BE49-F238E27FC236}">
                <a16:creationId xmlns:a16="http://schemas.microsoft.com/office/drawing/2014/main" id="{9D2681BA-6BFF-4AE1-ABAD-10177F9C8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555" y="166548"/>
            <a:ext cx="6101443" cy="406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4685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frikadel</a:t>
            </a:r>
            <a:r>
              <a:rPr lang="en-US" sz="2800" dirty="0"/>
              <a:t>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 err="1"/>
              <a:t>Frikadel</a:t>
            </a:r>
            <a:r>
              <a:rPr lang="en-US" sz="2800" dirty="0"/>
              <a:t>  </a:t>
            </a:r>
            <a:r>
              <a:rPr lang="en-US" sz="2800" dirty="0" err="1"/>
              <a:t>Ini</a:t>
            </a:r>
            <a:r>
              <a:rPr lang="en-US" sz="2800" dirty="0"/>
              <a:t> sangat (mahal/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2050" name="Picture 2" descr="Danish Meat Balls - Frikadeller">
            <a:extLst>
              <a:ext uri="{FF2B5EF4-FFF2-40B4-BE49-F238E27FC236}">
                <a16:creationId xmlns:a16="http://schemas.microsoft.com/office/drawing/2014/main" id="{9DD4FFA9-8BE0-460D-9CCD-EA8C3A37D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815" y="1016022"/>
            <a:ext cx="4864369" cy="323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230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/>
              <a:t>Harga </a:t>
            </a:r>
            <a:r>
              <a:rPr lang="en-US" sz="2800" dirty="0" err="1"/>
              <a:t>Iphone</a:t>
            </a:r>
            <a:r>
              <a:rPr lang="en-US" sz="2800" dirty="0"/>
              <a:t>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5122" name="Picture 2" descr="SAMSUNG GALAXY S21 5G 8/128GB - Harga &amp; Spesifikasi | Complete Selular">
            <a:extLst>
              <a:ext uri="{FF2B5EF4-FFF2-40B4-BE49-F238E27FC236}">
                <a16:creationId xmlns:a16="http://schemas.microsoft.com/office/drawing/2014/main" id="{C00F4A3A-CFB5-404F-BD53-1B3D628FD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655" y="0"/>
            <a:ext cx="4196938" cy="419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099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314" name="Picture 2" descr="Gucci GG Marmont Leather Continental Wallet - Black | Voila.i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84" r="1855" b="24019"/>
          <a:stretch/>
        </p:blipFill>
        <p:spPr bwMode="auto">
          <a:xfrm>
            <a:off x="3181163" y="1110176"/>
            <a:ext cx="5384614" cy="2891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1718982" y="44693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</p:spTree>
    <p:extLst>
      <p:ext uri="{BB962C8B-B14F-4D97-AF65-F5344CB8AC3E}">
        <p14:creationId xmlns:p14="http://schemas.microsoft.com/office/powerpoint/2010/main" val="3504239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1026" name="Picture 2" descr="Botol Rasa Asli Coca-Cola – McGrocer">
            <a:extLst>
              <a:ext uri="{FF2B5EF4-FFF2-40B4-BE49-F238E27FC236}">
                <a16:creationId xmlns:a16="http://schemas.microsoft.com/office/drawing/2014/main" id="{791020D9-BEB0-49F9-AF48-2DCEC9A1B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846" y="355094"/>
            <a:ext cx="4131845" cy="413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6536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718982" y="44693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2050" name="Picture 2" descr="Laptop For Gaming - All series｜ASUS Indonesia">
            <a:extLst>
              <a:ext uri="{FF2B5EF4-FFF2-40B4-BE49-F238E27FC236}">
                <a16:creationId xmlns:a16="http://schemas.microsoft.com/office/drawing/2014/main" id="{56733B92-4F3F-4767-9AF4-3D65A560E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745" y="179012"/>
            <a:ext cx="4222898" cy="422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859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3074" name="Picture 2" descr="Compact Camera | Sony Indonesia">
            <a:extLst>
              <a:ext uri="{FF2B5EF4-FFF2-40B4-BE49-F238E27FC236}">
                <a16:creationId xmlns:a16="http://schemas.microsoft.com/office/drawing/2014/main" id="{DDEA4DF6-F339-43A5-AA13-832680A41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150961"/>
            <a:ext cx="727710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6745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1028" name="Picture 4" descr="Danish Stegt Flaesk Recipe">
            <a:extLst>
              <a:ext uri="{FF2B5EF4-FFF2-40B4-BE49-F238E27FC236}">
                <a16:creationId xmlns:a16="http://schemas.microsoft.com/office/drawing/2014/main" id="{6CF58CB9-D3E5-4996-A385-EA414AB07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655" y="320633"/>
            <a:ext cx="4149436" cy="414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2036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18434" name="Picture 2" descr="Nike Air Jordan 11 Original Terbaru Februari 2023 | Blibl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494" y="562722"/>
            <a:ext cx="516255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7144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86752" y="4697978"/>
            <a:ext cx="8754035" cy="20090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….</a:t>
            </a:r>
          </a:p>
          <a:p>
            <a:r>
              <a:rPr lang="en-US" sz="2800" dirty="0" err="1"/>
              <a:t>Harga</a:t>
            </a:r>
            <a:r>
              <a:rPr lang="en-US" sz="2800" dirty="0"/>
              <a:t> …. Ini …..Euro </a:t>
            </a:r>
            <a:r>
              <a:rPr lang="en-US" sz="2800" dirty="0" err="1"/>
              <a:t>atau</a:t>
            </a:r>
            <a:r>
              <a:rPr lang="en-US" sz="2800" dirty="0"/>
              <a:t> ……. Rupiah</a:t>
            </a:r>
          </a:p>
          <a:p>
            <a:r>
              <a:rPr lang="en-US" sz="2800" dirty="0"/>
              <a:t>…….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sangat</a:t>
            </a:r>
            <a:r>
              <a:rPr lang="en-US" sz="2800" dirty="0"/>
              <a:t> (</a:t>
            </a:r>
            <a:r>
              <a:rPr lang="en-US" sz="2800" dirty="0" err="1"/>
              <a:t>mahal</a:t>
            </a:r>
            <a:r>
              <a:rPr lang="en-US" sz="2800" dirty="0"/>
              <a:t>/</a:t>
            </a:r>
            <a:r>
              <a:rPr lang="en-US" sz="2800" dirty="0" err="1"/>
              <a:t>murah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beli</a:t>
            </a:r>
            <a:r>
              <a:rPr lang="en-US" sz="2800" dirty="0"/>
              <a:t> di …  </a:t>
            </a:r>
          </a:p>
        </p:txBody>
      </p:sp>
      <p:pic>
        <p:nvPicPr>
          <p:cNvPr id="3074" name="Picture 2" descr="Probably The Best Beer In The World - Carlsberg">
            <a:extLst>
              <a:ext uri="{FF2B5EF4-FFF2-40B4-BE49-F238E27FC236}">
                <a16:creationId xmlns:a16="http://schemas.microsoft.com/office/drawing/2014/main" id="{71203A50-F727-4464-82B7-6D73F6C23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830" y="0"/>
            <a:ext cx="3440339" cy="4516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8726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 descr="Image result for terima kasih indonesia cartoon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-244475"/>
            <a:ext cx="8213725" cy="710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7237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975</Words>
  <Application>Microsoft Office PowerPoint</Application>
  <PresentationFormat>Widescreen</PresentationFormat>
  <Paragraphs>232</Paragraphs>
  <Slides>41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Akrobat Black</vt:lpstr>
      <vt:lpstr>Akrobat Bold</vt:lpstr>
      <vt:lpstr>Akrobat ExtraBold</vt:lpstr>
      <vt:lpstr>Comfortaa</vt:lpstr>
      <vt:lpstr>Arial</vt:lpstr>
      <vt:lpstr>Calibri</vt:lpstr>
      <vt:lpstr>Calibri Light</vt:lpstr>
      <vt:lpstr>Patrick Hand</vt:lpstr>
      <vt:lpstr>Patrick Hand SC</vt:lpstr>
      <vt:lpstr>Office Theme</vt:lpstr>
      <vt:lpstr>PowerPoint Presentation</vt:lpstr>
      <vt:lpstr>PowerPoint Presentation</vt:lpstr>
      <vt:lpstr>PowerPoint Presentation</vt:lpstr>
      <vt:lpstr>PowerPoint Presentation</vt:lpstr>
      <vt:lpstr>NOMOR / ANGKA</vt:lpstr>
      <vt:lpstr>Bacalah nomor ini! 1 2 3 4 5 6 7 8 9 10 11 12 13 14 15  20 30 40 50 60 70 80 100  300  600  1.000  3.000</vt:lpstr>
      <vt:lpstr>Baca Nomor</vt:lpstr>
      <vt:lpstr>PowerPoint Presentation</vt:lpstr>
      <vt:lpstr>Contoh kalimat</vt:lpstr>
      <vt:lpstr>Contoh kalimat</vt:lpstr>
      <vt:lpstr>Contoh kalimat</vt:lpstr>
      <vt:lpstr>Contoh kalimat</vt:lpstr>
      <vt:lpstr>Contoh kalimat</vt:lpstr>
      <vt:lpstr>Contoh kalimat</vt:lpstr>
      <vt:lpstr>Contoh kalimat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Urutan   Ordinal </vt:lpstr>
      <vt:lpstr>PowerPoint Presentation</vt:lpstr>
      <vt:lpstr>PowerPoint Presentation</vt:lpstr>
      <vt:lpstr>PowerPoint Presentation</vt:lpstr>
      <vt:lpstr>Harga / Price</vt:lpstr>
      <vt:lpstr>PowerPoint Presentation</vt:lpstr>
      <vt:lpstr>Contoh kalimat</vt:lpstr>
      <vt:lpstr>Praktik Menulis</vt:lpstr>
      <vt:lpstr>Praktik Bicara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ytabrianrizky@gmail.com</cp:lastModifiedBy>
  <cp:revision>65</cp:revision>
  <dcterms:created xsi:type="dcterms:W3CDTF">2020-10-19T23:51:58Z</dcterms:created>
  <dcterms:modified xsi:type="dcterms:W3CDTF">2026-03-02T16:20:12Z</dcterms:modified>
</cp:coreProperties>
</file>