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6" r:id="rId10"/>
    <p:sldId id="267" r:id="rId11"/>
    <p:sldId id="268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09" autoAdjust="0"/>
    <p:restoredTop sz="94660"/>
  </p:normalViewPr>
  <p:slideViewPr>
    <p:cSldViewPr snapToGrid="0">
      <p:cViewPr>
        <p:scale>
          <a:sx n="80" d="100"/>
          <a:sy n="80" d="100"/>
        </p:scale>
        <p:origin x="46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06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402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73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8/5/2023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261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8/5/2023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9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8/5/2023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425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8/5/2023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26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8/5/2023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89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8/5/2023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261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00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EC112-1BDE-4392-B369-87E810C80A11}" type="datetimeFigureOut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57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33220" t="11874" r="32957" b="14419"/>
          <a:stretch/>
        </p:blipFill>
        <p:spPr>
          <a:xfrm>
            <a:off x="6575613" y="0"/>
            <a:ext cx="5616388" cy="6880896"/>
          </a:xfrm>
          <a:prstGeom prst="rect">
            <a:avLst/>
          </a:prstGeom>
        </p:spPr>
      </p:pic>
      <p:pic>
        <p:nvPicPr>
          <p:cNvPr id="1026" name="Picture 2" descr="https://i.pinimg.com/originals/aa/31/d7/aa31d7d623f00d1aa55b10c51f43ab7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54388" cy="710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" y="5180772"/>
            <a:ext cx="12192000" cy="1008810"/>
          </a:xfrm>
          <a:solidFill>
            <a:schemeClr val="bg2">
              <a:lumMod val="75000"/>
            </a:schemeClr>
          </a:solidFill>
        </p:spPr>
        <p:txBody>
          <a:bodyPr/>
          <a:lstStyle/>
          <a:p>
            <a:r>
              <a:rPr lang="en-US" b="1" dirty="0" smtClean="0">
                <a:latin typeface="Adobe Garamond Pro" panose="02020502060506020403" pitchFamily="18" charset="0"/>
              </a:rPr>
              <a:t>Benda-</a:t>
            </a:r>
            <a:r>
              <a:rPr lang="en-US" b="1" dirty="0" err="1" smtClean="0">
                <a:latin typeface="Adobe Garamond Pro" panose="02020502060506020403" pitchFamily="18" charset="0"/>
              </a:rPr>
              <a:t>benda</a:t>
            </a:r>
            <a:endParaRPr lang="en-US" b="1" dirty="0">
              <a:latin typeface="Adobe Garamond Pro" panose="020205020605060204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6189582"/>
            <a:ext cx="12191999" cy="668418"/>
          </a:xfrm>
          <a:solidFill>
            <a:schemeClr val="bg2">
              <a:lumMod val="25000"/>
            </a:schemeClr>
          </a:solidFill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Akrobat Black" panose="00000A00000000000000" pitchFamily="50" charset="0"/>
              </a:rPr>
              <a:t>BIPA 1 PJJ Manila</a:t>
            </a:r>
            <a:endParaRPr lang="en-US" sz="3600" dirty="0">
              <a:solidFill>
                <a:schemeClr val="bg1"/>
              </a:solidFill>
              <a:latin typeface="Akrob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438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9152" y="292660"/>
            <a:ext cx="8615083" cy="98481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dirty="0" smtClean="0"/>
              <a:t>Benda </a:t>
            </a:r>
            <a:r>
              <a:rPr lang="en-US" dirty="0" err="1" smtClean="0"/>
              <a:t>apa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?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…</a:t>
            </a:r>
          </a:p>
          <a:p>
            <a:pPr marL="0" indent="0" algn="ctr">
              <a:buNone/>
            </a:pPr>
            <a:r>
              <a:rPr lang="en-US" dirty="0" err="1" smtClean="0"/>
              <a:t>Apakah</a:t>
            </a:r>
            <a:r>
              <a:rPr lang="en-US" dirty="0" smtClean="0"/>
              <a:t> </a:t>
            </a:r>
            <a:r>
              <a:rPr lang="en-US" dirty="0" err="1" smtClean="0"/>
              <a:t>kamu</a:t>
            </a:r>
            <a:r>
              <a:rPr lang="en-US" dirty="0" smtClean="0"/>
              <a:t> </a:t>
            </a:r>
            <a:r>
              <a:rPr lang="en-US" dirty="0" err="1" smtClean="0"/>
              <a:t>punya</a:t>
            </a:r>
            <a:r>
              <a:rPr lang="en-US" dirty="0" smtClean="0"/>
              <a:t>? </a:t>
            </a:r>
            <a:r>
              <a:rPr lang="en-US" dirty="0" err="1" smtClean="0"/>
              <a:t>Saya</a:t>
            </a:r>
            <a:r>
              <a:rPr lang="en-US" dirty="0" smtClean="0"/>
              <a:t> (</a:t>
            </a:r>
            <a:r>
              <a:rPr lang="en-US" dirty="0" err="1" smtClean="0"/>
              <a:t>punya</a:t>
            </a:r>
            <a:r>
              <a:rPr lang="en-US" dirty="0" smtClean="0"/>
              <a:t> /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punya</a:t>
            </a:r>
            <a:r>
              <a:rPr lang="en-US" dirty="0" smtClean="0"/>
              <a:t>) </a:t>
            </a:r>
            <a:r>
              <a:rPr lang="en-US" dirty="0" err="1" smtClean="0"/>
              <a:t>benda</a:t>
            </a:r>
            <a:r>
              <a:rPr lang="en-US" dirty="0" smtClean="0"/>
              <a:t> </a:t>
            </a:r>
            <a:r>
              <a:rPr lang="en-US" dirty="0" err="1" smtClean="0"/>
              <a:t>itu</a:t>
            </a:r>
            <a:r>
              <a:rPr lang="en-US" dirty="0" smtClean="0"/>
              <a:t> …</a:t>
            </a:r>
            <a:endParaRPr lang="en-US" dirty="0"/>
          </a:p>
        </p:txBody>
      </p:sp>
      <p:pic>
        <p:nvPicPr>
          <p:cNvPr id="2050" name="Picture 2" descr="Jam Tangan Pria Diskon Hingga 75% off | ZALORA Indonesia ®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74" y="1830251"/>
            <a:ext cx="2304288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best phones of 2023: Expert tested and reviewed | ZDNE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4740" y="1830251"/>
            <a:ext cx="24384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enuine Leather Slim Bifold Wallets For Men Minimalist Mens Wallet RFID  Blocking | eBa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508" y="1830251"/>
            <a:ext cx="18781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House Key Pictures | Download Free Images on Unsplash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0006" y="1830251"/>
            <a:ext cx="2348458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Handbags &amp; Purse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18" y="4211832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Jual Sepatu Warior / Warrior LC black white SZ 37-43 - hitam putih, 37 -  Kota Bandung - Polydo Shop | Tokopedi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9540" y="4211832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I-Glasses Dewasa Tourmaline Hitam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808" y="4211832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Payung bolak balik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835" y="4211832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51457" y="1645920"/>
            <a:ext cx="554504" cy="58477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1</a:t>
            </a:r>
            <a:endParaRPr lang="en-US" sz="3200" dirty="0"/>
          </a:p>
        </p:txBody>
      </p:sp>
      <p:sp>
        <p:nvSpPr>
          <p:cNvPr id="15" name="TextBox 14"/>
          <p:cNvSpPr txBox="1"/>
          <p:nvPr/>
        </p:nvSpPr>
        <p:spPr>
          <a:xfrm>
            <a:off x="3260193" y="1645920"/>
            <a:ext cx="554504" cy="58477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2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6333343" y="1645919"/>
            <a:ext cx="554504" cy="58477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3</a:t>
            </a:r>
            <a:endParaRPr lang="en-US" sz="3200" dirty="0"/>
          </a:p>
        </p:txBody>
      </p:sp>
      <p:sp>
        <p:nvSpPr>
          <p:cNvPr id="17" name="TextBox 16"/>
          <p:cNvSpPr txBox="1"/>
          <p:nvPr/>
        </p:nvSpPr>
        <p:spPr>
          <a:xfrm>
            <a:off x="9056051" y="1645918"/>
            <a:ext cx="554504" cy="58477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4</a:t>
            </a:r>
            <a:endParaRPr lang="en-US" sz="3200" dirty="0"/>
          </a:p>
        </p:txBody>
      </p:sp>
      <p:sp>
        <p:nvSpPr>
          <p:cNvPr id="18" name="TextBox 17"/>
          <p:cNvSpPr txBox="1"/>
          <p:nvPr/>
        </p:nvSpPr>
        <p:spPr>
          <a:xfrm>
            <a:off x="251457" y="3919444"/>
            <a:ext cx="554504" cy="58477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5</a:t>
            </a:r>
            <a:endParaRPr lang="en-US" sz="3200" dirty="0"/>
          </a:p>
        </p:txBody>
      </p:sp>
      <p:sp>
        <p:nvSpPr>
          <p:cNvPr id="19" name="TextBox 18"/>
          <p:cNvSpPr txBox="1"/>
          <p:nvPr/>
        </p:nvSpPr>
        <p:spPr>
          <a:xfrm>
            <a:off x="3260193" y="3919443"/>
            <a:ext cx="554504" cy="58477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6</a:t>
            </a:r>
            <a:endParaRPr lang="en-US" sz="3200" dirty="0"/>
          </a:p>
        </p:txBody>
      </p:sp>
      <p:sp>
        <p:nvSpPr>
          <p:cNvPr id="20" name="TextBox 19"/>
          <p:cNvSpPr txBox="1"/>
          <p:nvPr/>
        </p:nvSpPr>
        <p:spPr>
          <a:xfrm>
            <a:off x="6324567" y="3919442"/>
            <a:ext cx="554504" cy="58477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7</a:t>
            </a:r>
            <a:endParaRPr lang="en-US" sz="3200" dirty="0"/>
          </a:p>
        </p:txBody>
      </p:sp>
      <p:sp>
        <p:nvSpPr>
          <p:cNvPr id="21" name="TextBox 20"/>
          <p:cNvSpPr txBox="1"/>
          <p:nvPr/>
        </p:nvSpPr>
        <p:spPr>
          <a:xfrm>
            <a:off x="9056051" y="3919442"/>
            <a:ext cx="554504" cy="58477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8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41753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8515"/>
            <a:ext cx="10515600" cy="844697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 smtClean="0"/>
              <a:t>Benda </a:t>
            </a:r>
            <a:r>
              <a:rPr lang="en-US" dirty="0" err="1" smtClean="0"/>
              <a:t>pribadi</a:t>
            </a:r>
            <a:r>
              <a:rPr lang="en-US" dirty="0" smtClean="0"/>
              <a:t> (Personal belonging)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190145"/>
              </p:ext>
            </p:extLst>
          </p:nvPr>
        </p:nvGraphicFramePr>
        <p:xfrm>
          <a:off x="838200" y="1423046"/>
          <a:ext cx="10515600" cy="493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93555">
                <a:tc>
                  <a:txBody>
                    <a:bodyPr/>
                    <a:lstStyle/>
                    <a:p>
                      <a:r>
                        <a:rPr lang="en-US" dirty="0" smtClean="0"/>
                        <a:t>English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Bahasa Indonesia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English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Bahasa</a:t>
                      </a:r>
                      <a:r>
                        <a:rPr lang="en-US" baseline="0" dirty="0" smtClean="0"/>
                        <a:t> Indonesia </a:t>
                      </a:r>
                      <a:endParaRPr lang="en-US" dirty="0"/>
                    </a:p>
                  </a:txBody>
                  <a:tcPr/>
                </a:tc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Shirt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 smtClean="0"/>
                        <a:t>Kemeja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 smtClean="0"/>
                        <a:t>Aircon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AC</a:t>
                      </a:r>
                      <a:endParaRPr lang="en-US" sz="2400" b="1" dirty="0"/>
                    </a:p>
                  </a:txBody>
                  <a:tcPr/>
                </a:tc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Motorcycle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 smtClean="0"/>
                        <a:t>Sepeda</a:t>
                      </a:r>
                      <a:r>
                        <a:rPr lang="en-US" sz="2400" b="1" dirty="0" smtClean="0"/>
                        <a:t> motor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Heater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 smtClean="0"/>
                        <a:t>Pemanas</a:t>
                      </a:r>
                      <a:endParaRPr lang="en-US" sz="2400" b="1" dirty="0"/>
                    </a:p>
                  </a:txBody>
                  <a:tcPr/>
                </a:tc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Car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Mobil 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Electric</a:t>
                      </a:r>
                      <a:r>
                        <a:rPr lang="en-US" sz="2400" b="1" baseline="0" dirty="0" smtClean="0"/>
                        <a:t> fan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 smtClean="0"/>
                        <a:t>Kipas</a:t>
                      </a:r>
                      <a:r>
                        <a:rPr lang="en-US" sz="2400" b="1" dirty="0" smtClean="0"/>
                        <a:t> </a:t>
                      </a:r>
                      <a:r>
                        <a:rPr lang="en-US" sz="2400" b="1" dirty="0" err="1" smtClean="0"/>
                        <a:t>angin</a:t>
                      </a:r>
                      <a:endParaRPr lang="en-US" sz="2400" b="1" dirty="0"/>
                    </a:p>
                  </a:txBody>
                  <a:tcPr/>
                </a:tc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Hanger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 smtClean="0"/>
                        <a:t>Gantungan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Wall clock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Jam </a:t>
                      </a:r>
                      <a:r>
                        <a:rPr lang="en-US" sz="2400" b="1" dirty="0" err="1" smtClean="0"/>
                        <a:t>dinding</a:t>
                      </a:r>
                      <a:endParaRPr lang="en-US" sz="2400" b="1" dirty="0"/>
                    </a:p>
                  </a:txBody>
                  <a:tcPr/>
                </a:tc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Refrigerator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 smtClean="0"/>
                        <a:t>Kulkas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Phone charger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 smtClean="0"/>
                        <a:t>Pengisi</a:t>
                      </a:r>
                      <a:r>
                        <a:rPr lang="en-US" sz="2400" b="1" baseline="0" dirty="0" smtClean="0"/>
                        <a:t> </a:t>
                      </a:r>
                      <a:r>
                        <a:rPr lang="en-US" sz="2400" b="1" baseline="0" dirty="0" err="1" smtClean="0"/>
                        <a:t>daya</a:t>
                      </a:r>
                      <a:endParaRPr lang="en-US" sz="2400" b="1" dirty="0"/>
                    </a:p>
                  </a:txBody>
                  <a:tcPr/>
                </a:tc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Plastic</a:t>
                      </a:r>
                      <a:r>
                        <a:rPr lang="en-US" sz="2400" b="1" baseline="0" dirty="0" smtClean="0"/>
                        <a:t> box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Kotak </a:t>
                      </a:r>
                      <a:r>
                        <a:rPr lang="en-US" sz="2400" b="1" dirty="0" err="1" smtClean="0"/>
                        <a:t>plastik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Bail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ember</a:t>
                      </a:r>
                      <a:endParaRPr lang="en-US" sz="2400" b="1" dirty="0"/>
                    </a:p>
                  </a:txBody>
                  <a:tcPr/>
                </a:tc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Mirror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 smtClean="0"/>
                        <a:t>Cermin</a:t>
                      </a:r>
                      <a:endParaRPr lang="en-US" sz="24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Towel 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 smtClean="0"/>
                        <a:t>handuk</a:t>
                      </a:r>
                      <a:endParaRPr lang="en-US" sz="2400" b="1" dirty="0"/>
                    </a:p>
                  </a:txBody>
                  <a:tcPr/>
                </a:tc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Iron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 smtClean="0"/>
                        <a:t>Setrika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Laundry</a:t>
                      </a:r>
                      <a:r>
                        <a:rPr lang="en-US" sz="2400" b="1" baseline="0" dirty="0" smtClean="0"/>
                        <a:t> basket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 smtClean="0"/>
                        <a:t>Bak</a:t>
                      </a:r>
                      <a:r>
                        <a:rPr lang="en-US" sz="2400" b="1" dirty="0" smtClean="0"/>
                        <a:t> </a:t>
                      </a:r>
                      <a:r>
                        <a:rPr lang="en-US" sz="2400" b="1" dirty="0" err="1" smtClean="0"/>
                        <a:t>cucian</a:t>
                      </a:r>
                      <a:endParaRPr lang="en-US" sz="2400" b="1" dirty="0"/>
                    </a:p>
                  </a:txBody>
                  <a:tcPr/>
                </a:tc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Bag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 smtClean="0"/>
                        <a:t>tas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Pot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 smtClean="0"/>
                        <a:t>Panci</a:t>
                      </a:r>
                      <a:r>
                        <a:rPr lang="en-US" sz="2400" b="1" dirty="0" smtClean="0"/>
                        <a:t> </a:t>
                      </a:r>
                      <a:endParaRPr lang="en-US" sz="2400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095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975"/>
            <a:ext cx="10515600" cy="900968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Konsep</a:t>
            </a:r>
            <a:r>
              <a:rPr lang="en-US" dirty="0" smtClean="0"/>
              <a:t> -</a:t>
            </a:r>
            <a:r>
              <a:rPr lang="en-US" dirty="0" err="1" smtClean="0"/>
              <a:t>ku</a:t>
            </a:r>
            <a:r>
              <a:rPr lang="en-US" dirty="0" smtClean="0"/>
              <a:t>, -mu, –</a:t>
            </a:r>
            <a:r>
              <a:rPr lang="en-US" dirty="0" err="1" smtClean="0"/>
              <a:t>nya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246" y="1072177"/>
            <a:ext cx="10617660" cy="5463094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Konsep</a:t>
            </a:r>
            <a:r>
              <a:rPr lang="en-US" dirty="0" smtClean="0"/>
              <a:t> –</a:t>
            </a:r>
            <a:r>
              <a:rPr lang="en-US" dirty="0" err="1" smtClean="0"/>
              <a:t>ku</a:t>
            </a:r>
            <a:r>
              <a:rPr lang="en-US" dirty="0"/>
              <a:t> </a:t>
            </a:r>
            <a:r>
              <a:rPr lang="en-US" dirty="0" smtClean="0"/>
              <a:t>: </a:t>
            </a:r>
            <a:r>
              <a:rPr lang="en-US" dirty="0" err="1" smtClean="0"/>
              <a:t>mobil</a:t>
            </a:r>
            <a:r>
              <a:rPr lang="en-US" b="1" dirty="0" err="1" smtClean="0"/>
              <a:t>ku</a:t>
            </a:r>
            <a:r>
              <a:rPr lang="en-US" b="1" dirty="0" smtClean="0"/>
              <a:t> </a:t>
            </a:r>
            <a:r>
              <a:rPr lang="en-US" dirty="0" smtClean="0"/>
              <a:t>(my car), </a:t>
            </a:r>
            <a:r>
              <a:rPr lang="en-US" dirty="0" err="1" smtClean="0"/>
              <a:t>rumah</a:t>
            </a:r>
            <a:r>
              <a:rPr lang="en-US" b="1" dirty="0" err="1" smtClean="0"/>
              <a:t>ku</a:t>
            </a:r>
            <a:r>
              <a:rPr lang="en-US" b="1" dirty="0" smtClean="0"/>
              <a:t> </a:t>
            </a:r>
            <a:r>
              <a:rPr lang="en-US" dirty="0" smtClean="0"/>
              <a:t>(my house)</a:t>
            </a:r>
          </a:p>
          <a:p>
            <a:pPr marL="0" indent="0">
              <a:buNone/>
            </a:pPr>
            <a:r>
              <a:rPr lang="en-US" dirty="0" err="1" smtClean="0"/>
              <a:t>Mobil</a:t>
            </a:r>
            <a:r>
              <a:rPr lang="en-US" b="1" dirty="0" err="1" smtClean="0"/>
              <a:t>ku</a:t>
            </a:r>
            <a:r>
              <a:rPr lang="en-US" b="1" dirty="0" smtClean="0"/>
              <a:t> </a:t>
            </a:r>
            <a:r>
              <a:rPr lang="en-US" dirty="0" smtClean="0"/>
              <a:t>Toyota </a:t>
            </a:r>
            <a:r>
              <a:rPr lang="en-US" dirty="0" err="1" smtClean="0"/>
              <a:t>vios</a:t>
            </a:r>
            <a:r>
              <a:rPr lang="en-US" b="1" dirty="0" smtClean="0"/>
              <a:t>. -- </a:t>
            </a:r>
            <a:r>
              <a:rPr lang="en-US" i="1" dirty="0" smtClean="0"/>
              <a:t>My car is Toyota </a:t>
            </a:r>
            <a:r>
              <a:rPr lang="en-US" i="1" dirty="0" err="1" smtClean="0"/>
              <a:t>vios</a:t>
            </a:r>
            <a:endParaRPr lang="en-US" b="1" dirty="0" smtClean="0"/>
          </a:p>
          <a:p>
            <a:pPr marL="0" indent="0">
              <a:buNone/>
            </a:pPr>
            <a:r>
              <a:rPr lang="en-US" dirty="0" err="1" smtClean="0"/>
              <a:t>Rumah</a:t>
            </a:r>
            <a:r>
              <a:rPr lang="en-US" b="1" dirty="0" err="1" smtClean="0"/>
              <a:t>ku</a:t>
            </a:r>
            <a:r>
              <a:rPr lang="en-US" b="1" dirty="0" smtClean="0"/>
              <a:t> </a:t>
            </a:r>
            <a:r>
              <a:rPr lang="en-US" dirty="0" smtClean="0"/>
              <a:t>di Surabaya. – </a:t>
            </a:r>
            <a:r>
              <a:rPr lang="en-US" i="1" dirty="0" smtClean="0"/>
              <a:t>My house in Surabaya 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err="1" smtClean="0"/>
              <a:t>Konsep</a:t>
            </a:r>
            <a:r>
              <a:rPr lang="en-US" dirty="0" smtClean="0"/>
              <a:t> –mu : </a:t>
            </a:r>
            <a:r>
              <a:rPr lang="en-US" dirty="0" err="1" smtClean="0"/>
              <a:t>sepatu</a:t>
            </a:r>
            <a:r>
              <a:rPr lang="en-US" b="1" dirty="0" err="1" smtClean="0"/>
              <a:t>mu</a:t>
            </a:r>
            <a:r>
              <a:rPr lang="en-US" b="1" dirty="0" smtClean="0"/>
              <a:t> </a:t>
            </a:r>
            <a:r>
              <a:rPr lang="en-US" dirty="0" smtClean="0"/>
              <a:t>(your shoes)</a:t>
            </a:r>
            <a:r>
              <a:rPr lang="en-US" b="1" dirty="0" smtClean="0"/>
              <a:t>, </a:t>
            </a:r>
            <a:r>
              <a:rPr lang="en-US" dirty="0" err="1" smtClean="0"/>
              <a:t>topi</a:t>
            </a:r>
            <a:r>
              <a:rPr lang="en-US" b="1" dirty="0" err="1" smtClean="0"/>
              <a:t>mu</a:t>
            </a:r>
            <a:r>
              <a:rPr lang="en-US" b="1" dirty="0" smtClean="0"/>
              <a:t> </a:t>
            </a:r>
            <a:r>
              <a:rPr lang="en-US" dirty="0" smtClean="0"/>
              <a:t>(your hat)</a:t>
            </a:r>
            <a:endParaRPr lang="en-US" b="1" dirty="0" smtClean="0"/>
          </a:p>
          <a:p>
            <a:pPr marL="0" indent="0">
              <a:buNone/>
            </a:pP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sepatu</a:t>
            </a:r>
            <a:r>
              <a:rPr lang="en-US" b="1" dirty="0" err="1" smtClean="0"/>
              <a:t>mu</a:t>
            </a:r>
            <a:r>
              <a:rPr lang="en-US" dirty="0" smtClean="0"/>
              <a:t>. </a:t>
            </a:r>
            <a:r>
              <a:rPr lang="en-US" i="1" dirty="0" smtClean="0"/>
              <a:t>– this is your shoes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Itu</a:t>
            </a:r>
            <a:r>
              <a:rPr lang="en-US" dirty="0" smtClean="0"/>
              <a:t> </a:t>
            </a:r>
            <a:r>
              <a:rPr lang="en-US" dirty="0" err="1" smtClean="0"/>
              <a:t>bukan</a:t>
            </a:r>
            <a:r>
              <a:rPr lang="en-US" dirty="0" smtClean="0"/>
              <a:t> </a:t>
            </a:r>
            <a:r>
              <a:rPr lang="en-US" dirty="0" err="1" smtClean="0"/>
              <a:t>topi</a:t>
            </a:r>
            <a:r>
              <a:rPr lang="en-US" b="1" dirty="0" err="1" smtClean="0"/>
              <a:t>mu</a:t>
            </a:r>
            <a:r>
              <a:rPr lang="en-US" b="1" dirty="0" smtClean="0"/>
              <a:t>. – </a:t>
            </a:r>
            <a:r>
              <a:rPr lang="en-US" i="1" dirty="0" smtClean="0"/>
              <a:t>this is not your hat</a:t>
            </a:r>
          </a:p>
          <a:p>
            <a:pPr marL="0" indent="0">
              <a:buNone/>
            </a:pPr>
            <a:endParaRPr lang="en-US" i="1" dirty="0" smtClean="0"/>
          </a:p>
          <a:p>
            <a:r>
              <a:rPr lang="en-US" dirty="0" err="1" smtClean="0"/>
              <a:t>Konsep</a:t>
            </a:r>
            <a:r>
              <a:rPr lang="en-US" dirty="0" smtClean="0"/>
              <a:t> –</a:t>
            </a:r>
            <a:r>
              <a:rPr lang="en-US" dirty="0" err="1" smtClean="0"/>
              <a:t>nya</a:t>
            </a:r>
            <a:r>
              <a:rPr lang="en-US" dirty="0"/>
              <a:t> </a:t>
            </a:r>
            <a:r>
              <a:rPr lang="en-US" dirty="0" smtClean="0"/>
              <a:t>:</a:t>
            </a:r>
            <a:r>
              <a:rPr lang="en-US" dirty="0" err="1" smtClean="0"/>
              <a:t>Buku</a:t>
            </a:r>
            <a:r>
              <a:rPr lang="en-US" b="1" dirty="0" err="1" smtClean="0"/>
              <a:t>nya</a:t>
            </a:r>
            <a:r>
              <a:rPr lang="en-US" b="1" dirty="0" smtClean="0"/>
              <a:t> </a:t>
            </a:r>
            <a:r>
              <a:rPr lang="en-US" dirty="0" smtClean="0"/>
              <a:t>(his/her book), </a:t>
            </a:r>
            <a:r>
              <a:rPr lang="en-US" dirty="0" err="1" smtClean="0"/>
              <a:t>kunci</a:t>
            </a:r>
            <a:r>
              <a:rPr lang="en-US" b="1" dirty="0" err="1" smtClean="0"/>
              <a:t>nya</a:t>
            </a:r>
            <a:r>
              <a:rPr lang="en-US" dirty="0" smtClean="0"/>
              <a:t> (his/her key)</a:t>
            </a:r>
          </a:p>
          <a:p>
            <a:pPr marL="0" indent="0">
              <a:buNone/>
            </a:pPr>
            <a:r>
              <a:rPr lang="en-US" dirty="0" err="1" smtClean="0"/>
              <a:t>Bukunya</a:t>
            </a:r>
            <a:r>
              <a:rPr lang="en-US" dirty="0" smtClean="0"/>
              <a:t> </a:t>
            </a:r>
            <a:r>
              <a:rPr lang="en-US" dirty="0" err="1" smtClean="0"/>
              <a:t>warna</a:t>
            </a:r>
            <a:r>
              <a:rPr lang="en-US" dirty="0" smtClean="0"/>
              <a:t> </a:t>
            </a:r>
            <a:r>
              <a:rPr lang="en-US" dirty="0" err="1" smtClean="0"/>
              <a:t>merah</a:t>
            </a:r>
            <a:r>
              <a:rPr lang="en-US" dirty="0" smtClean="0"/>
              <a:t>. – </a:t>
            </a:r>
            <a:r>
              <a:rPr lang="en-US" i="1" dirty="0" smtClean="0"/>
              <a:t>his book is red</a:t>
            </a:r>
          </a:p>
          <a:p>
            <a:pPr marL="0" indent="0">
              <a:buNone/>
            </a:pP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bukan</a:t>
            </a:r>
            <a:r>
              <a:rPr lang="en-US" dirty="0" smtClean="0"/>
              <a:t> </a:t>
            </a:r>
            <a:r>
              <a:rPr lang="en-US" dirty="0" err="1" smtClean="0"/>
              <a:t>Kuncinya</a:t>
            </a:r>
            <a:r>
              <a:rPr lang="en-US" dirty="0" smtClean="0"/>
              <a:t> – </a:t>
            </a:r>
            <a:r>
              <a:rPr lang="en-US" i="1" dirty="0" smtClean="0"/>
              <a:t>this is not her key</a:t>
            </a:r>
            <a:endParaRPr lang="en-US" i="1" dirty="0"/>
          </a:p>
        </p:txBody>
      </p:sp>
      <p:sp>
        <p:nvSpPr>
          <p:cNvPr id="4" name="TextBox 3"/>
          <p:cNvSpPr txBox="1"/>
          <p:nvPr/>
        </p:nvSpPr>
        <p:spPr>
          <a:xfrm>
            <a:off x="5405719" y="6273661"/>
            <a:ext cx="6786281" cy="52322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 err="1" smtClean="0">
                <a:latin typeface="Constantia" panose="02030602050306030303" pitchFamily="18" charset="0"/>
              </a:rPr>
              <a:t>Buat</a:t>
            </a:r>
            <a:r>
              <a:rPr lang="en-US" sz="2800" dirty="0" smtClean="0">
                <a:latin typeface="Constantia" panose="02030602050306030303" pitchFamily="18" charset="0"/>
              </a:rPr>
              <a:t> </a:t>
            </a:r>
            <a:r>
              <a:rPr lang="en-US" sz="2800" dirty="0" err="1" smtClean="0">
                <a:latin typeface="Constantia" panose="02030602050306030303" pitchFamily="18" charset="0"/>
              </a:rPr>
              <a:t>kalimat</a:t>
            </a:r>
            <a:r>
              <a:rPr lang="en-US" sz="2800" dirty="0" smtClean="0">
                <a:latin typeface="Constantia" panose="02030602050306030303" pitchFamily="18" charset="0"/>
              </a:rPr>
              <a:t> </a:t>
            </a:r>
            <a:r>
              <a:rPr lang="en-US" sz="2800" dirty="0" err="1" smtClean="0">
                <a:latin typeface="Constantia" panose="02030602050306030303" pitchFamily="18" charset="0"/>
              </a:rPr>
              <a:t>dengan</a:t>
            </a:r>
            <a:r>
              <a:rPr lang="en-US" sz="2800" dirty="0" smtClean="0">
                <a:latin typeface="Constantia" panose="02030602050306030303" pitchFamily="18" charset="0"/>
              </a:rPr>
              <a:t> “-</a:t>
            </a:r>
            <a:r>
              <a:rPr lang="en-US" sz="2800" dirty="0" err="1" smtClean="0">
                <a:latin typeface="Constantia" panose="02030602050306030303" pitchFamily="18" charset="0"/>
              </a:rPr>
              <a:t>ku</a:t>
            </a:r>
            <a:r>
              <a:rPr lang="en-US" sz="2800" dirty="0" smtClean="0">
                <a:latin typeface="Constantia" panose="02030602050306030303" pitchFamily="18" charset="0"/>
              </a:rPr>
              <a:t>, -mu,-</a:t>
            </a:r>
            <a:r>
              <a:rPr lang="en-US" sz="2800" dirty="0" err="1" smtClean="0">
                <a:latin typeface="Constantia" panose="02030602050306030303" pitchFamily="18" charset="0"/>
              </a:rPr>
              <a:t>nya</a:t>
            </a:r>
            <a:r>
              <a:rPr lang="en-US" sz="2800" dirty="0" smtClean="0">
                <a:latin typeface="Constantia" panose="02030602050306030303" pitchFamily="18" charset="0"/>
              </a:rPr>
              <a:t>” </a:t>
            </a:r>
            <a:endParaRPr lang="en-US" sz="2800" dirty="0"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813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Konsep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itu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59822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dirty="0"/>
              <a:t>"</a:t>
            </a:r>
            <a:r>
              <a:rPr lang="en-US" dirty="0" err="1"/>
              <a:t>Ini</a:t>
            </a:r>
            <a:r>
              <a:rPr lang="en-US" dirty="0"/>
              <a:t>" is used to refer to an object that is near the speaker. For example, </a:t>
            </a:r>
            <a:r>
              <a:rPr lang="en-US" b="1" dirty="0"/>
              <a:t>"</a:t>
            </a:r>
            <a:r>
              <a:rPr lang="en-US" b="1" dirty="0" err="1"/>
              <a:t>Ini</a:t>
            </a:r>
            <a:r>
              <a:rPr lang="en-US" b="1" dirty="0"/>
              <a:t> </a:t>
            </a:r>
            <a:r>
              <a:rPr lang="en-US" b="1" dirty="0" err="1"/>
              <a:t>buku</a:t>
            </a:r>
            <a:r>
              <a:rPr lang="en-US" b="1" dirty="0"/>
              <a:t> </a:t>
            </a:r>
            <a:r>
              <a:rPr lang="en-US" b="1" dirty="0" err="1"/>
              <a:t>saya</a:t>
            </a:r>
            <a:r>
              <a:rPr lang="en-US" b="1" dirty="0"/>
              <a:t>" </a:t>
            </a:r>
            <a:r>
              <a:rPr lang="en-US" dirty="0"/>
              <a:t>means "This is my book," and the book is near the speaker.</a:t>
            </a:r>
          </a:p>
          <a:p>
            <a:r>
              <a:rPr lang="en-US" dirty="0"/>
              <a:t>"</a:t>
            </a:r>
            <a:r>
              <a:rPr lang="en-US" dirty="0" err="1"/>
              <a:t>Itu</a:t>
            </a:r>
            <a:r>
              <a:rPr lang="en-US" dirty="0"/>
              <a:t>" is used to refer to an object that is far from the speaker. For example, </a:t>
            </a:r>
            <a:r>
              <a:rPr lang="en-US" b="1" dirty="0"/>
              <a:t>"</a:t>
            </a:r>
            <a:r>
              <a:rPr lang="en-US" b="1" dirty="0" err="1"/>
              <a:t>Itu</a:t>
            </a:r>
            <a:r>
              <a:rPr lang="en-US" b="1" dirty="0"/>
              <a:t> </a:t>
            </a:r>
            <a:r>
              <a:rPr lang="en-US" b="1" dirty="0" err="1"/>
              <a:t>buku</a:t>
            </a:r>
            <a:r>
              <a:rPr lang="en-US" b="1" dirty="0"/>
              <a:t> </a:t>
            </a:r>
            <a:r>
              <a:rPr lang="en-US" b="1" dirty="0" err="1"/>
              <a:t>kamu</a:t>
            </a:r>
            <a:r>
              <a:rPr lang="en-US" b="1" dirty="0"/>
              <a:t>" </a:t>
            </a:r>
            <a:r>
              <a:rPr lang="en-US" dirty="0"/>
              <a:t>means "That is your book," and the book is far from the speaker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1" y="5204011"/>
            <a:ext cx="7053876" cy="58477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200" dirty="0" err="1" smtClean="0">
                <a:latin typeface="Constantia" panose="02030602050306030303" pitchFamily="18" charset="0"/>
              </a:rPr>
              <a:t>Buat</a:t>
            </a:r>
            <a:r>
              <a:rPr lang="en-US" sz="3200" dirty="0" smtClean="0">
                <a:latin typeface="Constantia" panose="02030602050306030303" pitchFamily="18" charset="0"/>
              </a:rPr>
              <a:t> </a:t>
            </a:r>
            <a:r>
              <a:rPr lang="en-US" sz="3200" dirty="0" err="1" smtClean="0">
                <a:latin typeface="Constantia" panose="02030602050306030303" pitchFamily="18" charset="0"/>
              </a:rPr>
              <a:t>kalimat</a:t>
            </a:r>
            <a:r>
              <a:rPr lang="en-US" sz="3200" dirty="0" smtClean="0">
                <a:latin typeface="Constantia" panose="02030602050306030303" pitchFamily="18" charset="0"/>
              </a:rPr>
              <a:t> </a:t>
            </a:r>
            <a:r>
              <a:rPr lang="en-US" sz="3200" dirty="0" err="1" smtClean="0">
                <a:latin typeface="Constantia" panose="02030602050306030303" pitchFamily="18" charset="0"/>
              </a:rPr>
              <a:t>dengan</a:t>
            </a:r>
            <a:r>
              <a:rPr lang="en-US" sz="3200" dirty="0" smtClean="0">
                <a:latin typeface="Constantia" panose="02030602050306030303" pitchFamily="18" charset="0"/>
              </a:rPr>
              <a:t> “</a:t>
            </a:r>
            <a:r>
              <a:rPr lang="en-US" sz="3200" dirty="0" err="1" smtClean="0">
                <a:latin typeface="Constantia" panose="02030602050306030303" pitchFamily="18" charset="0"/>
              </a:rPr>
              <a:t>ini</a:t>
            </a:r>
            <a:r>
              <a:rPr lang="en-US" sz="3200" dirty="0" smtClean="0">
                <a:latin typeface="Constantia" panose="02030602050306030303" pitchFamily="18" charset="0"/>
              </a:rPr>
              <a:t>” </a:t>
            </a:r>
            <a:r>
              <a:rPr lang="en-US" sz="3200" dirty="0" err="1" smtClean="0">
                <a:latin typeface="Constantia" panose="02030602050306030303" pitchFamily="18" charset="0"/>
              </a:rPr>
              <a:t>dan</a:t>
            </a:r>
            <a:r>
              <a:rPr lang="en-US" sz="3200" dirty="0" smtClean="0">
                <a:latin typeface="Constantia" panose="02030602050306030303" pitchFamily="18" charset="0"/>
              </a:rPr>
              <a:t> “</a:t>
            </a:r>
            <a:r>
              <a:rPr lang="en-US" sz="3200" dirty="0" err="1" smtClean="0">
                <a:latin typeface="Constantia" panose="02030602050306030303" pitchFamily="18" charset="0"/>
              </a:rPr>
              <a:t>itu</a:t>
            </a:r>
            <a:r>
              <a:rPr lang="en-US" sz="3200" dirty="0" smtClean="0">
                <a:latin typeface="Constantia" panose="02030602050306030303" pitchFamily="18" charset="0"/>
              </a:rPr>
              <a:t>” </a:t>
            </a:r>
            <a:endParaRPr lang="en-US" sz="3200" dirty="0"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98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685" y="365765"/>
            <a:ext cx="11165541" cy="2028451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dirty="0" err="1" smtClean="0"/>
              <a:t>Ambil</a:t>
            </a:r>
            <a:r>
              <a:rPr lang="en-US" dirty="0" smtClean="0"/>
              <a:t> </a:t>
            </a:r>
            <a:r>
              <a:rPr lang="en-US" dirty="0" err="1" smtClean="0"/>
              <a:t>benda</a:t>
            </a:r>
            <a:r>
              <a:rPr lang="en-US" dirty="0" smtClean="0"/>
              <a:t> di </a:t>
            </a:r>
            <a:r>
              <a:rPr lang="en-US" dirty="0" err="1" smtClean="0"/>
              <a:t>dekatmu</a:t>
            </a:r>
            <a:r>
              <a:rPr lang="en-US" dirty="0" smtClean="0"/>
              <a:t>,</a:t>
            </a:r>
            <a:br>
              <a:rPr lang="en-US" dirty="0" smtClean="0"/>
            </a:br>
            <a:r>
              <a:rPr lang="en-US" dirty="0" err="1" smtClean="0"/>
              <a:t>jelaskan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benda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punya</a:t>
            </a:r>
            <a:r>
              <a:rPr lang="en-US" dirty="0" smtClean="0"/>
              <a:t> </a:t>
            </a:r>
            <a:r>
              <a:rPr lang="en-US" dirty="0" err="1" smtClean="0"/>
              <a:t>siapa</a:t>
            </a:r>
            <a:r>
              <a:rPr lang="en-US" dirty="0" smtClean="0"/>
              <a:t>!</a:t>
            </a:r>
            <a:br>
              <a:rPr lang="en-US" dirty="0" smtClean="0"/>
            </a:br>
            <a:r>
              <a:rPr lang="en-US" sz="2700" i="1" dirty="0"/>
              <a:t>Take an object near you, explain the name of the object and who owns it!</a:t>
            </a:r>
          </a:p>
        </p:txBody>
      </p:sp>
      <p:pic>
        <p:nvPicPr>
          <p:cNvPr id="5122" name="Picture 2" descr="A woman is looking for things in her bag. hand drawn style vector design  illustrations. 2822094 Vector Art at Vecteez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129" y="2498726"/>
            <a:ext cx="4670651" cy="4359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3193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7193"/>
          </a:xfrm>
        </p:spPr>
        <p:txBody>
          <a:bodyPr/>
          <a:lstStyle/>
          <a:p>
            <a:r>
              <a:rPr lang="en-US" dirty="0" smtClean="0"/>
              <a:t>Baca </a:t>
            </a:r>
            <a:r>
              <a:rPr lang="en-US" dirty="0" err="1" smtClean="0"/>
              <a:t>teks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765" y="1193613"/>
            <a:ext cx="6665259" cy="245054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kamarnya</a:t>
            </a:r>
            <a:r>
              <a:rPr lang="en-US" dirty="0" smtClean="0"/>
              <a:t> Rizal. Di </a:t>
            </a:r>
            <a:r>
              <a:rPr lang="en-US" dirty="0" err="1" smtClean="0"/>
              <a:t>kamar</a:t>
            </a:r>
            <a:r>
              <a:rPr lang="en-US" dirty="0" smtClean="0"/>
              <a:t> Rizal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tempat</a:t>
            </a:r>
            <a:r>
              <a:rPr lang="en-US" dirty="0" smtClean="0"/>
              <a:t> </a:t>
            </a:r>
            <a:r>
              <a:rPr lang="en-US" dirty="0" err="1" smtClean="0"/>
              <a:t>tidur</a:t>
            </a:r>
            <a:r>
              <a:rPr lang="en-US" dirty="0" smtClean="0"/>
              <a:t>, </a:t>
            </a:r>
            <a:r>
              <a:rPr lang="en-US" dirty="0" err="1" smtClean="0"/>
              <a:t>kursi</a:t>
            </a:r>
            <a:r>
              <a:rPr lang="en-US" dirty="0" smtClean="0"/>
              <a:t>, helm,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meja</a:t>
            </a:r>
            <a:r>
              <a:rPr lang="en-US" dirty="0" smtClean="0"/>
              <a:t>. Di </a:t>
            </a:r>
            <a:r>
              <a:rPr lang="en-US" dirty="0" err="1" smtClean="0"/>
              <a:t>meja</a:t>
            </a:r>
            <a:r>
              <a:rPr lang="en-US" dirty="0" smtClean="0"/>
              <a:t> Rizal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buku</a:t>
            </a:r>
            <a:r>
              <a:rPr lang="en-US" dirty="0" smtClean="0"/>
              <a:t>. </a:t>
            </a:r>
            <a:r>
              <a:rPr lang="en-US" dirty="0" err="1" smtClean="0"/>
              <a:t>Itu</a:t>
            </a:r>
            <a:r>
              <a:rPr lang="en-US" dirty="0"/>
              <a:t> </a:t>
            </a:r>
            <a:r>
              <a:rPr lang="en-US" dirty="0" err="1" smtClean="0"/>
              <a:t>bukunya</a:t>
            </a:r>
            <a:r>
              <a:rPr lang="en-US" dirty="0" smtClean="0"/>
              <a:t> Willy. Di </a:t>
            </a:r>
            <a:r>
              <a:rPr lang="en-US" dirty="0" err="1" smtClean="0"/>
              <a:t>kursi</a:t>
            </a:r>
            <a:r>
              <a:rPr lang="en-US" dirty="0" smtClean="0"/>
              <a:t> Rizal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jaket</a:t>
            </a:r>
            <a:r>
              <a:rPr lang="en-US" dirty="0" smtClean="0"/>
              <a:t>. </a:t>
            </a:r>
            <a:r>
              <a:rPr lang="en-US" dirty="0" err="1" smtClean="0"/>
              <a:t>Itu</a:t>
            </a:r>
            <a:r>
              <a:rPr lang="en-US" dirty="0" smtClean="0"/>
              <a:t> </a:t>
            </a:r>
            <a:r>
              <a:rPr lang="en-US" dirty="0" err="1" smtClean="0"/>
              <a:t>jaketnya</a:t>
            </a:r>
            <a:r>
              <a:rPr lang="en-US" dirty="0" smtClean="0"/>
              <a:t> Willy juga. Di </a:t>
            </a:r>
            <a:r>
              <a:rPr lang="en-US" dirty="0" err="1" smtClean="0"/>
              <a:t>tempat</a:t>
            </a:r>
            <a:r>
              <a:rPr lang="en-US" dirty="0" smtClean="0"/>
              <a:t> </a:t>
            </a:r>
            <a:r>
              <a:rPr lang="en-US" dirty="0" err="1" smtClean="0"/>
              <a:t>tidur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helm. </a:t>
            </a:r>
            <a:r>
              <a:rPr lang="en-US" dirty="0" err="1" smtClean="0"/>
              <a:t>Itu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helmnya</a:t>
            </a:r>
            <a:r>
              <a:rPr lang="en-US" dirty="0" smtClean="0"/>
              <a:t> Rizal. Di </a:t>
            </a:r>
            <a:r>
              <a:rPr lang="en-US" dirty="0" err="1" smtClean="0"/>
              <a:t>kamarnya</a:t>
            </a:r>
            <a:r>
              <a:rPr lang="en-US" dirty="0" smtClean="0"/>
              <a:t>,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jendela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. 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65" y="501564"/>
            <a:ext cx="4715435" cy="3142589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313765" y="3880206"/>
            <a:ext cx="11452411" cy="24505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 err="1" smtClean="0"/>
              <a:t>Kamar</a:t>
            </a:r>
            <a:r>
              <a:rPr lang="en-US" dirty="0" smtClean="0"/>
              <a:t> </a:t>
            </a:r>
            <a:r>
              <a:rPr lang="en-US" dirty="0" err="1" smtClean="0"/>
              <a:t>punya</a:t>
            </a:r>
            <a:r>
              <a:rPr lang="en-US" dirty="0" smtClean="0"/>
              <a:t> </a:t>
            </a:r>
            <a:r>
              <a:rPr lang="en-US" dirty="0" err="1" smtClean="0"/>
              <a:t>siapa</a:t>
            </a:r>
            <a:r>
              <a:rPr lang="en-US" dirty="0" smtClean="0"/>
              <a:t> di </a:t>
            </a:r>
            <a:r>
              <a:rPr lang="en-US" dirty="0" err="1" smtClean="0"/>
              <a:t>teks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?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 smtClean="0"/>
              <a:t>Ada </a:t>
            </a:r>
            <a:r>
              <a:rPr lang="en-US" dirty="0" err="1" smtClean="0"/>
              <a:t>benda</a:t>
            </a:r>
            <a:r>
              <a:rPr lang="en-US" dirty="0" smtClean="0"/>
              <a:t> </a:t>
            </a:r>
            <a:r>
              <a:rPr lang="en-US" dirty="0" err="1" smtClean="0"/>
              <a:t>apa</a:t>
            </a:r>
            <a:r>
              <a:rPr lang="en-US" dirty="0" smtClean="0"/>
              <a:t> di </a:t>
            </a:r>
            <a:r>
              <a:rPr lang="en-US" dirty="0" err="1" smtClean="0"/>
              <a:t>kamar</a:t>
            </a:r>
            <a:r>
              <a:rPr lang="en-US" dirty="0" smtClean="0"/>
              <a:t> </a:t>
            </a:r>
            <a:r>
              <a:rPr lang="en-US" dirty="0" err="1" smtClean="0"/>
              <a:t>rizal</a:t>
            </a:r>
            <a:r>
              <a:rPr lang="en-US" dirty="0" smtClean="0"/>
              <a:t>?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 smtClean="0"/>
              <a:t>Ada </a:t>
            </a:r>
            <a:r>
              <a:rPr lang="en-US" dirty="0" err="1" smtClean="0"/>
              <a:t>benda</a:t>
            </a:r>
            <a:r>
              <a:rPr lang="en-US" dirty="0" smtClean="0"/>
              <a:t> </a:t>
            </a:r>
            <a:r>
              <a:rPr lang="en-US" dirty="0" err="1" smtClean="0"/>
              <a:t>apa</a:t>
            </a:r>
            <a:r>
              <a:rPr lang="en-US" dirty="0" smtClean="0"/>
              <a:t> di </a:t>
            </a:r>
            <a:r>
              <a:rPr lang="en-US" dirty="0" err="1" smtClean="0"/>
              <a:t>meja</a:t>
            </a:r>
            <a:r>
              <a:rPr lang="en-US" dirty="0"/>
              <a:t> </a:t>
            </a:r>
            <a:r>
              <a:rPr lang="en-US" dirty="0" err="1" smtClean="0"/>
              <a:t>rizal</a:t>
            </a:r>
            <a:r>
              <a:rPr lang="en-US" dirty="0" smtClean="0"/>
              <a:t>?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 err="1" smtClean="0"/>
              <a:t>Punya</a:t>
            </a:r>
            <a:r>
              <a:rPr lang="en-US" dirty="0" smtClean="0"/>
              <a:t> </a:t>
            </a:r>
            <a:r>
              <a:rPr lang="en-US" dirty="0" err="1" smtClean="0"/>
              <a:t>siapa</a:t>
            </a:r>
            <a:r>
              <a:rPr lang="en-US" dirty="0" smtClean="0"/>
              <a:t> helm </a:t>
            </a:r>
            <a:r>
              <a:rPr lang="en-US" dirty="0" err="1" smtClean="0"/>
              <a:t>itu</a:t>
            </a:r>
            <a:r>
              <a:rPr lang="en-US" dirty="0" smtClean="0"/>
              <a:t>?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 err="1" smtClean="0"/>
              <a:t>Punya</a:t>
            </a:r>
            <a:r>
              <a:rPr lang="en-US" dirty="0" smtClean="0"/>
              <a:t> </a:t>
            </a:r>
            <a:r>
              <a:rPr lang="en-US" dirty="0" err="1" smtClean="0"/>
              <a:t>siapa</a:t>
            </a:r>
            <a:r>
              <a:rPr lang="en-US" dirty="0" smtClean="0"/>
              <a:t> </a:t>
            </a:r>
            <a:r>
              <a:rPr lang="en-US" dirty="0" err="1" smtClean="0"/>
              <a:t>buku</a:t>
            </a:r>
            <a:r>
              <a:rPr lang="en-US" dirty="0" smtClean="0"/>
              <a:t> di </a:t>
            </a:r>
            <a:r>
              <a:rPr lang="en-US" dirty="0" err="1" smtClean="0"/>
              <a:t>mejanya</a:t>
            </a:r>
            <a:r>
              <a:rPr lang="en-US" dirty="0" smtClean="0"/>
              <a:t> </a:t>
            </a:r>
            <a:r>
              <a:rPr lang="en-US" dirty="0" err="1" smtClean="0"/>
              <a:t>rizal</a:t>
            </a:r>
            <a:r>
              <a:rPr lang="en-US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564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995"/>
            <a:ext cx="10515600" cy="1325563"/>
          </a:xfrm>
        </p:spPr>
        <p:txBody>
          <a:bodyPr/>
          <a:lstStyle/>
          <a:p>
            <a:r>
              <a:rPr lang="en-US" dirty="0" err="1" smtClean="0"/>
              <a:t>Dengar</a:t>
            </a:r>
            <a:r>
              <a:rPr lang="en-US" dirty="0" smtClean="0"/>
              <a:t> audio </a:t>
            </a:r>
            <a:r>
              <a:rPr lang="en-US" dirty="0" err="1" smtClean="0"/>
              <a:t>ini</a:t>
            </a:r>
            <a:r>
              <a:rPr lang="en-US" dirty="0" smtClean="0"/>
              <a:t>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944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 err="1" smtClean="0"/>
              <a:t>Kamar</a:t>
            </a:r>
            <a:r>
              <a:rPr lang="en-US" dirty="0" smtClean="0"/>
              <a:t> </a:t>
            </a:r>
            <a:r>
              <a:rPr lang="en-US" dirty="0" err="1" smtClean="0"/>
              <a:t>punya</a:t>
            </a:r>
            <a:r>
              <a:rPr lang="en-US" dirty="0" smtClean="0"/>
              <a:t> </a:t>
            </a:r>
            <a:r>
              <a:rPr lang="en-US" dirty="0" err="1" smtClean="0"/>
              <a:t>siapa</a:t>
            </a:r>
            <a:r>
              <a:rPr lang="en-US" dirty="0" smtClean="0"/>
              <a:t> di audio </a:t>
            </a:r>
            <a:r>
              <a:rPr lang="en-US" dirty="0" err="1" smtClean="0"/>
              <a:t>itu</a:t>
            </a:r>
            <a:r>
              <a:rPr lang="en-US" dirty="0" smtClean="0"/>
              <a:t>?</a:t>
            </a:r>
          </a:p>
          <a:p>
            <a:pPr marL="514350" indent="-514350">
              <a:buAutoNum type="arabicPeriod"/>
            </a:pPr>
            <a:r>
              <a:rPr lang="en-US" dirty="0" smtClean="0"/>
              <a:t>Ada </a:t>
            </a:r>
            <a:r>
              <a:rPr lang="en-US" dirty="0" err="1" smtClean="0"/>
              <a:t>benda</a:t>
            </a:r>
            <a:r>
              <a:rPr lang="en-US" dirty="0" smtClean="0"/>
              <a:t> </a:t>
            </a:r>
            <a:r>
              <a:rPr lang="en-US" dirty="0" err="1" smtClean="0"/>
              <a:t>apa</a:t>
            </a:r>
            <a:r>
              <a:rPr lang="en-US" dirty="0" smtClean="0"/>
              <a:t> di </a:t>
            </a:r>
            <a:r>
              <a:rPr lang="en-US" dirty="0" err="1" smtClean="0"/>
              <a:t>kamar</a:t>
            </a:r>
            <a:r>
              <a:rPr lang="en-US" dirty="0" smtClean="0"/>
              <a:t> Roni?</a:t>
            </a:r>
          </a:p>
          <a:p>
            <a:pPr marL="514350" indent="-514350">
              <a:buAutoNum type="arabicPeriod"/>
            </a:pPr>
            <a:r>
              <a:rPr lang="en-US" dirty="0" err="1" smtClean="0"/>
              <a:t>Buku</a:t>
            </a:r>
            <a:r>
              <a:rPr lang="en-US" dirty="0" smtClean="0"/>
              <a:t> </a:t>
            </a:r>
            <a:r>
              <a:rPr lang="en-US" dirty="0" err="1" smtClean="0"/>
              <a:t>siapa</a:t>
            </a:r>
            <a:r>
              <a:rPr lang="en-US" dirty="0" smtClean="0"/>
              <a:t> di </a:t>
            </a:r>
            <a:r>
              <a:rPr lang="en-US" dirty="0" err="1" smtClean="0"/>
              <a:t>kamar</a:t>
            </a:r>
            <a:r>
              <a:rPr lang="en-US" dirty="0" smtClean="0"/>
              <a:t> Roni?</a:t>
            </a:r>
          </a:p>
          <a:p>
            <a:pPr marL="514350" indent="-514350">
              <a:buAutoNum type="arabicPeriod"/>
            </a:pPr>
            <a:r>
              <a:rPr lang="en-US" dirty="0" smtClean="0"/>
              <a:t>Sepatu </a:t>
            </a:r>
            <a:r>
              <a:rPr lang="en-US" dirty="0" err="1" smtClean="0"/>
              <a:t>siapa</a:t>
            </a:r>
            <a:r>
              <a:rPr lang="en-US" dirty="0" smtClean="0"/>
              <a:t> di </a:t>
            </a:r>
            <a:r>
              <a:rPr lang="en-US" dirty="0" err="1" smtClean="0"/>
              <a:t>kamar</a:t>
            </a:r>
            <a:r>
              <a:rPr lang="en-US" dirty="0" smtClean="0"/>
              <a:t> Roni?</a:t>
            </a:r>
          </a:p>
          <a:p>
            <a:pPr marL="514350" indent="-514350">
              <a:buAutoNum type="arabicPeriod"/>
            </a:pPr>
            <a:r>
              <a:rPr lang="en-US" dirty="0" err="1" smtClean="0"/>
              <a:t>apa</a:t>
            </a:r>
            <a:r>
              <a:rPr lang="en-US" dirty="0" smtClean="0"/>
              <a:t> </a:t>
            </a:r>
            <a:r>
              <a:rPr lang="en-US" dirty="0" err="1" smtClean="0"/>
              <a:t>benda</a:t>
            </a:r>
            <a:r>
              <a:rPr lang="en-US" dirty="0" smtClean="0"/>
              <a:t> </a:t>
            </a:r>
            <a:r>
              <a:rPr lang="en-US" dirty="0" err="1" smtClean="0"/>
              <a:t>punya</a:t>
            </a:r>
            <a:r>
              <a:rPr lang="en-US" dirty="0" smtClean="0"/>
              <a:t> Roni?</a:t>
            </a:r>
            <a:endParaRPr lang="en-US" dirty="0"/>
          </a:p>
        </p:txBody>
      </p:sp>
      <p:pic>
        <p:nvPicPr>
          <p:cNvPr id="4100" name="Picture 4" descr="10 Men's Bedroom Ideas That Are Women-Approv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1070" y="1"/>
            <a:ext cx="458092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263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946" y="1342483"/>
            <a:ext cx="6585285" cy="1329943"/>
          </a:xfrm>
          <a:prstGeom prst="homePlat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500" dirty="0" err="1" smtClean="0"/>
              <a:t>Apakah</a:t>
            </a:r>
            <a:r>
              <a:rPr lang="en-US" sz="3500" dirty="0" smtClean="0"/>
              <a:t> </a:t>
            </a:r>
            <a:r>
              <a:rPr lang="en-US" sz="3500" dirty="0" err="1" smtClean="0"/>
              <a:t>ini</a:t>
            </a:r>
            <a:r>
              <a:rPr lang="en-US" sz="3500" dirty="0" smtClean="0"/>
              <a:t> </a:t>
            </a:r>
            <a:r>
              <a:rPr lang="en-US" sz="3500" dirty="0" err="1" smtClean="0"/>
              <a:t>bukumu</a:t>
            </a:r>
            <a:r>
              <a:rPr lang="en-US" sz="3500" dirty="0" smtClean="0"/>
              <a:t>, </a:t>
            </a:r>
            <a:r>
              <a:rPr lang="en-US" sz="3500" dirty="0" err="1" smtClean="0"/>
              <a:t>Lida</a:t>
            </a:r>
            <a:r>
              <a:rPr lang="en-US" sz="3500" dirty="0" smtClean="0"/>
              <a:t>?</a:t>
            </a:r>
            <a:endParaRPr lang="en-US" sz="3500" dirty="0" smtClean="0"/>
          </a:p>
          <a:p>
            <a:pPr marL="0" indent="0">
              <a:buNone/>
            </a:pPr>
            <a:r>
              <a:rPr lang="en-US" sz="3500" dirty="0" err="1" smtClean="0">
                <a:solidFill>
                  <a:schemeClr val="bg1"/>
                </a:solidFill>
              </a:rPr>
              <a:t>Ini</a:t>
            </a:r>
            <a:r>
              <a:rPr lang="en-US" sz="3500" dirty="0" smtClean="0">
                <a:solidFill>
                  <a:schemeClr val="bg1"/>
                </a:solidFill>
              </a:rPr>
              <a:t> </a:t>
            </a:r>
            <a:r>
              <a:rPr lang="en-US" sz="3500" dirty="0" err="1" smtClean="0">
                <a:solidFill>
                  <a:schemeClr val="bg1"/>
                </a:solidFill>
              </a:rPr>
              <a:t>bukan</a:t>
            </a:r>
            <a:r>
              <a:rPr lang="en-US" sz="3500" dirty="0" smtClean="0">
                <a:solidFill>
                  <a:schemeClr val="bg1"/>
                </a:solidFill>
              </a:rPr>
              <a:t> </a:t>
            </a:r>
            <a:r>
              <a:rPr lang="en-US" sz="3500" dirty="0" err="1" smtClean="0">
                <a:solidFill>
                  <a:schemeClr val="bg1"/>
                </a:solidFill>
              </a:rPr>
              <a:t>bukuku</a:t>
            </a:r>
            <a:r>
              <a:rPr lang="en-US" sz="3500" dirty="0" smtClean="0">
                <a:solidFill>
                  <a:schemeClr val="bg1"/>
                </a:solidFill>
              </a:rPr>
              <a:t> (it’s not my book)</a:t>
            </a:r>
          </a:p>
          <a:p>
            <a:pPr marL="0" indent="0">
              <a:buNone/>
            </a:pPr>
            <a:r>
              <a:rPr lang="en-US" sz="3500" dirty="0" err="1" smtClean="0">
                <a:solidFill>
                  <a:schemeClr val="bg1"/>
                </a:solidFill>
              </a:rPr>
              <a:t>Ini</a:t>
            </a:r>
            <a:r>
              <a:rPr lang="en-US" sz="3500" dirty="0" smtClean="0">
                <a:solidFill>
                  <a:schemeClr val="bg1"/>
                </a:solidFill>
              </a:rPr>
              <a:t> </a:t>
            </a:r>
            <a:r>
              <a:rPr lang="en-US" sz="3500" dirty="0" err="1" smtClean="0">
                <a:solidFill>
                  <a:schemeClr val="bg1"/>
                </a:solidFill>
              </a:rPr>
              <a:t>buku</a:t>
            </a:r>
            <a:r>
              <a:rPr lang="en-US" sz="3500" dirty="0" smtClean="0">
                <a:solidFill>
                  <a:schemeClr val="bg1"/>
                </a:solidFill>
              </a:rPr>
              <a:t> </a:t>
            </a:r>
            <a:r>
              <a:rPr lang="en-US" sz="3500" dirty="0" err="1" smtClean="0">
                <a:solidFill>
                  <a:schemeClr val="bg1"/>
                </a:solidFill>
              </a:rPr>
              <a:t>kate</a:t>
            </a:r>
            <a:r>
              <a:rPr lang="en-US" sz="3500" dirty="0" smtClean="0">
                <a:solidFill>
                  <a:schemeClr val="bg1"/>
                </a:solidFill>
              </a:rPr>
              <a:t> </a:t>
            </a:r>
            <a:endParaRPr lang="en-US" sz="35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1032" name="Picture 8" descr="More Female Car Buyers Means Changes in Marketing - The News Whe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1900" y="4271700"/>
            <a:ext cx="3581400" cy="238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entagon 6"/>
          <p:cNvSpPr/>
          <p:nvPr/>
        </p:nvSpPr>
        <p:spPr>
          <a:xfrm>
            <a:off x="838200" y="4271700"/>
            <a:ext cx="6096000" cy="1138773"/>
          </a:xfrm>
          <a:prstGeom prst="homePlat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sz="3200" dirty="0" err="1"/>
              <a:t>Apakah</a:t>
            </a:r>
            <a:r>
              <a:rPr lang="en-US" sz="3200" dirty="0"/>
              <a:t> </a:t>
            </a:r>
            <a:r>
              <a:rPr lang="en-US" sz="3200" dirty="0" err="1"/>
              <a:t>ini</a:t>
            </a:r>
            <a:r>
              <a:rPr lang="en-US" sz="3200" dirty="0"/>
              <a:t> </a:t>
            </a:r>
            <a:r>
              <a:rPr lang="en-US" sz="3200" dirty="0" err="1" smtClean="0"/>
              <a:t>mobilmu</a:t>
            </a:r>
            <a:r>
              <a:rPr lang="en-US" sz="3200" dirty="0" smtClean="0"/>
              <a:t>, </a:t>
            </a:r>
            <a:r>
              <a:rPr lang="en-US" sz="3200" dirty="0" err="1" smtClean="0"/>
              <a:t>Khen</a:t>
            </a:r>
            <a:r>
              <a:rPr lang="en-US" sz="3200" dirty="0" smtClean="0"/>
              <a:t>?</a:t>
            </a:r>
            <a:endParaRPr lang="en-US" sz="3200" dirty="0"/>
          </a:p>
          <a:p>
            <a:r>
              <a:rPr lang="en-US" sz="3600" dirty="0" err="1" smtClean="0">
                <a:solidFill>
                  <a:srgbClr val="FFFF00"/>
                </a:solidFill>
              </a:rPr>
              <a:t>Ya</a:t>
            </a:r>
            <a:r>
              <a:rPr lang="en-US" sz="3600" dirty="0" smtClean="0">
                <a:solidFill>
                  <a:srgbClr val="FFFF00"/>
                </a:solidFill>
              </a:rPr>
              <a:t> </a:t>
            </a:r>
            <a:r>
              <a:rPr lang="en-US" sz="3600" dirty="0" err="1" smtClean="0">
                <a:solidFill>
                  <a:srgbClr val="FFFF00"/>
                </a:solidFill>
              </a:rPr>
              <a:t>ini</a:t>
            </a:r>
            <a:r>
              <a:rPr lang="en-US" sz="3600" dirty="0" smtClean="0">
                <a:solidFill>
                  <a:srgbClr val="FFFF00"/>
                </a:solidFill>
              </a:rPr>
              <a:t> </a:t>
            </a:r>
            <a:r>
              <a:rPr lang="en-US" sz="3600" dirty="0" err="1" smtClean="0">
                <a:solidFill>
                  <a:srgbClr val="FFFF00"/>
                </a:solidFill>
              </a:rPr>
              <a:t>mobilku</a:t>
            </a:r>
            <a:endParaRPr lang="en-US" sz="3600" dirty="0">
              <a:solidFill>
                <a:srgbClr val="FFFF00"/>
              </a:solidFill>
            </a:endParaRPr>
          </a:p>
        </p:txBody>
      </p:sp>
      <p:pic>
        <p:nvPicPr>
          <p:cNvPr id="1034" name="Picture 10" descr="A book exerts a pressure of 2 Pa on a table due to its weight. If Rahul  places an identical book above it, then what would be the pressure in Pa 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0905" y="505293"/>
            <a:ext cx="3283390" cy="2321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8700887" y="546949"/>
            <a:ext cx="1122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Buku</a:t>
            </a:r>
            <a:r>
              <a:rPr lang="en-US" dirty="0" smtClean="0"/>
              <a:t> Kate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700887" y="3785583"/>
            <a:ext cx="1247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Mobil </a:t>
            </a:r>
            <a:r>
              <a:rPr lang="en-US" dirty="0" err="1" smtClean="0"/>
              <a:t>khen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620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urprised Man Pointing With Finger And Looking Free Stock Photo and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89" t="3950"/>
          <a:stretch/>
        </p:blipFill>
        <p:spPr bwMode="auto">
          <a:xfrm flipH="1">
            <a:off x="1703586" y="557152"/>
            <a:ext cx="3135614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15 Model Rumah Minimalis Modern 2023, Unik dan Nyama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817" y="900949"/>
            <a:ext cx="3528918" cy="2427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575817" y="326320"/>
            <a:ext cx="18978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 smtClean="0"/>
              <a:t>Rumah</a:t>
            </a:r>
            <a:r>
              <a:rPr lang="en-US" sz="2400" dirty="0" smtClean="0"/>
              <a:t> Lester</a:t>
            </a:r>
            <a:endParaRPr lang="en-US" sz="2400" dirty="0"/>
          </a:p>
        </p:txBody>
      </p:sp>
      <p:pic>
        <p:nvPicPr>
          <p:cNvPr id="2056" name="Picture 8" descr="27,594 Man Wearing Cap Stock Photos - Free &amp; Royalty-Free Stock Photos from  Dreamstim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3"/>
          <a:stretch/>
        </p:blipFill>
        <p:spPr bwMode="auto">
          <a:xfrm>
            <a:off x="2844848" y="4061010"/>
            <a:ext cx="2781777" cy="252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1448440" y="5093128"/>
            <a:ext cx="13241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 smtClean="0"/>
              <a:t>Topi</a:t>
            </a:r>
            <a:r>
              <a:rPr lang="en-US" sz="2400" dirty="0" smtClean="0"/>
              <a:t> Kate</a:t>
            </a:r>
            <a:endParaRPr lang="en-US" sz="2400" dirty="0"/>
          </a:p>
        </p:txBody>
      </p:sp>
      <p:pic>
        <p:nvPicPr>
          <p:cNvPr id="2060" name="Picture 12" descr="Showing Off New Phone Stock Photos - Free &amp; Royalty-Free Stock Photos from  Dreamstime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2517" b="9264"/>
          <a:stretch/>
        </p:blipFill>
        <p:spPr bwMode="auto">
          <a:xfrm>
            <a:off x="7197621" y="4388682"/>
            <a:ext cx="3437555" cy="219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9613416" y="5026131"/>
            <a:ext cx="22284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 smtClean="0"/>
              <a:t>Handphone</a:t>
            </a:r>
            <a:r>
              <a:rPr lang="en-US" sz="2400" dirty="0" smtClean="0"/>
              <a:t> </a:t>
            </a:r>
            <a:r>
              <a:rPr lang="en-US" sz="2400" dirty="0" err="1" smtClean="0"/>
              <a:t>Lida</a:t>
            </a:r>
            <a:endParaRPr lang="en-US" sz="2400" dirty="0"/>
          </a:p>
        </p:txBody>
      </p:sp>
      <p:sp>
        <p:nvSpPr>
          <p:cNvPr id="13" name="Rectangle 12"/>
          <p:cNvSpPr/>
          <p:nvPr/>
        </p:nvSpPr>
        <p:spPr>
          <a:xfrm>
            <a:off x="987533" y="673152"/>
            <a:ext cx="418704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600" dirty="0" smtClean="0"/>
              <a:t>1</a:t>
            </a:r>
            <a:endParaRPr lang="en-US" sz="3600" dirty="0"/>
          </a:p>
        </p:txBody>
      </p:sp>
      <p:sp>
        <p:nvSpPr>
          <p:cNvPr id="14" name="Rectangle 13"/>
          <p:cNvSpPr/>
          <p:nvPr/>
        </p:nvSpPr>
        <p:spPr>
          <a:xfrm>
            <a:off x="987533" y="4061010"/>
            <a:ext cx="418704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600" dirty="0" smtClean="0"/>
              <a:t>2</a:t>
            </a:r>
            <a:endParaRPr lang="en-US" sz="3600" dirty="0"/>
          </a:p>
        </p:txBody>
      </p:sp>
      <p:sp>
        <p:nvSpPr>
          <p:cNvPr id="15" name="Rectangle 14"/>
          <p:cNvSpPr/>
          <p:nvPr/>
        </p:nvSpPr>
        <p:spPr>
          <a:xfrm>
            <a:off x="7575817" y="4061010"/>
            <a:ext cx="418704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600" dirty="0" smtClean="0"/>
              <a:t>3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88671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r="544" b="6251"/>
          <a:stretch/>
        </p:blipFill>
        <p:spPr>
          <a:xfrm>
            <a:off x="1234147" y="534573"/>
            <a:ext cx="3253447" cy="277133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39557" y="890230"/>
            <a:ext cx="1582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 smtClean="0"/>
              <a:t>Kunci</a:t>
            </a:r>
            <a:r>
              <a:rPr lang="en-US" sz="2400" dirty="0" smtClean="0"/>
              <a:t> </a:t>
            </a:r>
            <a:r>
              <a:rPr lang="en-US" sz="2400" dirty="0" err="1" smtClean="0"/>
              <a:t>Melo</a:t>
            </a:r>
            <a:endParaRPr lang="en-US" sz="2400" dirty="0"/>
          </a:p>
        </p:txBody>
      </p:sp>
      <p:pic>
        <p:nvPicPr>
          <p:cNvPr id="3080" name="Picture 8" descr="5,989 Man Holding Cat Photos and Premium High Res Pictures - Getty Imag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962" y="368939"/>
            <a:ext cx="2217303" cy="3325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34,900+ Man Holding Dog Stock Photos, Pictures &amp; Royalty-Free Images -  iStock | Senior man holding dog, Young man holding dog, Man holding dog  portrai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409" y="3661565"/>
            <a:ext cx="3741176" cy="2805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5068470" y="4714297"/>
            <a:ext cx="15967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 smtClean="0"/>
              <a:t>Anjing</a:t>
            </a:r>
            <a:r>
              <a:rPr lang="en-US" sz="2400" dirty="0" smtClean="0"/>
              <a:t> Kate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10030265" y="1351895"/>
            <a:ext cx="100860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 smtClean="0"/>
              <a:t>Kucing</a:t>
            </a:r>
            <a:endParaRPr lang="en-US" sz="2400" dirty="0" smtClean="0"/>
          </a:p>
          <a:p>
            <a:r>
              <a:rPr lang="en-US" sz="2400" dirty="0" err="1" smtClean="0"/>
              <a:t>Nika</a:t>
            </a:r>
            <a:endParaRPr lang="en-US" sz="2400" dirty="0"/>
          </a:p>
        </p:txBody>
      </p:sp>
      <p:sp>
        <p:nvSpPr>
          <p:cNvPr id="13" name="Rectangle 12"/>
          <p:cNvSpPr/>
          <p:nvPr/>
        </p:nvSpPr>
        <p:spPr>
          <a:xfrm>
            <a:off x="607706" y="567064"/>
            <a:ext cx="418704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600" dirty="0" smtClean="0"/>
              <a:t>4</a:t>
            </a:r>
            <a:endParaRPr lang="en-US" sz="3600" dirty="0"/>
          </a:p>
        </p:txBody>
      </p:sp>
      <p:sp>
        <p:nvSpPr>
          <p:cNvPr id="14" name="Rectangle 13"/>
          <p:cNvSpPr/>
          <p:nvPr/>
        </p:nvSpPr>
        <p:spPr>
          <a:xfrm>
            <a:off x="635310" y="3661565"/>
            <a:ext cx="418704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600" dirty="0" smtClean="0"/>
              <a:t>5</a:t>
            </a:r>
            <a:endParaRPr lang="en-US" sz="3600" dirty="0"/>
          </a:p>
        </p:txBody>
      </p:sp>
      <p:sp>
        <p:nvSpPr>
          <p:cNvPr id="15" name="Rectangle 14"/>
          <p:cNvSpPr/>
          <p:nvPr/>
        </p:nvSpPr>
        <p:spPr>
          <a:xfrm>
            <a:off x="7180074" y="368939"/>
            <a:ext cx="418704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600" dirty="0" smtClean="0"/>
              <a:t>6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82223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394" y="634065"/>
            <a:ext cx="4717677" cy="1033369"/>
          </a:xfr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 err="1" smtClean="0">
                <a:latin typeface="Akrobat ExtraBold" panose="00000900000000000000" pitchFamily="50" charset="0"/>
              </a:rPr>
              <a:t>Praktik</a:t>
            </a:r>
            <a:r>
              <a:rPr lang="en-US" dirty="0" smtClean="0">
                <a:latin typeface="Akrobat ExtraBold" panose="00000900000000000000" pitchFamily="50" charset="0"/>
              </a:rPr>
              <a:t> </a:t>
            </a:r>
            <a:r>
              <a:rPr lang="en-US" dirty="0" err="1" smtClean="0">
                <a:latin typeface="Akrobat ExtraBold" panose="00000900000000000000" pitchFamily="50" charset="0"/>
              </a:rPr>
              <a:t>menulis</a:t>
            </a:r>
            <a:endParaRPr lang="en-US" dirty="0">
              <a:latin typeface="Akrobat ExtraBold" panose="00000900000000000000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394" y="1825625"/>
            <a:ext cx="4717677" cy="4117975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 err="1" smtClean="0"/>
              <a:t>Deskripsi</a:t>
            </a:r>
            <a:r>
              <a:rPr lang="en-US" sz="3600" dirty="0" smtClean="0"/>
              <a:t> </a:t>
            </a:r>
            <a:r>
              <a:rPr lang="en-US" sz="3600" dirty="0" err="1" smtClean="0"/>
              <a:t>benda</a:t>
            </a:r>
            <a:r>
              <a:rPr lang="en-US" sz="3600" dirty="0" smtClean="0"/>
              <a:t>!</a:t>
            </a:r>
          </a:p>
          <a:p>
            <a:pPr marL="0" indent="0">
              <a:buNone/>
            </a:pPr>
            <a:r>
              <a:rPr lang="en-US" sz="3600" dirty="0" smtClean="0"/>
              <a:t>Nama </a:t>
            </a:r>
            <a:r>
              <a:rPr lang="en-US" sz="3600" dirty="0" err="1" smtClean="0"/>
              <a:t>benda</a:t>
            </a:r>
            <a:r>
              <a:rPr lang="en-US" sz="3600" dirty="0" smtClean="0"/>
              <a:t>, </a:t>
            </a:r>
          </a:p>
          <a:p>
            <a:pPr marL="0" indent="0">
              <a:buNone/>
            </a:pPr>
            <a:r>
              <a:rPr lang="en-US" sz="3600" dirty="0" err="1" smtClean="0"/>
              <a:t>Punya</a:t>
            </a:r>
            <a:r>
              <a:rPr lang="en-US" sz="3600" dirty="0" smtClean="0"/>
              <a:t> </a:t>
            </a:r>
            <a:r>
              <a:rPr lang="en-US" sz="3600" dirty="0" err="1"/>
              <a:t>siapa</a:t>
            </a:r>
            <a:r>
              <a:rPr lang="en-US" sz="3600" dirty="0"/>
              <a:t>, </a:t>
            </a:r>
            <a:endParaRPr lang="en-US" sz="3600" dirty="0" smtClean="0"/>
          </a:p>
          <a:p>
            <a:pPr marL="0" indent="0">
              <a:buNone/>
            </a:pPr>
            <a:r>
              <a:rPr lang="en-US" sz="3600" dirty="0" err="1" smtClean="0"/>
              <a:t>Harga</a:t>
            </a:r>
            <a:r>
              <a:rPr lang="en-US" sz="3600" dirty="0"/>
              <a:t>, </a:t>
            </a:r>
            <a:endParaRPr lang="en-US" sz="3600" dirty="0" smtClean="0"/>
          </a:p>
          <a:p>
            <a:pPr marL="0" indent="0">
              <a:buNone/>
            </a:pPr>
            <a:r>
              <a:rPr lang="en-US" sz="3600" dirty="0" smtClean="0"/>
              <a:t>Mahal </a:t>
            </a:r>
            <a:r>
              <a:rPr lang="en-US" sz="3600" dirty="0" err="1" smtClean="0"/>
              <a:t>atau</a:t>
            </a:r>
            <a:r>
              <a:rPr lang="en-US" sz="3600" dirty="0" smtClean="0"/>
              <a:t> </a:t>
            </a:r>
            <a:r>
              <a:rPr lang="en-US" sz="3600" dirty="0" err="1" smtClean="0"/>
              <a:t>murah</a:t>
            </a:r>
            <a:endParaRPr lang="en-US" sz="3600" dirty="0" smtClean="0"/>
          </a:p>
          <a:p>
            <a:pPr marL="0" indent="0">
              <a:buNone/>
            </a:pPr>
            <a:r>
              <a:rPr lang="en-US" sz="3600" dirty="0" err="1" smtClean="0"/>
              <a:t>Beli</a:t>
            </a:r>
            <a:r>
              <a:rPr lang="en-US" sz="3600" dirty="0" smtClean="0"/>
              <a:t> di mana</a:t>
            </a:r>
            <a:endParaRPr lang="en-US" sz="3600" dirty="0"/>
          </a:p>
        </p:txBody>
      </p:sp>
      <p:pic>
        <p:nvPicPr>
          <p:cNvPr id="4102" name="Picture 6" descr="A Guy Smiling Holding A Basketball Stock Photo, Picture And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3794" y="123077"/>
            <a:ext cx="1764089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5069541" y="459253"/>
            <a:ext cx="6400801" cy="5833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err="1" smtClean="0"/>
              <a:t>Contoh</a:t>
            </a:r>
            <a:endParaRPr lang="en-US" b="1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bola basket.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(this is basket ball)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Bola basket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punya</a:t>
            </a:r>
            <a:r>
              <a:rPr lang="en-US" dirty="0" smtClean="0"/>
              <a:t> </a:t>
            </a:r>
            <a:r>
              <a:rPr lang="en-US" dirty="0" err="1" smtClean="0"/>
              <a:t>kakak</a:t>
            </a:r>
            <a:r>
              <a:rPr lang="en-US" dirty="0" smtClean="0"/>
              <a:t> </a:t>
            </a:r>
            <a:r>
              <a:rPr lang="en-US" dirty="0" err="1" smtClean="0"/>
              <a:t>saya</a:t>
            </a:r>
            <a:r>
              <a:rPr lang="en-US" dirty="0" smtClean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(this basketball is my brother’s)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 smtClean="0"/>
              <a:t>Harga</a:t>
            </a:r>
            <a:r>
              <a:rPr lang="en-US" dirty="0" smtClean="0"/>
              <a:t> bola basket </a:t>
            </a:r>
            <a:r>
              <a:rPr lang="en-US" dirty="0" err="1" smtClean="0"/>
              <a:t>ini</a:t>
            </a:r>
            <a:r>
              <a:rPr lang="en-US" dirty="0" smtClean="0"/>
              <a:t> 300.000 rupiah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(price of bola basket is 300.000 rupiah)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Bola basket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sangat</a:t>
            </a:r>
            <a:r>
              <a:rPr lang="en-US" dirty="0" smtClean="0"/>
              <a:t> </a:t>
            </a:r>
            <a:r>
              <a:rPr lang="en-US" dirty="0" err="1" smtClean="0"/>
              <a:t>murah</a:t>
            </a:r>
            <a:r>
              <a:rPr lang="en-US" dirty="0" smtClean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(the basketball is very cheap)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Bola basket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beli</a:t>
            </a:r>
            <a:r>
              <a:rPr lang="en-US" dirty="0" smtClean="0"/>
              <a:t> di Surabaya mall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(this basketball buy in </a:t>
            </a:r>
            <a:r>
              <a:rPr lang="en-US" dirty="0" err="1" smtClean="0"/>
              <a:t>surabay</a:t>
            </a:r>
            <a:r>
              <a:rPr lang="en-US" dirty="0" smtClean="0"/>
              <a:t> mall)</a:t>
            </a:r>
          </a:p>
        </p:txBody>
      </p:sp>
    </p:spTree>
    <p:extLst>
      <p:ext uri="{BB962C8B-B14F-4D97-AF65-F5344CB8AC3E}">
        <p14:creationId xmlns:p14="http://schemas.microsoft.com/office/powerpoint/2010/main" val="29438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485029" y="674406"/>
            <a:ext cx="4717677" cy="103336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 smtClean="0">
                <a:latin typeface="Akrobat ExtraBold" panose="00000900000000000000" pitchFamily="50" charset="0"/>
              </a:rPr>
              <a:t>Praktik</a:t>
            </a:r>
            <a:r>
              <a:rPr lang="en-US" dirty="0" smtClean="0">
                <a:latin typeface="Akrobat ExtraBold" panose="00000900000000000000" pitchFamily="50" charset="0"/>
              </a:rPr>
              <a:t> </a:t>
            </a:r>
            <a:r>
              <a:rPr lang="en-US" dirty="0" err="1" smtClean="0">
                <a:latin typeface="Akrobat ExtraBold" panose="00000900000000000000" pitchFamily="50" charset="0"/>
              </a:rPr>
              <a:t>Bicara</a:t>
            </a:r>
            <a:endParaRPr lang="en-US" dirty="0">
              <a:latin typeface="Akrobat ExtraBold" panose="00000900000000000000" pitchFamily="50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05141" y="1865968"/>
            <a:ext cx="10077451" cy="4360022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600" dirty="0" err="1" smtClean="0"/>
              <a:t>Deskripsi</a:t>
            </a:r>
            <a:r>
              <a:rPr lang="en-US" sz="3600" dirty="0" smtClean="0"/>
              <a:t> </a:t>
            </a:r>
            <a:r>
              <a:rPr lang="en-US" sz="3600" dirty="0" err="1" smtClean="0"/>
              <a:t>benda</a:t>
            </a:r>
            <a:r>
              <a:rPr lang="en-US" sz="3600" dirty="0" smtClean="0"/>
              <a:t> </a:t>
            </a:r>
            <a:r>
              <a:rPr lang="en-US" sz="3600" dirty="0" err="1" smtClean="0"/>
              <a:t>favoritmu</a:t>
            </a:r>
            <a:r>
              <a:rPr lang="en-US" sz="3600" dirty="0" smtClean="0"/>
              <a:t>! </a:t>
            </a:r>
            <a:r>
              <a:rPr lang="en-US" dirty="0" smtClean="0"/>
              <a:t>(describe your </a:t>
            </a:r>
            <a:r>
              <a:rPr lang="en-US" dirty="0" err="1" smtClean="0"/>
              <a:t>favourite</a:t>
            </a:r>
            <a:r>
              <a:rPr lang="en-US" dirty="0" smtClean="0"/>
              <a:t> thing!)</a:t>
            </a:r>
          </a:p>
          <a:p>
            <a:pPr marL="0" indent="0" algn="ctr">
              <a:buNone/>
            </a:pPr>
            <a:r>
              <a:rPr lang="en-US" sz="3600" dirty="0" smtClean="0"/>
              <a:t>Nama </a:t>
            </a:r>
            <a:r>
              <a:rPr lang="en-US" sz="3600" dirty="0" err="1" smtClean="0"/>
              <a:t>benda</a:t>
            </a:r>
            <a:r>
              <a:rPr lang="en-US" sz="3600" dirty="0" smtClean="0"/>
              <a:t>, (name of the thing) </a:t>
            </a:r>
          </a:p>
          <a:p>
            <a:pPr marL="0" indent="0" algn="ctr">
              <a:buNone/>
            </a:pPr>
            <a:r>
              <a:rPr lang="en-US" sz="3600" dirty="0" err="1" smtClean="0"/>
              <a:t>Punya</a:t>
            </a:r>
            <a:r>
              <a:rPr lang="en-US" sz="3600" dirty="0" smtClean="0"/>
              <a:t> </a:t>
            </a:r>
            <a:r>
              <a:rPr lang="en-US" sz="3600" dirty="0" err="1" smtClean="0"/>
              <a:t>siapa</a:t>
            </a:r>
            <a:r>
              <a:rPr lang="en-US" sz="3600" dirty="0" smtClean="0"/>
              <a:t> (who own)</a:t>
            </a:r>
          </a:p>
          <a:p>
            <a:pPr marL="0" indent="0" algn="ctr">
              <a:buNone/>
            </a:pPr>
            <a:r>
              <a:rPr lang="en-US" sz="3600" dirty="0" err="1" smtClean="0"/>
              <a:t>Warna</a:t>
            </a:r>
            <a:r>
              <a:rPr lang="en-US" sz="3600" dirty="0" smtClean="0"/>
              <a:t> </a:t>
            </a:r>
            <a:r>
              <a:rPr lang="en-US" sz="3600" dirty="0" err="1" smtClean="0"/>
              <a:t>benda</a:t>
            </a:r>
            <a:r>
              <a:rPr lang="en-US" sz="3600" dirty="0" smtClean="0"/>
              <a:t>  (color) </a:t>
            </a:r>
          </a:p>
          <a:p>
            <a:pPr marL="0" indent="0" algn="ctr">
              <a:buNone/>
            </a:pPr>
            <a:r>
              <a:rPr lang="en-US" sz="3600" dirty="0" err="1" smtClean="0"/>
              <a:t>Harga</a:t>
            </a:r>
            <a:r>
              <a:rPr lang="en-US" sz="3600" dirty="0"/>
              <a:t>, </a:t>
            </a:r>
            <a:r>
              <a:rPr lang="en-US" sz="3600" dirty="0" smtClean="0"/>
              <a:t>(price)</a:t>
            </a:r>
          </a:p>
          <a:p>
            <a:pPr marL="0" indent="0" algn="ctr">
              <a:buNone/>
            </a:pPr>
            <a:r>
              <a:rPr lang="en-US" sz="3600" dirty="0" err="1" smtClean="0"/>
              <a:t>Beli</a:t>
            </a:r>
            <a:r>
              <a:rPr lang="en-US" sz="3600" dirty="0" smtClean="0"/>
              <a:t> di mana (where do you buy)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42788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622</Words>
  <Application>Microsoft Office PowerPoint</Application>
  <PresentationFormat>Widescreen</PresentationFormat>
  <Paragraphs>130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Adobe Garamond Pro</vt:lpstr>
      <vt:lpstr>Akrobat Black</vt:lpstr>
      <vt:lpstr>Akrobat ExtraBold</vt:lpstr>
      <vt:lpstr>Arial</vt:lpstr>
      <vt:lpstr>Calibri</vt:lpstr>
      <vt:lpstr>Calibri Light</vt:lpstr>
      <vt:lpstr>Constantia</vt:lpstr>
      <vt:lpstr>Office Theme</vt:lpstr>
      <vt:lpstr>Benda-benda</vt:lpstr>
      <vt:lpstr>PowerPoint Presentation</vt:lpstr>
      <vt:lpstr>Benda pribadi (Personal belonging)</vt:lpstr>
      <vt:lpstr>Konsep -ku, -mu, –nya</vt:lpstr>
      <vt:lpstr>Konsep ini dan itu</vt:lpstr>
      <vt:lpstr>Ambil benda di dekatmu, jelaskan nama benda dan punya siapa! Take an object near you, explain the name of the object and who owns it!</vt:lpstr>
      <vt:lpstr>Baca teks ini</vt:lpstr>
      <vt:lpstr>Dengar audio ini!</vt:lpstr>
      <vt:lpstr>PowerPoint Presentation</vt:lpstr>
      <vt:lpstr>PowerPoint Presentation</vt:lpstr>
      <vt:lpstr>PowerPoint Presentation</vt:lpstr>
      <vt:lpstr>Praktik menulis</vt:lpstr>
      <vt:lpstr>PowerPoint Presentation</vt:lpstr>
    </vt:vector>
  </TitlesOfParts>
  <Company>Windows User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Benda-benda</dc:title>
  <dc:creator>DELL</dc:creator>
  <cp:lastModifiedBy>DELL</cp:lastModifiedBy>
  <cp:revision>30</cp:revision>
  <dcterms:created xsi:type="dcterms:W3CDTF">2023-04-01T06:59:13Z</dcterms:created>
  <dcterms:modified xsi:type="dcterms:W3CDTF">2023-08-05T04:00:09Z</dcterms:modified>
</cp:coreProperties>
</file>