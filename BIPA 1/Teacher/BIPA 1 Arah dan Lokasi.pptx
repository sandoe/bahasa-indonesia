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2" r:id="rId6"/>
    <p:sldId id="256" r:id="rId7"/>
    <p:sldId id="272" r:id="rId8"/>
    <p:sldId id="264" r:id="rId9"/>
    <p:sldId id="273" r:id="rId10"/>
    <p:sldId id="267" r:id="rId11"/>
    <p:sldId id="274" r:id="rId12"/>
    <p:sldId id="261" r:id="rId13"/>
    <p:sldId id="269" r:id="rId14"/>
    <p:sldId id="263" r:id="rId15"/>
    <p:sldId id="275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90" autoAdjust="0"/>
    <p:restoredTop sz="94660"/>
  </p:normalViewPr>
  <p:slideViewPr>
    <p:cSldViewPr snapToGrid="0">
      <p:cViewPr varScale="1">
        <p:scale>
          <a:sx n="96" d="100"/>
          <a:sy n="96" d="100"/>
        </p:scale>
        <p:origin x="6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7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84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73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70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64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9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93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06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9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11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263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F07FA-9A43-4467-9893-823D45E672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1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2" r="7106" b="-108"/>
          <a:stretch/>
        </p:blipFill>
        <p:spPr>
          <a:xfrm>
            <a:off x="0" y="-20170"/>
            <a:ext cx="12192000" cy="6827698"/>
          </a:xfrm>
        </p:spPr>
      </p:pic>
      <p:sp>
        <p:nvSpPr>
          <p:cNvPr id="5" name="Google Shape;145;p31"/>
          <p:cNvSpPr txBox="1">
            <a:spLocks/>
          </p:cNvSpPr>
          <p:nvPr/>
        </p:nvSpPr>
        <p:spPr>
          <a:xfrm>
            <a:off x="240553" y="5100350"/>
            <a:ext cx="7894043" cy="82027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sv-SE" sz="5400" dirty="0">
                <a:latin typeface="Akrobat ExtraBold" panose="00000900000000000000" pitchFamily="50" charset="0"/>
              </a:rPr>
              <a:t>BIPA 1 : Posisi dan Lokasi</a:t>
            </a:r>
            <a:endParaRPr lang="sv-SE" sz="4000" dirty="0">
              <a:solidFill>
                <a:srgbClr val="FF0000"/>
              </a:solidFill>
              <a:latin typeface="Akrobat ExtraBold" panose="00000900000000000000" pitchFamily="50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7448" y="5689789"/>
            <a:ext cx="31727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Rizky</a:t>
            </a:r>
            <a:r>
              <a:rPr lang="en-US" sz="24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 </a:t>
            </a:r>
            <a:r>
              <a:rPr lang="en-US" sz="24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Abrian</a:t>
            </a:r>
            <a:r>
              <a:rPr lang="en-US" sz="24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, S.S., </a:t>
            </a:r>
            <a:r>
              <a:rPr lang="en-US" sz="24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M.Hum</a:t>
            </a:r>
            <a:endParaRPr lang="en-US" sz="2400" dirty="0">
              <a:latin typeface="Akrobat ExtraBold" panose="00000900000000000000" pitchFamily="50" charset="0"/>
              <a:cs typeface="Adobe Devanagari" panose="02040503050201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052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494" y="2570442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dirty="0">
                <a:latin typeface="Akrobat" panose="00000600000000000000" pitchFamily="50" charset="0"/>
              </a:rPr>
              <a:t>What is different between</a:t>
            </a:r>
            <a:br>
              <a:rPr lang="en-US" sz="6600" dirty="0">
                <a:latin typeface="Akrobat" panose="00000600000000000000" pitchFamily="50" charset="0"/>
              </a:rPr>
            </a:br>
            <a:r>
              <a:rPr lang="en-US" sz="6600" dirty="0">
                <a:latin typeface="Akrobat" panose="00000600000000000000" pitchFamily="50" charset="0"/>
              </a:rPr>
              <a:t> </a:t>
            </a:r>
            <a:r>
              <a:rPr lang="en-US" sz="6600" dirty="0">
                <a:latin typeface="Akrobat ExtraBold" panose="00000900000000000000" pitchFamily="50" charset="0"/>
              </a:rPr>
              <a:t>“</a:t>
            </a:r>
            <a:r>
              <a:rPr lang="en-US" sz="6600" b="1" dirty="0">
                <a:latin typeface="Akrobat ExtraBold" panose="00000900000000000000" pitchFamily="50" charset="0"/>
              </a:rPr>
              <a:t>Di</a:t>
            </a:r>
            <a:r>
              <a:rPr lang="en-US" sz="6600" dirty="0">
                <a:latin typeface="Akrobat ExtraBold" panose="00000900000000000000" pitchFamily="50" charset="0"/>
              </a:rPr>
              <a:t>” </a:t>
            </a:r>
            <a:r>
              <a:rPr lang="en-US" sz="6600" dirty="0">
                <a:latin typeface="Akrobat" panose="00000600000000000000" pitchFamily="50" charset="0"/>
              </a:rPr>
              <a:t>and </a:t>
            </a:r>
            <a:r>
              <a:rPr lang="en-US" sz="6600" dirty="0">
                <a:latin typeface="Akrobat ExtraBold" panose="00000900000000000000" pitchFamily="50" charset="0"/>
              </a:rPr>
              <a:t>“</a:t>
            </a:r>
            <a:r>
              <a:rPr lang="en-US" sz="6600" dirty="0" err="1">
                <a:latin typeface="Akrobat ExtraBold" panose="00000900000000000000" pitchFamily="50" charset="0"/>
              </a:rPr>
              <a:t>Ke</a:t>
            </a:r>
            <a:r>
              <a:rPr lang="en-US" sz="6600" dirty="0">
                <a:latin typeface="Akrobat ExtraBold" panose="00000900000000000000" pitchFamily="50" charset="0"/>
              </a:rPr>
              <a:t>”?</a:t>
            </a:r>
          </a:p>
        </p:txBody>
      </p:sp>
    </p:spTree>
    <p:extLst>
      <p:ext uri="{BB962C8B-B14F-4D97-AF65-F5344CB8AC3E}">
        <p14:creationId xmlns:p14="http://schemas.microsoft.com/office/powerpoint/2010/main" val="530461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975"/>
            <a:ext cx="10515600" cy="900968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/>
              <a:t>Konsep</a:t>
            </a:r>
            <a:r>
              <a:rPr lang="en-US" dirty="0"/>
              <a:t> Di &amp; </a:t>
            </a:r>
            <a:r>
              <a:rPr lang="en-US" dirty="0" err="1"/>
              <a:t>Ke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246" y="1438835"/>
            <a:ext cx="10617660" cy="50964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/>
              <a:t>“</a:t>
            </a:r>
            <a:r>
              <a:rPr lang="en-US" b="1" dirty="0"/>
              <a:t>Di” used to describe location</a:t>
            </a:r>
          </a:p>
          <a:p>
            <a:pPr marL="0" indent="0">
              <a:buNone/>
            </a:pP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tinggal</a:t>
            </a:r>
            <a:r>
              <a:rPr lang="en-US" dirty="0"/>
              <a:t> </a:t>
            </a:r>
            <a:r>
              <a:rPr lang="en-US" b="1" dirty="0"/>
              <a:t>di </a:t>
            </a:r>
            <a:r>
              <a:rPr lang="en-US" dirty="0"/>
              <a:t>Jakarta (I live in Jakarta)</a:t>
            </a:r>
          </a:p>
          <a:p>
            <a:pPr marL="0" indent="0">
              <a:buNone/>
            </a:pPr>
            <a:r>
              <a:rPr lang="en-US" dirty="0" err="1"/>
              <a:t>Mobilnya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b="1" dirty="0"/>
              <a:t>di </a:t>
            </a:r>
            <a:r>
              <a:rPr lang="en-US" dirty="0" err="1"/>
              <a:t>rumah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(his car is in my house)</a:t>
            </a:r>
          </a:p>
          <a:p>
            <a:pPr marL="0" indent="0">
              <a:buNone/>
            </a:pPr>
            <a:r>
              <a:rPr lang="en-US" dirty="0" err="1"/>
              <a:t>Buku</a:t>
            </a:r>
            <a:r>
              <a:rPr lang="en-US" dirty="0"/>
              <a:t> Peter </a:t>
            </a:r>
            <a:r>
              <a:rPr lang="en-US" b="1" dirty="0"/>
              <a:t>di</a:t>
            </a:r>
            <a:r>
              <a:rPr lang="en-US" dirty="0"/>
              <a:t> </a:t>
            </a:r>
            <a:r>
              <a:rPr lang="en-US" dirty="0" err="1"/>
              <a:t>kamar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(Peter book is in my room)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i="1" dirty="0"/>
              <a:t>“</a:t>
            </a:r>
            <a:r>
              <a:rPr lang="en-US" b="1" dirty="0" err="1"/>
              <a:t>Ke</a:t>
            </a:r>
            <a:r>
              <a:rPr lang="en-US" b="1" dirty="0"/>
              <a:t>” used to describe direction</a:t>
            </a:r>
          </a:p>
          <a:p>
            <a:pPr marL="0" indent="0">
              <a:buNone/>
            </a:pP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pergi</a:t>
            </a:r>
            <a:r>
              <a:rPr lang="en-US" dirty="0"/>
              <a:t> </a:t>
            </a:r>
            <a:r>
              <a:rPr lang="en-US" b="1" dirty="0" err="1"/>
              <a:t>ke</a:t>
            </a:r>
            <a:r>
              <a:rPr lang="en-US" b="1" dirty="0"/>
              <a:t> </a:t>
            </a:r>
            <a:r>
              <a:rPr lang="en-US" dirty="0" err="1"/>
              <a:t>sekolah</a:t>
            </a:r>
            <a:r>
              <a:rPr lang="en-US" dirty="0"/>
              <a:t> (I go to school)</a:t>
            </a:r>
          </a:p>
          <a:p>
            <a:pPr marL="0" indent="0">
              <a:buNone/>
            </a:pPr>
            <a:r>
              <a:rPr lang="en-US" dirty="0"/>
              <a:t>Sophie </a:t>
            </a:r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b="1" dirty="0" err="1"/>
              <a:t>ke</a:t>
            </a:r>
            <a:r>
              <a:rPr lang="en-US" b="1" dirty="0"/>
              <a:t> </a:t>
            </a:r>
            <a:r>
              <a:rPr lang="en-US" dirty="0" err="1"/>
              <a:t>kantor</a:t>
            </a:r>
            <a:r>
              <a:rPr lang="en-US" dirty="0"/>
              <a:t> (Sophie walk to office)</a:t>
            </a:r>
          </a:p>
          <a:p>
            <a:pPr marL="0" indent="0">
              <a:buNone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berlibur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pantai</a:t>
            </a:r>
            <a:r>
              <a:rPr lang="en-US" dirty="0"/>
              <a:t> (She traveling to the beach)</a:t>
            </a:r>
          </a:p>
          <a:p>
            <a:pPr marL="0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74701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0"/>
            <a:ext cx="8252012" cy="6858000"/>
          </a:xfr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1. </a:t>
            </a:r>
            <a:r>
              <a:rPr lang="en-US" dirty="0" err="1">
                <a:solidFill>
                  <a:schemeClr val="tx1"/>
                </a:solidFill>
              </a:rPr>
              <a:t>Saya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tinggal</a:t>
            </a:r>
            <a:r>
              <a:rPr lang="en-US" dirty="0">
                <a:solidFill>
                  <a:schemeClr val="tx1"/>
                </a:solidFill>
              </a:rPr>
              <a:t> …. Surabaya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2. </a:t>
            </a:r>
            <a:r>
              <a:rPr lang="en-US" dirty="0" err="1">
                <a:solidFill>
                  <a:schemeClr val="tx1"/>
                </a:solidFill>
              </a:rPr>
              <a:t>Ibu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pergi</a:t>
            </a:r>
            <a:r>
              <a:rPr lang="en-US" dirty="0">
                <a:solidFill>
                  <a:schemeClr val="tx1"/>
                </a:solidFill>
              </a:rPr>
              <a:t> …. </a:t>
            </a:r>
            <a:r>
              <a:rPr lang="en-US" dirty="0" err="1">
                <a:solidFill>
                  <a:schemeClr val="tx1"/>
                </a:solidFill>
              </a:rPr>
              <a:t>Pasar</a:t>
            </a:r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3. Ayah </a:t>
            </a:r>
            <a:r>
              <a:rPr lang="en-US" dirty="0" err="1">
                <a:solidFill>
                  <a:schemeClr val="tx1"/>
                </a:solidFill>
              </a:rPr>
              <a:t>pergi</a:t>
            </a:r>
            <a:r>
              <a:rPr lang="en-US" dirty="0">
                <a:solidFill>
                  <a:schemeClr val="tx1"/>
                </a:solidFill>
              </a:rPr>
              <a:t> …. </a:t>
            </a:r>
            <a:r>
              <a:rPr lang="en-US" dirty="0" err="1">
                <a:solidFill>
                  <a:schemeClr val="tx1"/>
                </a:solidFill>
              </a:rPr>
              <a:t>Bilund</a:t>
            </a:r>
            <a:r>
              <a:rPr lang="en-US" dirty="0">
                <a:solidFill>
                  <a:schemeClr val="tx1"/>
                </a:solidFill>
              </a:rPr>
              <a:t> untuk </a:t>
            </a:r>
            <a:r>
              <a:rPr lang="en-US" dirty="0" err="1">
                <a:solidFill>
                  <a:schemeClr val="tx1"/>
                </a:solidFill>
              </a:rPr>
              <a:t>bisnis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4. Mobil Fred </a:t>
            </a:r>
            <a:r>
              <a:rPr lang="en-US" dirty="0" err="1">
                <a:solidFill>
                  <a:schemeClr val="tx1"/>
                </a:solidFill>
              </a:rPr>
              <a:t>ada</a:t>
            </a:r>
            <a:r>
              <a:rPr lang="en-US" dirty="0">
                <a:solidFill>
                  <a:schemeClr val="tx1"/>
                </a:solidFill>
              </a:rPr>
              <a:t> …. </a:t>
            </a:r>
            <a:r>
              <a:rPr lang="en-US" dirty="0" err="1">
                <a:solidFill>
                  <a:schemeClr val="tx1"/>
                </a:solidFill>
              </a:rPr>
              <a:t>Rumah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5. Arhus University </a:t>
            </a:r>
            <a:r>
              <a:rPr lang="en-US" dirty="0" err="1">
                <a:solidFill>
                  <a:schemeClr val="tx1"/>
                </a:solidFill>
              </a:rPr>
              <a:t>ada</a:t>
            </a:r>
            <a:r>
              <a:rPr lang="en-US" dirty="0">
                <a:solidFill>
                  <a:schemeClr val="tx1"/>
                </a:solidFill>
              </a:rPr>
              <a:t> … Denmark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itle 2"/>
          <p:cNvSpPr txBox="1">
            <a:spLocks/>
          </p:cNvSpPr>
          <p:nvPr/>
        </p:nvSpPr>
        <p:spPr>
          <a:xfrm>
            <a:off x="9614647" y="0"/>
            <a:ext cx="2393578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b="1" dirty="0"/>
              <a:t>Di / </a:t>
            </a:r>
            <a:r>
              <a:rPr lang="en-US" b="1" dirty="0" err="1"/>
              <a:t>Ke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Di / </a:t>
            </a:r>
            <a:r>
              <a:rPr lang="en-US" b="1" dirty="0" err="1"/>
              <a:t>Ke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Di / </a:t>
            </a:r>
            <a:r>
              <a:rPr lang="en-US" b="1" dirty="0" err="1"/>
              <a:t>Ke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Di / </a:t>
            </a:r>
            <a:r>
              <a:rPr lang="en-US" b="1" dirty="0" err="1"/>
              <a:t>Ke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Di / </a:t>
            </a:r>
            <a:r>
              <a:rPr lang="en-US" b="1" dirty="0" err="1"/>
              <a:t>Ke</a:t>
            </a:r>
            <a:endParaRPr lang="en-US" b="1" dirty="0"/>
          </a:p>
          <a:p>
            <a:pPr>
              <a:lnSpc>
                <a:spcPct val="150000"/>
              </a:lnSpc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18850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182" y="242046"/>
            <a:ext cx="5741894" cy="638785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54388" y="242046"/>
            <a:ext cx="1627095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Atas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7035981" y="2111187"/>
            <a:ext cx="1627095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Belakang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7735229" y="4139712"/>
            <a:ext cx="112638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Kanan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5145084" y="6168238"/>
            <a:ext cx="112638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Bawah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2722645" y="4272203"/>
            <a:ext cx="112638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Depan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2615069" y="2145335"/>
            <a:ext cx="112638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Kiri</a:t>
            </a:r>
          </a:p>
        </p:txBody>
      </p:sp>
    </p:spTree>
    <p:extLst>
      <p:ext uri="{BB962C8B-B14F-4D97-AF65-F5344CB8AC3E}">
        <p14:creationId xmlns:p14="http://schemas.microsoft.com/office/powerpoint/2010/main" val="1282948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7647" t="16062" r="17721" b="49803"/>
          <a:stretch/>
        </p:blipFill>
        <p:spPr>
          <a:xfrm>
            <a:off x="2380130" y="2016692"/>
            <a:ext cx="6884894" cy="2044320"/>
          </a:xfrm>
          <a:prstGeom prst="rect">
            <a:avLst/>
          </a:prstGeom>
        </p:spPr>
      </p:pic>
      <p:sp>
        <p:nvSpPr>
          <p:cNvPr id="6" name="Left Arrow 5"/>
          <p:cNvSpPr/>
          <p:nvPr/>
        </p:nvSpPr>
        <p:spPr>
          <a:xfrm>
            <a:off x="1304366" y="174812"/>
            <a:ext cx="2487706" cy="129091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Kiri / Left</a:t>
            </a:r>
          </a:p>
        </p:txBody>
      </p:sp>
      <p:sp>
        <p:nvSpPr>
          <p:cNvPr id="8" name="Left Arrow 7"/>
          <p:cNvSpPr/>
          <p:nvPr/>
        </p:nvSpPr>
        <p:spPr>
          <a:xfrm flipH="1">
            <a:off x="7953936" y="174811"/>
            <a:ext cx="2373406" cy="129091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Kanan</a:t>
            </a:r>
            <a:r>
              <a:rPr lang="en-US" sz="2400" b="1" dirty="0">
                <a:solidFill>
                  <a:schemeClr val="tx1"/>
                </a:solidFill>
              </a:rPr>
              <a:t> / Right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8219" y="4061012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Anders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2207" y="4061012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Arthur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7844" y="4038582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Cas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15025" y="4027368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Rune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1416" y="4652682"/>
            <a:ext cx="11231655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14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7647" t="16062" r="17721" b="49803"/>
          <a:stretch/>
        </p:blipFill>
        <p:spPr>
          <a:xfrm>
            <a:off x="2380130" y="2016692"/>
            <a:ext cx="6884894" cy="2044320"/>
          </a:xfrm>
          <a:prstGeom prst="rect">
            <a:avLst/>
          </a:prstGeom>
        </p:spPr>
      </p:pic>
      <p:sp>
        <p:nvSpPr>
          <p:cNvPr id="6" name="Left Arrow 5"/>
          <p:cNvSpPr/>
          <p:nvPr/>
        </p:nvSpPr>
        <p:spPr>
          <a:xfrm>
            <a:off x="1304366" y="174812"/>
            <a:ext cx="2487706" cy="129091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Kiri / Left</a:t>
            </a:r>
          </a:p>
        </p:txBody>
      </p:sp>
      <p:sp>
        <p:nvSpPr>
          <p:cNvPr id="8" name="Left Arrow 7"/>
          <p:cNvSpPr/>
          <p:nvPr/>
        </p:nvSpPr>
        <p:spPr>
          <a:xfrm flipH="1">
            <a:off x="7953936" y="174811"/>
            <a:ext cx="2373406" cy="129091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Kanan</a:t>
            </a:r>
            <a:r>
              <a:rPr lang="en-US" sz="2400" b="1" dirty="0">
                <a:solidFill>
                  <a:schemeClr val="tx1"/>
                </a:solidFill>
              </a:rPr>
              <a:t> / Right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8219" y="4061012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Dimo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202207" y="4061012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Fred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7844" y="4038582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15025" y="4027368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Jorge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1416" y="4652682"/>
            <a:ext cx="11231655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05645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c8.alamy.com/comp/2BEAEFF/queue-of-young-people-waiting-women-and-men-standing-in-line-queue-wait-woman-and-man-vector-illustration-2BEAEFF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66" r="2048" b="19012"/>
          <a:stretch/>
        </p:blipFill>
        <p:spPr bwMode="auto">
          <a:xfrm>
            <a:off x="2716772" y="1022758"/>
            <a:ext cx="6396971" cy="328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2810668" y="287687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Ske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027396" y="287687"/>
            <a:ext cx="124385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Neli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87976" y="287687"/>
            <a:ext cx="95138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Cas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5766" y="287687"/>
            <a:ext cx="1142586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Patricia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160" y="4598841"/>
            <a:ext cx="11231655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18980" y="287686"/>
            <a:ext cx="95138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Ann</a:t>
            </a:r>
          </a:p>
        </p:txBody>
      </p:sp>
    </p:spTree>
    <p:extLst>
      <p:ext uri="{BB962C8B-B14F-4D97-AF65-F5344CB8AC3E}">
        <p14:creationId xmlns:p14="http://schemas.microsoft.com/office/powerpoint/2010/main" val="1977523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c8.alamy.com/comp/2BEAEFF/queue-of-young-people-waiting-women-and-men-standing-in-line-queue-wait-woman-and-man-vector-illustration-2BEAEFF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66" r="2048" b="19012"/>
          <a:stretch/>
        </p:blipFill>
        <p:spPr bwMode="auto">
          <a:xfrm>
            <a:off x="2716772" y="1022758"/>
            <a:ext cx="6396971" cy="328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2810668" y="287687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Ske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027396" y="287687"/>
            <a:ext cx="124385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87976" y="287687"/>
            <a:ext cx="95138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Fred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71248" y="287687"/>
            <a:ext cx="103710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160" y="4598841"/>
            <a:ext cx="11231655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US" sz="2400" dirty="0"/>
          </a:p>
        </p:txBody>
      </p:sp>
      <p:sp>
        <p:nvSpPr>
          <p:cNvPr id="14" name="Rectangle 13"/>
          <p:cNvSpPr/>
          <p:nvPr/>
        </p:nvSpPr>
        <p:spPr>
          <a:xfrm>
            <a:off x="7618980" y="287686"/>
            <a:ext cx="95138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Ann</a:t>
            </a:r>
          </a:p>
        </p:txBody>
      </p:sp>
    </p:spTree>
    <p:extLst>
      <p:ext uri="{BB962C8B-B14F-4D97-AF65-F5344CB8AC3E}">
        <p14:creationId xmlns:p14="http://schemas.microsoft.com/office/powerpoint/2010/main" val="104099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32206" t="9981" r="32058" b="6057"/>
          <a:stretch/>
        </p:blipFill>
        <p:spPr>
          <a:xfrm>
            <a:off x="-1" y="0"/>
            <a:ext cx="6562165" cy="687443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73429" y="660516"/>
            <a:ext cx="12363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eminem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2844372" y="637309"/>
            <a:ext cx="914167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Nas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7932" y="2815728"/>
            <a:ext cx="1038626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jacko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4730162" y="637308"/>
            <a:ext cx="109741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50cent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2173" y="2847502"/>
            <a:ext cx="1317811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kanye</a:t>
            </a:r>
            <a:r>
              <a:rPr lang="en-US" sz="2400" dirty="0"/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5774" y="2815728"/>
            <a:ext cx="1072445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Neli</a:t>
            </a:r>
            <a:r>
              <a:rPr lang="en-US" sz="2400" dirty="0"/>
              <a:t>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9127" y="5050314"/>
            <a:ext cx="147909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JayZ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2662627" y="5057695"/>
            <a:ext cx="1277357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icecube</a:t>
            </a:r>
            <a:endParaRPr lang="en-US" sz="2400" dirty="0"/>
          </a:p>
        </p:txBody>
      </p:sp>
      <p:sp>
        <p:nvSpPr>
          <p:cNvPr id="16" name="Rectangle 15"/>
          <p:cNvSpPr/>
          <p:nvPr/>
        </p:nvSpPr>
        <p:spPr>
          <a:xfrm>
            <a:off x="4546908" y="5042933"/>
            <a:ext cx="128067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nines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5068" y="1952802"/>
            <a:ext cx="4661498" cy="2251065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Di </a:t>
            </a:r>
            <a:r>
              <a:rPr lang="en-US" sz="2400" dirty="0" err="1"/>
              <a:t>sebelah</a:t>
            </a:r>
            <a:r>
              <a:rPr lang="en-US" sz="2400" dirty="0"/>
              <a:t> </a:t>
            </a:r>
            <a:r>
              <a:rPr lang="en-US" sz="2400" dirty="0" err="1"/>
              <a:t>kanan</a:t>
            </a:r>
            <a:r>
              <a:rPr lang="en-US" sz="2400" dirty="0"/>
              <a:t> Neli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thomas</a:t>
            </a:r>
            <a:r>
              <a:rPr lang="en-US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Di </a:t>
            </a:r>
            <a:r>
              <a:rPr lang="en-US" sz="2400" dirty="0" err="1"/>
              <a:t>atas</a:t>
            </a:r>
            <a:r>
              <a:rPr lang="en-US" sz="2400" dirty="0"/>
              <a:t> Neli …. rune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Di Bawah Neli …. </a:t>
            </a:r>
            <a:r>
              <a:rPr lang="en-US" sz="2400" dirty="0" err="1"/>
              <a:t>sebastian</a:t>
            </a: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6953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32206" t="9981" r="32058" b="6057"/>
          <a:stretch/>
        </p:blipFill>
        <p:spPr>
          <a:xfrm>
            <a:off x="-1" y="0"/>
            <a:ext cx="6562165" cy="687443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73430" y="660516"/>
            <a:ext cx="99330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Zaw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2844372" y="637309"/>
            <a:ext cx="914167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Nick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7932" y="2815728"/>
            <a:ext cx="1038626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Fred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30162" y="637308"/>
            <a:ext cx="914167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2173" y="2847502"/>
            <a:ext cx="1317811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Laure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5774" y="2815728"/>
            <a:ext cx="1072445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Ske</a:t>
            </a:r>
            <a:endParaRPr lang="en-US" sz="2400" dirty="0"/>
          </a:p>
        </p:txBody>
      </p:sp>
      <p:sp>
        <p:nvSpPr>
          <p:cNvPr id="14" name="Rectangle 13"/>
          <p:cNvSpPr/>
          <p:nvPr/>
        </p:nvSpPr>
        <p:spPr>
          <a:xfrm>
            <a:off x="791945" y="5050314"/>
            <a:ext cx="115627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Jorge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2627" y="5057695"/>
            <a:ext cx="1277357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Dimo</a:t>
            </a:r>
            <a:endParaRPr lang="en-US" sz="2400" dirty="0"/>
          </a:p>
        </p:txBody>
      </p:sp>
      <p:sp>
        <p:nvSpPr>
          <p:cNvPr id="16" name="Rectangle 15"/>
          <p:cNvSpPr/>
          <p:nvPr/>
        </p:nvSpPr>
        <p:spPr>
          <a:xfrm>
            <a:off x="4546908" y="5042933"/>
            <a:ext cx="128067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Ann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5068" y="2783798"/>
            <a:ext cx="4199002" cy="589072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3331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assroom Seating Chart Template – 14+ Free Sample, Example, Format  Download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717" y="242047"/>
            <a:ext cx="10529047" cy="637323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350125" y="2790384"/>
            <a:ext cx="934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Rune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5923" y="1903657"/>
            <a:ext cx="934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/>
              <a:t>Dimo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4215656" y="1903657"/>
            <a:ext cx="12035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Jay Z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1619" y="1903657"/>
            <a:ext cx="12035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50 cent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4343" y="1903657"/>
            <a:ext cx="934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/>
              <a:t>Ske</a:t>
            </a:r>
            <a:endParaRPr lang="en-US" sz="2000" dirty="0"/>
          </a:p>
        </p:txBody>
      </p:sp>
      <p:sp>
        <p:nvSpPr>
          <p:cNvPr id="11" name="Rectangle 10"/>
          <p:cNvSpPr/>
          <p:nvPr/>
        </p:nvSpPr>
        <p:spPr>
          <a:xfrm>
            <a:off x="2161619" y="2807133"/>
            <a:ext cx="11564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Cas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05923" y="2728829"/>
            <a:ext cx="9345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Neli</a:t>
            </a:r>
            <a:endParaRPr lang="en-US" sz="2000" b="1" dirty="0"/>
          </a:p>
        </p:txBody>
      </p:sp>
      <p:sp>
        <p:nvSpPr>
          <p:cNvPr id="13" name="Rectangle 12"/>
          <p:cNvSpPr/>
          <p:nvPr/>
        </p:nvSpPr>
        <p:spPr>
          <a:xfrm>
            <a:off x="9184342" y="2807133"/>
            <a:ext cx="934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John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4341" y="3710609"/>
            <a:ext cx="934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Peter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11792" y="3751875"/>
            <a:ext cx="1122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Anders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9614" y="3677111"/>
            <a:ext cx="1122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Sarah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1619" y="3677111"/>
            <a:ext cx="1122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/>
              <a:t>Rizky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59235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379" y="172758"/>
            <a:ext cx="7840943" cy="43286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 err="1">
                <a:latin typeface="Akrobat SemiBold" panose="00000700000000000000" pitchFamily="50" charset="0"/>
              </a:rPr>
              <a:t>Ini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adalah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kamar</a:t>
            </a:r>
            <a:r>
              <a:rPr lang="en-US" sz="3200" dirty="0">
                <a:latin typeface="Akrobat SemiBold" panose="00000700000000000000" pitchFamily="50" charset="0"/>
              </a:rPr>
              <a:t> Budi. Di </a:t>
            </a:r>
            <a:r>
              <a:rPr lang="en-US" sz="3200" dirty="0" err="1">
                <a:latin typeface="Akrobat SemiBold" panose="00000700000000000000" pitchFamily="50" charset="0"/>
              </a:rPr>
              <a:t>kamar</a:t>
            </a:r>
            <a:r>
              <a:rPr lang="en-US" sz="3200" dirty="0">
                <a:latin typeface="Akrobat SemiBold" panose="00000700000000000000" pitchFamily="50" charset="0"/>
              </a:rPr>
              <a:t> Budi </a:t>
            </a:r>
            <a:r>
              <a:rPr lang="en-US" sz="3200" dirty="0" err="1">
                <a:latin typeface="Akrobat SemiBold" panose="00000700000000000000" pitchFamily="50" charset="0"/>
              </a:rPr>
              <a:t>ada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banyak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benda</a:t>
            </a:r>
            <a:r>
              <a:rPr lang="en-US" sz="3200" dirty="0">
                <a:latin typeface="Akrobat SemiBold" panose="00000700000000000000" pitchFamily="50" charset="0"/>
              </a:rPr>
              <a:t>. Di </a:t>
            </a:r>
            <a:r>
              <a:rPr lang="en-US" sz="3200" dirty="0" err="1">
                <a:latin typeface="Akrobat SemiBold" panose="00000700000000000000" pitchFamily="50" charset="0"/>
              </a:rPr>
              <a:t>sebelah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kanan</a:t>
            </a:r>
            <a:r>
              <a:rPr lang="en-US" sz="3200" dirty="0">
                <a:latin typeface="Akrobat SemiBold" panose="00000700000000000000" pitchFamily="50" charset="0"/>
              </a:rPr>
              <a:t> Budi </a:t>
            </a:r>
            <a:r>
              <a:rPr lang="en-US" sz="3200" dirty="0" err="1">
                <a:latin typeface="Akrobat SemiBold" panose="00000700000000000000" pitchFamily="50" charset="0"/>
              </a:rPr>
              <a:t>ada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meja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warna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cokelat</a:t>
            </a:r>
            <a:r>
              <a:rPr lang="en-US" sz="3200" dirty="0">
                <a:latin typeface="Akrobat SemiBold" panose="00000700000000000000" pitchFamily="50" charset="0"/>
              </a:rPr>
              <a:t>. Di </a:t>
            </a:r>
            <a:r>
              <a:rPr lang="en-US" sz="3200" dirty="0" err="1">
                <a:latin typeface="Akrobat SemiBold" panose="00000700000000000000" pitchFamily="50" charset="0"/>
              </a:rPr>
              <a:t>sebelah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kiri</a:t>
            </a:r>
            <a:r>
              <a:rPr lang="en-US" sz="3200" dirty="0">
                <a:latin typeface="Akrobat SemiBold" panose="00000700000000000000" pitchFamily="50" charset="0"/>
              </a:rPr>
              <a:t> Budi </a:t>
            </a:r>
            <a:r>
              <a:rPr lang="en-US" sz="3200" dirty="0" err="1">
                <a:latin typeface="Akrobat SemiBold" panose="00000700000000000000" pitchFamily="50" charset="0"/>
              </a:rPr>
              <a:t>ada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tempat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tidur</a:t>
            </a:r>
            <a:r>
              <a:rPr lang="en-US" sz="3200" dirty="0">
                <a:latin typeface="Akrobat SemiBold" panose="00000700000000000000" pitchFamily="50" charset="0"/>
              </a:rPr>
              <a:t>. Di </a:t>
            </a:r>
            <a:r>
              <a:rPr lang="en-US" sz="3200" dirty="0" err="1">
                <a:latin typeface="Akrobat SemiBold" panose="00000700000000000000" pitchFamily="50" charset="0"/>
              </a:rPr>
              <a:t>depan</a:t>
            </a:r>
            <a:r>
              <a:rPr lang="en-US" sz="3200" dirty="0">
                <a:latin typeface="Akrobat SemiBold" panose="00000700000000000000" pitchFamily="50" charset="0"/>
              </a:rPr>
              <a:t> Budi </a:t>
            </a:r>
            <a:r>
              <a:rPr lang="en-US" sz="3200" dirty="0" err="1">
                <a:latin typeface="Akrobat SemiBold" panose="00000700000000000000" pitchFamily="50" charset="0"/>
              </a:rPr>
              <a:t>ada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dua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benda</a:t>
            </a:r>
            <a:r>
              <a:rPr lang="en-US" sz="3200" dirty="0">
                <a:latin typeface="Akrobat SemiBold" panose="00000700000000000000" pitchFamily="50" charset="0"/>
              </a:rPr>
              <a:t>. </a:t>
            </a:r>
            <a:r>
              <a:rPr lang="en-US" sz="3200" dirty="0" err="1">
                <a:latin typeface="Akrobat SemiBold" panose="00000700000000000000" pitchFamily="50" charset="0"/>
              </a:rPr>
              <a:t>pertama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televisi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besar</a:t>
            </a:r>
            <a:r>
              <a:rPr lang="en-US" sz="3200" dirty="0">
                <a:latin typeface="Akrobat SemiBold" panose="00000700000000000000" pitchFamily="50" charset="0"/>
              </a:rPr>
              <a:t>, </a:t>
            </a:r>
            <a:r>
              <a:rPr lang="en-US" sz="3200" dirty="0" err="1">
                <a:latin typeface="Akrobat SemiBold" panose="00000700000000000000" pitchFamily="50" charset="0"/>
              </a:rPr>
              <a:t>kedua</a:t>
            </a:r>
            <a:r>
              <a:rPr lang="en-US" sz="3200" dirty="0">
                <a:latin typeface="Akrobat SemiBold" panose="00000700000000000000" pitchFamily="50" charset="0"/>
              </a:rPr>
              <a:t> jam </a:t>
            </a:r>
            <a:r>
              <a:rPr lang="en-US" sz="3200" dirty="0" err="1">
                <a:latin typeface="Akrobat SemiBold" panose="00000700000000000000" pitchFamily="50" charset="0"/>
              </a:rPr>
              <a:t>dinding</a:t>
            </a:r>
            <a:r>
              <a:rPr lang="en-US" sz="3200" dirty="0">
                <a:latin typeface="Akrobat SemiBold" panose="00000700000000000000" pitchFamily="50" charset="0"/>
              </a:rPr>
              <a:t>. Di </a:t>
            </a:r>
            <a:r>
              <a:rPr lang="en-US" sz="3200" dirty="0" err="1">
                <a:latin typeface="Akrobat SemiBold" panose="00000700000000000000" pitchFamily="50" charset="0"/>
              </a:rPr>
              <a:t>belakang</a:t>
            </a:r>
            <a:r>
              <a:rPr lang="en-US" sz="3200" dirty="0">
                <a:latin typeface="Akrobat SemiBold" panose="00000700000000000000" pitchFamily="50" charset="0"/>
              </a:rPr>
              <a:t> Budi </a:t>
            </a:r>
            <a:r>
              <a:rPr lang="en-US" sz="3200" dirty="0" err="1">
                <a:latin typeface="Akrobat SemiBold" panose="00000700000000000000" pitchFamily="50" charset="0"/>
              </a:rPr>
              <a:t>ada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komputer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untuk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kerja</a:t>
            </a:r>
            <a:r>
              <a:rPr lang="en-US" sz="3200" dirty="0">
                <a:latin typeface="Akrobat SemiBold" panose="00000700000000000000" pitchFamily="50" charset="0"/>
              </a:rPr>
              <a:t>. Di </a:t>
            </a:r>
            <a:r>
              <a:rPr lang="en-US" sz="3200" dirty="0" err="1">
                <a:latin typeface="Akrobat SemiBold" panose="00000700000000000000" pitchFamily="50" charset="0"/>
              </a:rPr>
              <a:t>atas</a:t>
            </a:r>
            <a:r>
              <a:rPr lang="en-US" sz="3200" dirty="0">
                <a:latin typeface="Akrobat SemiBold" panose="00000700000000000000" pitchFamily="50" charset="0"/>
              </a:rPr>
              <a:t> Budi </a:t>
            </a:r>
            <a:r>
              <a:rPr lang="en-US" sz="3200" dirty="0" err="1">
                <a:latin typeface="Akrobat SemiBold" panose="00000700000000000000" pitchFamily="50" charset="0"/>
              </a:rPr>
              <a:t>ada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lampu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warna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kuning</a:t>
            </a:r>
            <a:r>
              <a:rPr lang="en-US" sz="3200" dirty="0">
                <a:latin typeface="Akrobat SemiBold" panose="00000700000000000000" pitchFamily="50" charset="0"/>
              </a:rPr>
              <a:t>. </a:t>
            </a:r>
            <a:r>
              <a:rPr lang="en-US" sz="3200" dirty="0" err="1">
                <a:latin typeface="Akrobat SemiBold" panose="00000700000000000000" pitchFamily="50" charset="0"/>
              </a:rPr>
              <a:t>Lampu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itu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cantik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sekali</a:t>
            </a:r>
            <a:r>
              <a:rPr lang="en-US" sz="3200" dirty="0">
                <a:latin typeface="Akrobat SemiBold" panose="00000700000000000000" pitchFamily="50" charset="0"/>
              </a:rPr>
              <a:t>. Di </a:t>
            </a:r>
            <a:r>
              <a:rPr lang="en-US" sz="3200" dirty="0" err="1">
                <a:latin typeface="Akrobat SemiBold" panose="00000700000000000000" pitchFamily="50" charset="0"/>
              </a:rPr>
              <a:t>bawah</a:t>
            </a:r>
            <a:r>
              <a:rPr lang="en-US" sz="3200" dirty="0">
                <a:latin typeface="Akrobat SemiBold" panose="00000700000000000000" pitchFamily="50" charset="0"/>
              </a:rPr>
              <a:t> Budi </a:t>
            </a:r>
            <a:r>
              <a:rPr lang="en-US" sz="3200" dirty="0" err="1">
                <a:latin typeface="Akrobat SemiBold" panose="00000700000000000000" pitchFamily="50" charset="0"/>
              </a:rPr>
              <a:t>ada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karpet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warna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hitam</a:t>
            </a:r>
            <a:r>
              <a:rPr lang="en-US" sz="3200" dirty="0">
                <a:latin typeface="Akrobat SemiBold" panose="00000700000000000000" pitchFamily="50" charset="0"/>
              </a:rPr>
              <a:t>. </a:t>
            </a:r>
            <a:r>
              <a:rPr lang="en-US" sz="3200" dirty="0" err="1">
                <a:latin typeface="Akrobat SemiBold" panose="00000700000000000000" pitchFamily="50" charset="0"/>
              </a:rPr>
              <a:t>Karpet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itu</a:t>
            </a:r>
            <a:r>
              <a:rPr lang="en-US" sz="3200" dirty="0">
                <a:latin typeface="Akrobat SemiBold" panose="00000700000000000000" pitchFamily="50" charset="0"/>
              </a:rPr>
              <a:t> </a:t>
            </a:r>
            <a:r>
              <a:rPr lang="en-US" sz="3200" dirty="0" err="1">
                <a:latin typeface="Akrobat SemiBold" panose="00000700000000000000" pitchFamily="50" charset="0"/>
              </a:rPr>
              <a:t>lembut</a:t>
            </a:r>
            <a:r>
              <a:rPr lang="en-US" sz="3200" dirty="0">
                <a:latin typeface="Akrobat SemiBold" panose="00000700000000000000" pitchFamily="50" charset="0"/>
              </a:rPr>
              <a:t>.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7975" y="4195482"/>
            <a:ext cx="7418295" cy="2662518"/>
          </a:xfrm>
        </p:spPr>
        <p:txBody>
          <a:bodyPr>
            <a:normAutofit/>
          </a:bodyPr>
          <a:lstStyle/>
          <a:p>
            <a:r>
              <a:rPr lang="en-US" sz="3200" b="1" dirty="0"/>
              <a:t>1. Ada </a:t>
            </a:r>
            <a:r>
              <a:rPr lang="en-US" sz="3200" b="1" dirty="0" err="1"/>
              <a:t>benda</a:t>
            </a:r>
            <a:r>
              <a:rPr lang="en-US" sz="3200" b="1" dirty="0"/>
              <a:t> </a:t>
            </a:r>
            <a:r>
              <a:rPr lang="en-US" sz="3200" b="1" dirty="0" err="1"/>
              <a:t>apa</a:t>
            </a:r>
            <a:r>
              <a:rPr lang="en-US" sz="3200" b="1" dirty="0"/>
              <a:t> di </a:t>
            </a:r>
            <a:r>
              <a:rPr lang="en-US" sz="3200" b="1" dirty="0" err="1"/>
              <a:t>kamar</a:t>
            </a:r>
            <a:r>
              <a:rPr lang="en-US" sz="3200" b="1" dirty="0"/>
              <a:t> Budi?</a:t>
            </a:r>
            <a:br>
              <a:rPr lang="en-US" sz="3200" b="1" dirty="0"/>
            </a:br>
            <a:r>
              <a:rPr lang="en-US" sz="3200" b="1" dirty="0"/>
              <a:t>2. </a:t>
            </a:r>
            <a:r>
              <a:rPr lang="en-US" sz="3200" b="1" dirty="0" err="1"/>
              <a:t>Apa</a:t>
            </a:r>
            <a:r>
              <a:rPr lang="en-US" sz="3200" b="1" dirty="0"/>
              <a:t> </a:t>
            </a:r>
            <a:r>
              <a:rPr lang="en-US" sz="3200" b="1" dirty="0" err="1"/>
              <a:t>benda</a:t>
            </a:r>
            <a:r>
              <a:rPr lang="en-US" sz="3200" b="1" dirty="0"/>
              <a:t> </a:t>
            </a:r>
            <a:r>
              <a:rPr lang="en-US" sz="3200" b="1" dirty="0" err="1"/>
              <a:t>warna</a:t>
            </a:r>
            <a:r>
              <a:rPr lang="en-US" sz="3200" b="1" dirty="0"/>
              <a:t> </a:t>
            </a:r>
            <a:r>
              <a:rPr lang="en-US" sz="3200" b="1" dirty="0" err="1"/>
              <a:t>cokelat</a:t>
            </a:r>
            <a:r>
              <a:rPr lang="en-US" sz="3200" b="1" dirty="0"/>
              <a:t> di </a:t>
            </a:r>
            <a:r>
              <a:rPr lang="en-US" sz="3200" b="1" dirty="0" err="1"/>
              <a:t>kamar</a:t>
            </a:r>
            <a:r>
              <a:rPr lang="en-US" sz="3200" b="1" dirty="0"/>
              <a:t> Budi?</a:t>
            </a:r>
            <a:br>
              <a:rPr lang="en-US" sz="3200" b="1" dirty="0"/>
            </a:br>
            <a:r>
              <a:rPr lang="en-US" sz="3200" b="1" dirty="0"/>
              <a:t>3. </a:t>
            </a:r>
            <a:r>
              <a:rPr lang="en-US" sz="3200" b="1" dirty="0" err="1"/>
              <a:t>Dimana</a:t>
            </a:r>
            <a:r>
              <a:rPr lang="en-US" sz="3200" b="1" dirty="0"/>
              <a:t> </a:t>
            </a:r>
            <a:r>
              <a:rPr lang="en-US" sz="3200" b="1" dirty="0" err="1"/>
              <a:t>posisi</a:t>
            </a:r>
            <a:r>
              <a:rPr lang="en-US" sz="3200" b="1" dirty="0"/>
              <a:t> </a:t>
            </a:r>
            <a:r>
              <a:rPr lang="en-US" sz="3200" b="1" dirty="0" err="1"/>
              <a:t>Komputer</a:t>
            </a:r>
            <a:r>
              <a:rPr lang="en-US" sz="3200" b="1" dirty="0"/>
              <a:t>?</a:t>
            </a:r>
            <a:br>
              <a:rPr lang="en-US" sz="3200" b="1" dirty="0"/>
            </a:br>
            <a:r>
              <a:rPr lang="en-US" sz="3200" b="1" dirty="0"/>
              <a:t>4. </a:t>
            </a:r>
            <a:r>
              <a:rPr lang="en-US" sz="3200" b="1" dirty="0" err="1"/>
              <a:t>Apa</a:t>
            </a:r>
            <a:r>
              <a:rPr lang="en-US" sz="3200" b="1" dirty="0"/>
              <a:t> </a:t>
            </a:r>
            <a:r>
              <a:rPr lang="en-US" sz="3200" b="1" dirty="0" err="1"/>
              <a:t>warna</a:t>
            </a:r>
            <a:r>
              <a:rPr lang="en-US" sz="3200" b="1" dirty="0"/>
              <a:t> </a:t>
            </a:r>
            <a:r>
              <a:rPr lang="en-US" sz="3200" b="1" dirty="0" err="1"/>
              <a:t>lampu</a:t>
            </a:r>
            <a:r>
              <a:rPr lang="en-US" sz="3200" b="1" dirty="0"/>
              <a:t> Budi?</a:t>
            </a:r>
            <a:br>
              <a:rPr lang="en-US" sz="3200" b="1" dirty="0"/>
            </a:br>
            <a:r>
              <a:rPr lang="en-US" sz="3200" b="1" dirty="0"/>
              <a:t>5. </a:t>
            </a:r>
            <a:r>
              <a:rPr lang="en-US" sz="3200" b="1" dirty="0" err="1"/>
              <a:t>Apa</a:t>
            </a:r>
            <a:r>
              <a:rPr lang="en-US" sz="3200" b="1" dirty="0"/>
              <a:t> </a:t>
            </a:r>
            <a:r>
              <a:rPr lang="en-US" sz="3200" b="1" dirty="0" err="1"/>
              <a:t>benda</a:t>
            </a:r>
            <a:r>
              <a:rPr lang="en-US" sz="3200" b="1" dirty="0"/>
              <a:t> di </a:t>
            </a:r>
            <a:r>
              <a:rPr lang="en-US" sz="3200" b="1" dirty="0" err="1"/>
              <a:t>depan</a:t>
            </a:r>
            <a:r>
              <a:rPr lang="en-US" sz="3200" b="1" dirty="0"/>
              <a:t> Budi?</a:t>
            </a:r>
          </a:p>
        </p:txBody>
      </p:sp>
      <p:sp>
        <p:nvSpPr>
          <p:cNvPr id="6" name="AutoShape 4" descr="https://image-0.uhdpaper.com/wallpaper/chill-shiba-sleeping-christmas-room-phone-wallpaper-hd-uhdpaper.com-662@0@e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75" y="7937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15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83" y="532550"/>
            <a:ext cx="9817273" cy="5816734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 rot="2347906">
            <a:off x="7748249" y="4180098"/>
            <a:ext cx="918438" cy="3606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564451" y="4790080"/>
            <a:ext cx="1571222" cy="62313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POJOK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(CORNER)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36176" y="532550"/>
            <a:ext cx="361725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Coba </a:t>
            </a:r>
            <a:r>
              <a:rPr lang="en-US" sz="3200" dirty="0" err="1"/>
              <a:t>sebut</a:t>
            </a:r>
            <a:r>
              <a:rPr lang="en-US" sz="3200" dirty="0"/>
              <a:t> </a:t>
            </a:r>
            <a:r>
              <a:rPr lang="en-US" sz="3200" dirty="0" err="1"/>
              <a:t>benda</a:t>
            </a:r>
            <a:r>
              <a:rPr lang="en-US" sz="3200" dirty="0"/>
              <a:t> di </a:t>
            </a:r>
            <a:r>
              <a:rPr lang="en-US" sz="3200" dirty="0" err="1"/>
              <a:t>sekitar</a:t>
            </a:r>
            <a:r>
              <a:rPr lang="en-US" sz="3200" dirty="0"/>
              <a:t> Anda!</a:t>
            </a:r>
          </a:p>
          <a:p>
            <a:r>
              <a:rPr lang="en-US" sz="3200" b="1" dirty="0"/>
              <a:t>Mention all object around you</a:t>
            </a:r>
          </a:p>
        </p:txBody>
      </p:sp>
    </p:spTree>
    <p:extLst>
      <p:ext uri="{BB962C8B-B14F-4D97-AF65-F5344CB8AC3E}">
        <p14:creationId xmlns:p14="http://schemas.microsoft.com/office/powerpoint/2010/main" val="843612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B7BFA-628B-0670-BFF6-23C4E3D87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7780"/>
            <a:ext cx="10515600" cy="4660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Di </a:t>
            </a:r>
            <a:r>
              <a:rPr lang="en-US" sz="3600" b="1" dirty="0" err="1"/>
              <a:t>depan</a:t>
            </a:r>
            <a:r>
              <a:rPr lang="en-US" sz="3600" b="1" dirty="0"/>
              <a:t> </a:t>
            </a:r>
            <a:r>
              <a:rPr lang="en-US" sz="3600" b="1" dirty="0" err="1"/>
              <a:t>aku</a:t>
            </a:r>
            <a:r>
              <a:rPr lang="en-US" sz="3600" b="1" dirty="0"/>
              <a:t> television</a:t>
            </a:r>
          </a:p>
          <a:p>
            <a:pPr marL="0" indent="0">
              <a:buNone/>
            </a:pPr>
            <a:r>
              <a:rPr lang="en-US" sz="3600" b="1" dirty="0"/>
              <a:t>Di </a:t>
            </a:r>
            <a:r>
              <a:rPr lang="en-US" sz="3600" b="1" dirty="0" err="1"/>
              <a:t>belakang</a:t>
            </a:r>
            <a:r>
              <a:rPr lang="en-US" sz="3600" b="1" dirty="0"/>
              <a:t> </a:t>
            </a:r>
            <a:r>
              <a:rPr lang="en-US" sz="3600" b="1" dirty="0" err="1"/>
              <a:t>aku</a:t>
            </a:r>
            <a:r>
              <a:rPr lang="en-US" sz="3600" b="1" dirty="0"/>
              <a:t> </a:t>
            </a:r>
            <a:r>
              <a:rPr lang="en-US" sz="3600" b="1" dirty="0" err="1"/>
              <a:t>dinding</a:t>
            </a:r>
            <a:r>
              <a:rPr lang="en-US" sz="3600" b="1" dirty="0"/>
              <a:t> (wall)</a:t>
            </a:r>
          </a:p>
          <a:p>
            <a:pPr marL="0" indent="0">
              <a:buNone/>
            </a:pPr>
            <a:r>
              <a:rPr lang="en-US" sz="3600" b="1" dirty="0"/>
              <a:t>Di </a:t>
            </a:r>
            <a:r>
              <a:rPr lang="en-US" sz="3600" b="1" dirty="0" err="1"/>
              <a:t>atas</a:t>
            </a:r>
            <a:r>
              <a:rPr lang="en-US" sz="3600" b="1" dirty="0"/>
              <a:t> </a:t>
            </a:r>
            <a:r>
              <a:rPr lang="en-US" sz="3600" b="1" dirty="0" err="1"/>
              <a:t>aku</a:t>
            </a:r>
            <a:r>
              <a:rPr lang="en-US" sz="3600" b="1" dirty="0"/>
              <a:t> </a:t>
            </a:r>
            <a:r>
              <a:rPr lang="en-US" sz="3600" b="1" dirty="0" err="1"/>
              <a:t>ada</a:t>
            </a:r>
            <a:r>
              <a:rPr lang="en-US" sz="3600" b="1" dirty="0"/>
              <a:t> </a:t>
            </a:r>
            <a:r>
              <a:rPr lang="en-US" sz="3600" b="1" dirty="0" err="1"/>
              <a:t>lampu</a:t>
            </a:r>
            <a:endParaRPr lang="en-US" sz="3600" b="1" dirty="0"/>
          </a:p>
          <a:p>
            <a:pPr marL="0" indent="0">
              <a:buNone/>
            </a:pPr>
            <a:r>
              <a:rPr lang="en-US" sz="3600" b="1" dirty="0"/>
              <a:t>Di </a:t>
            </a:r>
            <a:r>
              <a:rPr lang="en-US" sz="3600" b="1" dirty="0" err="1"/>
              <a:t>bawah</a:t>
            </a:r>
            <a:r>
              <a:rPr lang="en-US" sz="3600" b="1" dirty="0"/>
              <a:t> </a:t>
            </a:r>
            <a:r>
              <a:rPr lang="en-US" sz="3600" b="1" dirty="0" err="1"/>
              <a:t>aku</a:t>
            </a:r>
            <a:r>
              <a:rPr lang="en-US" sz="3600" b="1" dirty="0"/>
              <a:t> </a:t>
            </a:r>
            <a:r>
              <a:rPr lang="en-US" sz="3600" b="1" dirty="0" err="1"/>
              <a:t>ada</a:t>
            </a:r>
            <a:r>
              <a:rPr lang="en-US" sz="3600" b="1" dirty="0"/>
              <a:t> </a:t>
            </a:r>
            <a:r>
              <a:rPr lang="en-US" sz="3600" b="1" dirty="0" err="1"/>
              <a:t>karpet</a:t>
            </a:r>
            <a:endParaRPr lang="en-US" sz="3600" b="1" dirty="0"/>
          </a:p>
          <a:p>
            <a:pPr marL="0" indent="0">
              <a:buNone/>
            </a:pPr>
            <a:r>
              <a:rPr lang="en-US" sz="3600" b="1" dirty="0"/>
              <a:t>Di </a:t>
            </a:r>
            <a:r>
              <a:rPr lang="en-US" sz="3600" b="1" dirty="0" err="1"/>
              <a:t>sebelah</a:t>
            </a:r>
            <a:r>
              <a:rPr lang="en-US" sz="3600" b="1" dirty="0"/>
              <a:t> </a:t>
            </a:r>
            <a:r>
              <a:rPr lang="en-US" sz="3600" b="1" dirty="0" err="1"/>
              <a:t>kanan</a:t>
            </a:r>
            <a:r>
              <a:rPr lang="en-US" sz="3600" b="1" dirty="0"/>
              <a:t> (right) </a:t>
            </a:r>
            <a:r>
              <a:rPr lang="en-US" sz="3600" b="1" dirty="0" err="1"/>
              <a:t>ada</a:t>
            </a:r>
            <a:r>
              <a:rPr lang="en-US" sz="3600" b="1" dirty="0"/>
              <a:t> piano</a:t>
            </a:r>
          </a:p>
          <a:p>
            <a:pPr marL="0" indent="0">
              <a:buNone/>
            </a:pPr>
            <a:r>
              <a:rPr lang="en-US" sz="3600" b="1" dirty="0"/>
              <a:t>Di </a:t>
            </a:r>
            <a:r>
              <a:rPr lang="en-US" sz="3600" b="1" dirty="0" err="1"/>
              <a:t>sebelah</a:t>
            </a:r>
            <a:r>
              <a:rPr lang="en-US" sz="3600" b="1" dirty="0"/>
              <a:t> </a:t>
            </a:r>
            <a:r>
              <a:rPr lang="en-US" sz="3600" b="1" dirty="0" err="1"/>
              <a:t>kiri</a:t>
            </a:r>
            <a:r>
              <a:rPr lang="en-US" sz="3600" b="1" dirty="0"/>
              <a:t> (left) </a:t>
            </a:r>
            <a:r>
              <a:rPr lang="en-US" sz="3600" b="1" dirty="0" err="1"/>
              <a:t>ada</a:t>
            </a:r>
            <a:r>
              <a:rPr lang="en-US" sz="3600" b="1" dirty="0"/>
              <a:t> </a:t>
            </a:r>
            <a:r>
              <a:rPr lang="en-US" sz="3600" b="1" dirty="0" err="1"/>
              <a:t>jendela</a:t>
            </a:r>
            <a:endParaRPr lang="en-ID" sz="3600" b="1" dirty="0"/>
          </a:p>
        </p:txBody>
      </p:sp>
    </p:spTree>
    <p:extLst>
      <p:ext uri="{BB962C8B-B14F-4D97-AF65-F5344CB8AC3E}">
        <p14:creationId xmlns:p14="http://schemas.microsoft.com/office/powerpoint/2010/main" val="2962429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Ada </a:t>
            </a:r>
            <a:r>
              <a:rPr lang="en-US" dirty="0" err="1"/>
              <a:t>benda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di </a:t>
            </a:r>
            <a:r>
              <a:rPr lang="en-US" dirty="0" err="1"/>
              <a:t>kamar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?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432" y="2191871"/>
            <a:ext cx="7499136" cy="4666129"/>
          </a:xfrm>
        </p:spPr>
      </p:pic>
    </p:spTree>
    <p:extLst>
      <p:ext uri="{BB962C8B-B14F-4D97-AF65-F5344CB8AC3E}">
        <p14:creationId xmlns:p14="http://schemas.microsoft.com/office/powerpoint/2010/main" val="878134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439</Words>
  <Application>Microsoft Office PowerPoint</Application>
  <PresentationFormat>Widescreen</PresentationFormat>
  <Paragraphs>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Akrobat</vt:lpstr>
      <vt:lpstr>Akrobat ExtraBold</vt:lpstr>
      <vt:lpstr>Akrobat SemiBold</vt:lpstr>
      <vt:lpstr>Arial</vt:lpstr>
      <vt:lpstr>Calibri</vt:lpstr>
      <vt:lpstr>Calibri Light</vt:lpstr>
      <vt:lpstr>Office Theme</vt:lpstr>
      <vt:lpstr>PowerPoint Presentation</vt:lpstr>
      <vt:lpstr>What is different between  “Di” and “Ke”?</vt:lpstr>
      <vt:lpstr>Konsep Di &amp; Ke</vt:lpstr>
      <vt:lpstr>1. Saya tinggal …. Surabaya 2. Ibu pergi …. Pasar  3. Ayah pergi …. Bilund untuk bisnis 4. Mobil Fred ada …. Rumah 5. Arhus University ada … Denmark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Ada benda apa di kamar Budi? 2. Apa benda warna cokelat di kamar Budi? 3. Dimana posisi Komputer? 4. Apa warna lampu Budi? 5. Apa benda di depan Budi?</vt:lpstr>
      <vt:lpstr>PowerPoint Presentation</vt:lpstr>
      <vt:lpstr>PowerPoint Presentation</vt:lpstr>
      <vt:lpstr>Ada benda apa saja di kamar Anda?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ytabrianrizky@gmail.com</cp:lastModifiedBy>
  <cp:revision>26</cp:revision>
  <dcterms:created xsi:type="dcterms:W3CDTF">2023-04-16T02:53:29Z</dcterms:created>
  <dcterms:modified xsi:type="dcterms:W3CDTF">2026-04-27T16:39:22Z</dcterms:modified>
</cp:coreProperties>
</file>